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9" d="100"/>
          <a:sy n="49" d="100"/>
        </p:scale>
        <p:origin x="2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74D2-00E8-4518-AC3E-FB5070E43E0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9CCF-33F0-4EBD-8753-755238763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163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74D2-00E8-4518-AC3E-FB5070E43E0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9CCF-33F0-4EBD-8753-755238763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45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74D2-00E8-4518-AC3E-FB5070E43E0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9CCF-33F0-4EBD-8753-755238763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462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74D2-00E8-4518-AC3E-FB5070E43E0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9CCF-33F0-4EBD-8753-755238763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34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74D2-00E8-4518-AC3E-FB5070E43E0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9CCF-33F0-4EBD-8753-755238763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618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74D2-00E8-4518-AC3E-FB5070E43E0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9CCF-33F0-4EBD-8753-755238763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8382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74D2-00E8-4518-AC3E-FB5070E43E0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9CCF-33F0-4EBD-8753-755238763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688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74D2-00E8-4518-AC3E-FB5070E43E0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9CCF-33F0-4EBD-8753-755238763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752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74D2-00E8-4518-AC3E-FB5070E43E0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9CCF-33F0-4EBD-8753-755238763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342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74D2-00E8-4518-AC3E-FB5070E43E0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9CCF-33F0-4EBD-8753-755238763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34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C74D2-00E8-4518-AC3E-FB5070E43E0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1D9CCF-33F0-4EBD-8753-755238763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300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3C74D2-00E8-4518-AC3E-FB5070E43E0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1D9CCF-33F0-4EBD-8753-755238763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257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9600" dirty="0" err="1">
                <a:latin typeface="Comic Sans MS" panose="030F0702030302020204" pitchFamily="66" charset="0"/>
              </a:rPr>
              <a:t>Maths</a:t>
            </a:r>
            <a:r>
              <a:rPr lang="en-US" sz="9600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1960" y="3136163"/>
            <a:ext cx="10588079" cy="4061472"/>
          </a:xfrm>
        </p:spPr>
        <p:txBody>
          <a:bodyPr>
            <a:normAutofit/>
          </a:bodyPr>
          <a:lstStyle/>
          <a:p>
            <a:pPr algn="l"/>
            <a:r>
              <a:rPr lang="en-US" sz="5400" dirty="0">
                <a:latin typeface="Comic Sans MS" panose="030F0702030302020204" pitchFamily="66" charset="0"/>
              </a:rPr>
              <a:t>WALT: </a:t>
            </a:r>
            <a:r>
              <a:rPr lang="en-US" sz="4000" dirty="0">
                <a:latin typeface="Comic Sans MS" panose="030F0702030302020204" pitchFamily="66" charset="0"/>
              </a:rPr>
              <a:t>Use knowledge of square numbers to generate terms in a sequence given its position.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2 – Numbers and Sequences</a:t>
            </a:r>
          </a:p>
        </p:txBody>
      </p:sp>
    </p:spTree>
    <p:extLst>
      <p:ext uri="{BB962C8B-B14F-4D97-AF65-F5344CB8AC3E}">
        <p14:creationId xmlns:p14="http://schemas.microsoft.com/office/powerpoint/2010/main" val="979773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omic Sans MS" panose="030F0702030302020204" pitchFamily="66" charset="0"/>
              </a:rPr>
              <a:t>I can list the square numbers up to 10 x 10.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create a position to term rule for a square number sequence.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find the term for a square number sequence when given the position.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knowledge of square numbers to generate terms in a sequence given it’s position.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AAC9AB-4881-4263-87DD-17728BB6ED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B52DA5-0778-4941-B734-556B86959A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F44A41-CA7E-4E91-887F-0262EC1C29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478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93476"/>
            <a:ext cx="10515600" cy="1325563"/>
          </a:xfrm>
        </p:spPr>
        <p:txBody>
          <a:bodyPr/>
          <a:lstStyle/>
          <a:p>
            <a:r>
              <a:rPr lang="en-US" b="1" dirty="0">
                <a:latin typeface="Comic Sans MS" panose="030F0702030302020204" pitchFamily="66" charset="0"/>
              </a:rPr>
              <a:t>Retrieval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6755" y="2006220"/>
            <a:ext cx="10515600" cy="37749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Mr. Jon lives in Vietnam. His mum lives in the UK. </a:t>
            </a:r>
          </a:p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Vietnam is 6 hours ahead of the UK.</a:t>
            </a:r>
          </a:p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Mr. Jon calls his mum at 2:30pm</a:t>
            </a:r>
          </a:p>
          <a:p>
            <a:pPr marL="0" indent="0">
              <a:buNone/>
            </a:pPr>
            <a:endParaRPr lang="en-US" sz="32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What time does his mum’s phone ring in the UK?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348879" y="286114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knowledge of square numbers to generate terms in a sequence given it’s position.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31825" y="5314419"/>
            <a:ext cx="54181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8:30am</a:t>
            </a:r>
          </a:p>
        </p:txBody>
      </p:sp>
      <p:pic>
        <p:nvPicPr>
          <p:cNvPr id="1026" name="Picture 2" descr="mary kate and ashley 90s 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9766" y="4859812"/>
            <a:ext cx="2692234" cy="201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5844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 noGrp="1"/>
          </p:cNvSpPr>
          <p:nvPr>
            <p:ph type="title"/>
          </p:nvPr>
        </p:nvSpPr>
        <p:spPr>
          <a:xfrm>
            <a:off x="243115" y="500063"/>
            <a:ext cx="10515600" cy="12997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Use knowledge of square numbers to generate terms in a sequence given it’s position.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838200" y="119833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atin typeface="Comic Sans MS" panose="030F0702030302020204" pitchFamily="66" charset="0"/>
              </a:rPr>
              <a:t>Starter - </a:t>
            </a:r>
            <a:r>
              <a:rPr lang="en-US" sz="4000" dirty="0">
                <a:latin typeface="Comic Sans MS" panose="030F0702030302020204" pitchFamily="66" charset="0"/>
              </a:rPr>
              <a:t>What type of sequence is this?</a:t>
            </a:r>
          </a:p>
          <a:p>
            <a:endParaRPr lang="en-US" sz="4000" b="1" dirty="0">
              <a:latin typeface="Comic Sans MS" panose="030F0702030302020204" pitchFamily="66" charset="0"/>
            </a:endParaRPr>
          </a:p>
        </p:txBody>
      </p:sp>
      <p:pic>
        <p:nvPicPr>
          <p:cNvPr id="2050" name="Picture 2" descr="Square Numbers, Cube Numbers and Triangular Numbers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100000" l="0" r="100000">
                        <a14:foregroundMark x1="5067" y1="79851" x2="5067" y2="79851"/>
                        <a14:foregroundMark x1="19733" y1="74627" x2="19733" y2="74627"/>
                        <a14:foregroundMark x1="26400" y1="76866" x2="26400" y2="76866"/>
                        <a14:foregroundMark x1="28000" y1="45522" x2="28000" y2="45522"/>
                        <a14:foregroundMark x1="18133" y1="52239" x2="18133" y2="52239"/>
                        <a14:foregroundMark x1="40000" y1="33582" x2="40000" y2="33582"/>
                        <a14:foregroundMark x1="40267" y1="50000" x2="40267" y2="50000"/>
                        <a14:foregroundMark x1="38933" y1="75373" x2="38933" y2="75373"/>
                        <a14:foregroundMark x1="48267" y1="75373" x2="48267" y2="75373"/>
                        <a14:foregroundMark x1="58133" y1="71642" x2="58133" y2="71642"/>
                        <a14:foregroundMark x1="57333" y1="58209" x2="57333" y2="58209"/>
                        <a14:foregroundMark x1="50933" y1="52985" x2="50933" y2="52985"/>
                        <a14:foregroundMark x1="50400" y1="37313" x2="50400" y2="37313"/>
                        <a14:foregroundMark x1="59467" y1="35821" x2="59467" y2="35821"/>
                        <a14:foregroundMark x1="73067" y1="14925" x2="73067" y2="14925"/>
                        <a14:foregroundMark x1="80800" y1="14179" x2="80800" y2="14179"/>
                        <a14:foregroundMark x1="87200" y1="12687" x2="87200" y2="12687"/>
                        <a14:foregroundMark x1="92000" y1="32836" x2="92000" y2="32836"/>
                        <a14:foregroundMark x1="87733" y1="34328" x2="87733" y2="34328"/>
                        <a14:foregroundMark x1="76267" y1="34328" x2="76267" y2="34328"/>
                        <a14:foregroundMark x1="72533" y1="38806" x2="72533" y2="38806"/>
                        <a14:foregroundMark x1="71733" y1="58209" x2="71733" y2="58209"/>
                        <a14:foregroundMark x1="79467" y1="54478" x2="79467" y2="54478"/>
                        <a14:foregroundMark x1="89067" y1="52985" x2="89067" y2="52985"/>
                        <a14:foregroundMark x1="95733" y1="52985" x2="95733" y2="52985"/>
                        <a14:foregroundMark x1="95733" y1="81343" x2="95733" y2="81343"/>
                        <a14:foregroundMark x1="84800" y1="78358" x2="84800" y2="78358"/>
                        <a14:foregroundMark x1="80000" y1="74627" x2="80000" y2="74627"/>
                        <a14:foregroundMark x1="73067" y1="76119" x2="73067" y2="76119"/>
                        <a14:foregroundMark x1="83200" y1="91791" x2="83200" y2="91791"/>
                        <a14:foregroundMark x1="81867" y1="90299" x2="81867" y2="90299"/>
                        <a14:foregroundMark x1="49333" y1="91791" x2="49333" y2="91791"/>
                        <a14:foregroundMark x1="23200" y1="94776" x2="23200" y2="94776"/>
                        <a14:foregroundMark x1="4800" y1="92537" x2="4800" y2="925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7489" y="2785152"/>
            <a:ext cx="9062337" cy="3238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6606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 txBox="1">
            <a:spLocks/>
          </p:cNvSpPr>
          <p:nvPr/>
        </p:nvSpPr>
        <p:spPr>
          <a:xfrm>
            <a:off x="348879" y="286114"/>
            <a:ext cx="11494242" cy="1078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00" b="1" dirty="0">
                <a:latin typeface="Comic Sans MS" panose="030F0702030302020204" pitchFamily="66" charset="0"/>
              </a:rPr>
              <a:t>WALT: </a:t>
            </a:r>
            <a:r>
              <a:rPr lang="en-US" sz="3400" dirty="0">
                <a:latin typeface="Comic Sans MS" panose="030F0702030302020204" pitchFamily="66" charset="0"/>
              </a:rPr>
              <a:t>Use knowledge of square numbers to generate terms in a sequence given it’s position.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402449"/>
              </p:ext>
            </p:extLst>
          </p:nvPr>
        </p:nvGraphicFramePr>
        <p:xfrm>
          <a:off x="827312" y="1619552"/>
          <a:ext cx="5704118" cy="4998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2059">
                  <a:extLst>
                    <a:ext uri="{9D8B030D-6E8A-4147-A177-3AD203B41FA5}">
                      <a16:colId xmlns:a16="http://schemas.microsoft.com/office/drawing/2014/main" val="3630102723"/>
                    </a:ext>
                  </a:extLst>
                </a:gridCol>
                <a:gridCol w="2852059">
                  <a:extLst>
                    <a:ext uri="{9D8B030D-6E8A-4147-A177-3AD203B41FA5}">
                      <a16:colId xmlns:a16="http://schemas.microsoft.com/office/drawing/2014/main" val="757805565"/>
                    </a:ext>
                  </a:extLst>
                </a:gridCol>
              </a:tblGrid>
              <a:tr h="51713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winkl" panose="02000000000000000000" pitchFamily="2" charset="0"/>
                        </a:rPr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winkl" panose="02000000000000000000" pitchFamily="2" charset="0"/>
                        </a:rPr>
                        <a:t>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76065"/>
                  </a:ext>
                </a:extLst>
              </a:tr>
              <a:tr h="44818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winkl" panose="02000000000000000000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255860"/>
                  </a:ext>
                </a:extLst>
              </a:tr>
              <a:tr h="44818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winkl" panose="02000000000000000000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944363"/>
                  </a:ext>
                </a:extLst>
              </a:tr>
              <a:tr h="44818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winkl" panose="02000000000000000000" pitchFamily="2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1925073"/>
                  </a:ext>
                </a:extLst>
              </a:tr>
              <a:tr h="44818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winkl" panose="02000000000000000000" pitchFamily="2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982023"/>
                  </a:ext>
                </a:extLst>
              </a:tr>
              <a:tr h="44818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winkl" panose="02000000000000000000" pitchFamily="2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010269"/>
                  </a:ext>
                </a:extLst>
              </a:tr>
              <a:tr h="44818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winkl" panose="02000000000000000000" pitchFamily="2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980317"/>
                  </a:ext>
                </a:extLst>
              </a:tr>
              <a:tr h="44818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winkl" panose="02000000000000000000" pitchFamily="2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012080"/>
                  </a:ext>
                </a:extLst>
              </a:tr>
              <a:tr h="44818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winkl" panose="02000000000000000000" pitchFamily="2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501939"/>
                  </a:ext>
                </a:extLst>
              </a:tr>
              <a:tr h="44818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winkl" panose="02000000000000000000" pitchFamily="2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29269"/>
                  </a:ext>
                </a:extLst>
              </a:tr>
              <a:tr h="44818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winkl" panose="02000000000000000000" pitchFamily="2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09818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024916" y="2540000"/>
            <a:ext cx="505097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In your books, copy and complete this table to create a square number sequence.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1" y="2155372"/>
            <a:ext cx="64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0" y="2614487"/>
            <a:ext cx="64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3047831"/>
            <a:ext cx="64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0" y="3481175"/>
            <a:ext cx="64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0" y="3926010"/>
            <a:ext cx="64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0" y="4395158"/>
            <a:ext cx="64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0" y="4839993"/>
            <a:ext cx="64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2372" y="5284419"/>
            <a:ext cx="64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9630" y="5715115"/>
            <a:ext cx="64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36888" y="6173680"/>
            <a:ext cx="86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410462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 txBox="1">
            <a:spLocks/>
          </p:cNvSpPr>
          <p:nvPr/>
        </p:nvSpPr>
        <p:spPr>
          <a:xfrm>
            <a:off x="348879" y="286114"/>
            <a:ext cx="11494242" cy="1078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400" b="1" dirty="0">
                <a:latin typeface="Comic Sans MS" panose="030F0702030302020204" pitchFamily="66" charset="0"/>
              </a:rPr>
              <a:t>WALT: </a:t>
            </a:r>
            <a:r>
              <a:rPr lang="en-US" sz="3400" dirty="0">
                <a:latin typeface="Comic Sans MS" panose="030F0702030302020204" pitchFamily="66" charset="0"/>
              </a:rPr>
              <a:t>Use knowledge of square numbers to generate terms in a sequence given it’s position.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7337"/>
              </p:ext>
            </p:extLst>
          </p:nvPr>
        </p:nvGraphicFramePr>
        <p:xfrm>
          <a:off x="827312" y="1619552"/>
          <a:ext cx="5704118" cy="4998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2059">
                  <a:extLst>
                    <a:ext uri="{9D8B030D-6E8A-4147-A177-3AD203B41FA5}">
                      <a16:colId xmlns:a16="http://schemas.microsoft.com/office/drawing/2014/main" val="3630102723"/>
                    </a:ext>
                  </a:extLst>
                </a:gridCol>
                <a:gridCol w="2852059">
                  <a:extLst>
                    <a:ext uri="{9D8B030D-6E8A-4147-A177-3AD203B41FA5}">
                      <a16:colId xmlns:a16="http://schemas.microsoft.com/office/drawing/2014/main" val="757805565"/>
                    </a:ext>
                  </a:extLst>
                </a:gridCol>
              </a:tblGrid>
              <a:tr h="51713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Twinkl" panose="02000000000000000000" pitchFamily="2" charset="0"/>
                        </a:rPr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winkl" panose="02000000000000000000" pitchFamily="2" charset="0"/>
                        </a:rPr>
                        <a:t>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176065"/>
                  </a:ext>
                </a:extLst>
              </a:tr>
              <a:tr h="44818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winkl" panose="02000000000000000000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255860"/>
                  </a:ext>
                </a:extLst>
              </a:tr>
              <a:tr h="44818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winkl" panose="02000000000000000000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5944363"/>
                  </a:ext>
                </a:extLst>
              </a:tr>
              <a:tr h="44818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winkl" panose="02000000000000000000" pitchFamily="2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1925073"/>
                  </a:ext>
                </a:extLst>
              </a:tr>
              <a:tr h="44818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winkl" panose="02000000000000000000" pitchFamily="2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4982023"/>
                  </a:ext>
                </a:extLst>
              </a:tr>
              <a:tr h="44818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winkl" panose="02000000000000000000" pitchFamily="2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7010269"/>
                  </a:ext>
                </a:extLst>
              </a:tr>
              <a:tr h="44818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winkl" panose="02000000000000000000" pitchFamily="2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2980317"/>
                  </a:ext>
                </a:extLst>
              </a:tr>
              <a:tr h="44818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winkl" panose="02000000000000000000" pitchFamily="2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012080"/>
                  </a:ext>
                </a:extLst>
              </a:tr>
              <a:tr h="44818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winkl" panose="02000000000000000000" pitchFamily="2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4501939"/>
                  </a:ext>
                </a:extLst>
              </a:tr>
              <a:tr h="44818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winkl" panose="02000000000000000000" pitchFamily="2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829269"/>
                  </a:ext>
                </a:extLst>
              </a:tr>
              <a:tr h="448183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winkl" panose="02000000000000000000" pitchFamily="2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09818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14458" y="1970613"/>
            <a:ext cx="53122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What is the position to term rule for this sequence?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6001" y="2155372"/>
            <a:ext cx="64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6000" y="2614487"/>
            <a:ext cx="64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3047831"/>
            <a:ext cx="64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6000" y="3481175"/>
            <a:ext cx="64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6000" y="3926010"/>
            <a:ext cx="64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6000" y="4395158"/>
            <a:ext cx="64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6000" y="4839993"/>
            <a:ext cx="64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2372" y="5284419"/>
            <a:ext cx="64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64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9630" y="5715115"/>
            <a:ext cx="6458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36888" y="6173680"/>
            <a:ext cx="8672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100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7707086" y="3742785"/>
            <a:ext cx="387531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Multiply the position by itself</a:t>
            </a:r>
          </a:p>
        </p:txBody>
      </p:sp>
    </p:spTree>
    <p:extLst>
      <p:ext uri="{BB962C8B-B14F-4D97-AF65-F5344CB8AC3E}">
        <p14:creationId xmlns:p14="http://schemas.microsoft.com/office/powerpoint/2010/main" val="3085526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/>
          <p:cNvSpPr txBox="1">
            <a:spLocks/>
          </p:cNvSpPr>
          <p:nvPr/>
        </p:nvSpPr>
        <p:spPr>
          <a:xfrm>
            <a:off x="348879" y="286114"/>
            <a:ext cx="11494242" cy="1078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latin typeface="Comic Sans MS" panose="030F0702030302020204" pitchFamily="66" charset="0"/>
              </a:rPr>
              <a:t>WALT: </a:t>
            </a:r>
            <a:r>
              <a:rPr lang="en-US" sz="3200" dirty="0">
                <a:latin typeface="Comic Sans MS" panose="030F0702030302020204" pitchFamily="66" charset="0"/>
              </a:rPr>
              <a:t>Use knowledge of square numbers to generate terms in a sequence given it’s position.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1486" y="1709356"/>
            <a:ext cx="105954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Using the position to term rule for a square number sequence find the term for each of these positions.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5364" y="4034971"/>
            <a:ext cx="33522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a) 12</a:t>
            </a:r>
            <a:r>
              <a:rPr lang="en-US" sz="2800" b="1" baseline="30000" dirty="0">
                <a:latin typeface="Comic Sans MS" panose="030F0702030302020204" pitchFamily="66" charset="0"/>
              </a:rPr>
              <a:t>th</a:t>
            </a:r>
            <a:r>
              <a:rPr lang="en-US" sz="2800" b="1" dirty="0">
                <a:latin typeface="Comic Sans MS" panose="030F0702030302020204" pitchFamily="66" charset="0"/>
              </a:rPr>
              <a:t> term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885" y="4034971"/>
            <a:ext cx="27722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b) 100</a:t>
            </a:r>
            <a:r>
              <a:rPr lang="en-US" sz="2800" b="1" baseline="30000" dirty="0">
                <a:latin typeface="Comic Sans MS" panose="030F0702030302020204" pitchFamily="66" charset="0"/>
              </a:rPr>
              <a:t>th</a:t>
            </a:r>
            <a:r>
              <a:rPr lang="en-US" sz="2800" b="1" dirty="0">
                <a:latin typeface="Comic Sans MS" panose="030F0702030302020204" pitchFamily="66" charset="0"/>
              </a:rPr>
              <a:t> term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30772" y="4034971"/>
            <a:ext cx="2681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c) 37</a:t>
            </a:r>
            <a:r>
              <a:rPr lang="en-US" sz="2800" b="1" baseline="30000" dirty="0">
                <a:latin typeface="Comic Sans MS" panose="030F0702030302020204" pitchFamily="66" charset="0"/>
              </a:rPr>
              <a:t>th</a:t>
            </a:r>
            <a:r>
              <a:rPr lang="en-US" sz="2800" b="1" dirty="0">
                <a:latin typeface="Comic Sans MS" panose="030F0702030302020204" pitchFamily="66" charset="0"/>
              </a:rPr>
              <a:t> term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7621" y="4837092"/>
            <a:ext cx="3352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8508" y="4826413"/>
            <a:ext cx="3352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99395" y="4826413"/>
            <a:ext cx="3352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1,369</a:t>
            </a:r>
          </a:p>
        </p:txBody>
      </p:sp>
    </p:spTree>
    <p:extLst>
      <p:ext uri="{BB962C8B-B14F-4D97-AF65-F5344CB8AC3E}">
        <p14:creationId xmlns:p14="http://schemas.microsoft.com/office/powerpoint/2010/main" val="2729342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742" y="1728900"/>
            <a:ext cx="10929257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omic Sans MS" panose="030F0702030302020204" pitchFamily="66" charset="0"/>
              </a:rPr>
              <a:t>Have you seen this before? What does it mean?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0308" y="3956049"/>
            <a:ext cx="2031464" cy="1451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7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6</a:t>
            </a:r>
            <a:r>
              <a:rPr lang="en-US" sz="7200" b="1" baseline="30000" dirty="0">
                <a:solidFill>
                  <a:srgbClr val="FF0000"/>
                </a:solidFill>
                <a:latin typeface="Comic Sans MS" panose="030F0702030302020204" pitchFamily="66" charset="0"/>
              </a:rPr>
              <a:t>2</a:t>
            </a:r>
            <a:r>
              <a:rPr lang="en-US" sz="7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348879" y="286114"/>
            <a:ext cx="11494242" cy="1078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latin typeface="Comic Sans MS" panose="030F0702030302020204" pitchFamily="66" charset="0"/>
              </a:rPr>
              <a:t>WALT: </a:t>
            </a:r>
            <a:r>
              <a:rPr lang="en-US" sz="3200" dirty="0">
                <a:latin typeface="Comic Sans MS" panose="030F0702030302020204" pitchFamily="66" charset="0"/>
              </a:rPr>
              <a:t>Use knowledge of square numbers to generate terms in a sequence given it’s position.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411807" y="3398154"/>
            <a:ext cx="743131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This means 6 squared or 6 multiplied by itself ( 6 X 6 ). </a:t>
            </a:r>
          </a:p>
          <a:p>
            <a:endParaRPr lang="en-US" sz="2800" dirty="0">
              <a:latin typeface="Comic Sans MS" panose="030F0702030302020204" pitchFamily="66" charset="0"/>
            </a:endParaRPr>
          </a:p>
          <a:p>
            <a:r>
              <a:rPr lang="en-US" sz="2800" dirty="0">
                <a:latin typeface="Comic Sans MS" panose="030F0702030302020204" pitchFamily="66" charset="0"/>
              </a:rPr>
              <a:t>You will see this a lot in the future when working with square numbers.</a:t>
            </a:r>
          </a:p>
        </p:txBody>
      </p:sp>
    </p:spTree>
    <p:extLst>
      <p:ext uri="{BB962C8B-B14F-4D97-AF65-F5344CB8AC3E}">
        <p14:creationId xmlns:p14="http://schemas.microsoft.com/office/powerpoint/2010/main" val="2236264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64" y="1364343"/>
            <a:ext cx="10929257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omic Sans MS" panose="030F0702030302020204" pitchFamily="66" charset="0"/>
              </a:rPr>
              <a:t>On your whiteboards write the following using the notation you’ve just learned.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864" y="4246336"/>
            <a:ext cx="2031464" cy="14514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7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16</a:t>
            </a:r>
            <a:r>
              <a:rPr lang="en-US" sz="7200" b="1" baseline="30000" dirty="0">
                <a:solidFill>
                  <a:srgbClr val="FF0000"/>
                </a:solidFill>
                <a:latin typeface="Comic Sans MS" panose="030F0702030302020204" pitchFamily="66" charset="0"/>
              </a:rPr>
              <a:t>2</a:t>
            </a:r>
            <a:r>
              <a:rPr lang="en-US" sz="7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348879" y="286114"/>
            <a:ext cx="11494242" cy="1078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Use knowledge of square numbers to generate terms in a sequence given it’s position.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4439" y="3475747"/>
            <a:ext cx="118431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mic Sans MS" panose="030F0702030302020204" pitchFamily="66" charset="0"/>
              </a:rPr>
              <a:t>a) 16 squared          b) 65 multiplied by itself             c) 89 X 89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5260892" y="4120649"/>
            <a:ext cx="2031464" cy="1451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7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65</a:t>
            </a:r>
            <a:r>
              <a:rPr lang="en-US" sz="7200" b="1" baseline="30000" dirty="0">
                <a:solidFill>
                  <a:srgbClr val="FF0000"/>
                </a:solidFill>
                <a:latin typeface="Comic Sans MS" panose="030F0702030302020204" pitchFamily="66" charset="0"/>
              </a:rPr>
              <a:t>2</a:t>
            </a:r>
            <a:r>
              <a:rPr lang="en-US" sz="7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9986096" y="4246336"/>
            <a:ext cx="2031464" cy="14514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7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89</a:t>
            </a:r>
            <a:r>
              <a:rPr lang="en-US" sz="7200" b="1" baseline="30000" dirty="0">
                <a:solidFill>
                  <a:srgbClr val="FF0000"/>
                </a:solidFill>
                <a:latin typeface="Comic Sans MS" panose="030F0702030302020204" pitchFamily="66" charset="0"/>
              </a:rPr>
              <a:t>2</a:t>
            </a:r>
            <a:r>
              <a:rPr lang="en-US" sz="7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3822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omic Sans MS" panose="030F0702030302020204" pitchFamily="66" charset="0"/>
              </a:rPr>
              <a:t>I can list the square numbers up to 10 X 10.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create a position to term rule for a square number sequence.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find the term for a square number sequence when given the position.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knowledge of square numbers to generate terms in a sequence given it’s position.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4BF3B7-852C-490C-8D3A-C6412527AE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4329C1-1C7B-42A4-ACB2-2A68AEC24F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3EC11F-86D0-4C27-A15E-148DC2381C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044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05354"/>
            <a:ext cx="10515600" cy="1325563"/>
          </a:xfrm>
        </p:spPr>
        <p:txBody>
          <a:bodyPr/>
          <a:lstStyle/>
          <a:p>
            <a:r>
              <a:rPr lang="en-US" b="1" dirty="0">
                <a:latin typeface="Comic Sans MS" panose="030F0702030302020204" pitchFamily="66" charset="0"/>
              </a:rPr>
              <a:t>Plenary</a:t>
            </a:r>
            <a:r>
              <a:rPr lang="en-US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6742" y="2430917"/>
            <a:ext cx="10515600" cy="29402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>
                <a:latin typeface="Comic Sans MS" panose="030F0702030302020204" pitchFamily="66" charset="0"/>
              </a:rPr>
              <a:t>If 5</a:t>
            </a:r>
            <a:r>
              <a:rPr lang="en-US" sz="4400" baseline="30000" dirty="0">
                <a:latin typeface="Comic Sans MS" panose="030F0702030302020204" pitchFamily="66" charset="0"/>
              </a:rPr>
              <a:t>2  </a:t>
            </a:r>
            <a:r>
              <a:rPr lang="en-US" sz="4400" dirty="0">
                <a:latin typeface="Comic Sans MS" panose="030F0702030302020204" pitchFamily="66" charset="0"/>
              </a:rPr>
              <a:t>means 5 X 5 or </a:t>
            </a:r>
            <a:r>
              <a:rPr lang="en-US" sz="4400">
                <a:latin typeface="Comic Sans MS" panose="030F0702030302020204" pitchFamily="66" charset="0"/>
              </a:rPr>
              <a:t>5 squared.</a:t>
            </a:r>
            <a:endParaRPr lang="en-US" sz="44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44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4400" dirty="0">
                <a:latin typeface="Comic Sans MS" panose="030F0702030302020204" pitchFamily="66" charset="0"/>
              </a:rPr>
              <a:t>What do you think 5</a:t>
            </a:r>
            <a:r>
              <a:rPr lang="en-US" sz="4400" baseline="30000" dirty="0">
                <a:latin typeface="Comic Sans MS" panose="030F0702030302020204" pitchFamily="66" charset="0"/>
              </a:rPr>
              <a:t>3</a:t>
            </a:r>
            <a:r>
              <a:rPr lang="en-US" sz="4400" dirty="0">
                <a:latin typeface="Comic Sans MS" panose="030F0702030302020204" pitchFamily="66" charset="0"/>
              </a:rPr>
              <a:t> means?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knowledge of square numbers to generate terms in a sequence given it’s position.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4098" name="Picture 2" descr="Game Art 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8839" y="3882119"/>
            <a:ext cx="2973161" cy="2973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4515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531</Words>
  <Application>Microsoft Office PowerPoint</Application>
  <PresentationFormat>Widescreen</PresentationFormat>
  <Paragraphs>95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Comic Sans MS</vt:lpstr>
      <vt:lpstr>Twinkl</vt:lpstr>
      <vt:lpstr>Office Theme</vt:lpstr>
      <vt:lpstr>Maths </vt:lpstr>
      <vt:lpstr>PowerPoint Presentation</vt:lpstr>
      <vt:lpstr>Retrieval Practice</vt:lpstr>
      <vt:lpstr>WALT: Use knowledge of square numbers to generate terms in a sequence given it’s position.  </vt:lpstr>
      <vt:lpstr>PowerPoint Presentation</vt:lpstr>
      <vt:lpstr>PowerPoint Presentation</vt:lpstr>
      <vt:lpstr>PowerPoint Presentation</vt:lpstr>
      <vt:lpstr>Have you seen this before? What does it mean?</vt:lpstr>
      <vt:lpstr>On your whiteboards write the following using the notation you’ve just learned.</vt:lpstr>
      <vt:lpstr>PowerPoint Presentation</vt:lpstr>
      <vt:lpstr>Plenary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</dc:title>
  <dc:creator>Jonathan Michael Holliday (VSC-KTiH-MB)</dc:creator>
  <cp:lastModifiedBy>Colette</cp:lastModifiedBy>
  <cp:revision>10</cp:revision>
  <dcterms:created xsi:type="dcterms:W3CDTF">2024-08-28T01:27:41Z</dcterms:created>
  <dcterms:modified xsi:type="dcterms:W3CDTF">2026-08-06T08:22:46Z</dcterms:modified>
</cp:coreProperties>
</file>
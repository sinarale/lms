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78" r:id="rId6"/>
    <p:sldId id="261" r:id="rId7"/>
    <p:sldId id="262" r:id="rId8"/>
    <p:sldId id="263" r:id="rId9"/>
    <p:sldId id="264" r:id="rId10"/>
    <p:sldId id="267" r:id="rId11"/>
    <p:sldId id="268" r:id="rId12"/>
    <p:sldId id="270" r:id="rId13"/>
    <p:sldId id="271" r:id="rId14"/>
    <p:sldId id="272" r:id="rId15"/>
    <p:sldId id="273" r:id="rId16"/>
    <p:sldId id="275" r:id="rId17"/>
    <p:sldId id="276" r:id="rId18"/>
    <p:sldId id="277" r:id="rId19"/>
    <p:sldId id="266" r:id="rId20"/>
    <p:sldId id="26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9" d="100"/>
          <a:sy n="49" d="100"/>
        </p:scale>
        <p:origin x="28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3CAF-0367-4CDB-B05C-3BA634D2852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8EB1-2FF7-4AED-BB43-76D8E6357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20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3CAF-0367-4CDB-B05C-3BA634D2852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8EB1-2FF7-4AED-BB43-76D8E6357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40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3CAF-0367-4CDB-B05C-3BA634D2852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8EB1-2FF7-4AED-BB43-76D8E6357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719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3CAF-0367-4CDB-B05C-3BA634D2852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8EB1-2FF7-4AED-BB43-76D8E6357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102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3CAF-0367-4CDB-B05C-3BA634D2852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8EB1-2FF7-4AED-BB43-76D8E6357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47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3CAF-0367-4CDB-B05C-3BA634D2852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8EB1-2FF7-4AED-BB43-76D8E6357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8145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3CAF-0367-4CDB-B05C-3BA634D2852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8EB1-2FF7-4AED-BB43-76D8E6357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943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3CAF-0367-4CDB-B05C-3BA634D2852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8EB1-2FF7-4AED-BB43-76D8E6357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987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3CAF-0367-4CDB-B05C-3BA634D2852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8EB1-2FF7-4AED-BB43-76D8E6357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554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3CAF-0367-4CDB-B05C-3BA634D2852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8EB1-2FF7-4AED-BB43-76D8E6357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026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43CAF-0367-4CDB-B05C-3BA634D2852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C8EB1-2FF7-4AED-BB43-76D8E6357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582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443CAF-0367-4CDB-B05C-3BA634D28520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C8EB1-2FF7-4AED-BB43-76D8E6357D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4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8800" dirty="0" err="1">
                <a:latin typeface="Comic Sans MS" panose="030F0702030302020204" pitchFamily="66" charset="0"/>
              </a:rPr>
              <a:t>Maths</a:t>
            </a:r>
            <a:r>
              <a:rPr lang="en-US" sz="88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1960" y="3235715"/>
            <a:ext cx="10588079" cy="2820500"/>
          </a:xfrm>
        </p:spPr>
        <p:txBody>
          <a:bodyPr>
            <a:normAutofit/>
          </a:bodyPr>
          <a:lstStyle/>
          <a:p>
            <a:pPr algn="l"/>
            <a:r>
              <a:rPr lang="en-US" sz="4800" dirty="0">
                <a:latin typeface="Comic Sans MS" panose="030F0702030302020204" pitchFamily="66" charset="0"/>
              </a:rPr>
              <a:t>WALT: </a:t>
            </a:r>
            <a:r>
              <a:rPr lang="en-US" sz="3600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Numbers and Sequences</a:t>
            </a:r>
          </a:p>
        </p:txBody>
      </p:sp>
    </p:spTree>
    <p:extLst>
      <p:ext uri="{BB962C8B-B14F-4D97-AF65-F5344CB8AC3E}">
        <p14:creationId xmlns:p14="http://schemas.microsoft.com/office/powerpoint/2010/main" val="988931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find the position to term rule for a sequence.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7017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find the position to term rule for a sequence.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find the position to term rule for a more complicated sequence.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203DBC-D42C-4A07-8DBE-E544026941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7E4BA62-8037-4798-A1DE-4EEC1E7C9C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66142E-DE8F-47BF-BC0F-911B6B55E3F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124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9274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Retrieval Practice – 3D shapes.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1723" y="2472996"/>
            <a:ext cx="10515600" cy="339282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How many 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Faces? – 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Edges? – </a:t>
            </a: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Vertices? –</a:t>
            </a:r>
          </a:p>
          <a:p>
            <a:pPr marL="0" indent="0">
              <a:buNone/>
            </a:pPr>
            <a:endParaRPr lang="en-US" sz="32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r>
              <a:rPr lang="en-US" sz="3200" dirty="0">
                <a:latin typeface="Comic Sans MS" panose="030F0702030302020204" pitchFamily="66" charset="0"/>
              </a:rPr>
              <a:t>Does this 3D shape have?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1026" name="Picture 2" descr="Hexagonal Prism - Definition, Shape, Formulas and Net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8286" b="98000" l="24800" r="7213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715" t="7061" r="26906"/>
          <a:stretch/>
        </p:blipFill>
        <p:spPr bwMode="auto">
          <a:xfrm>
            <a:off x="6563436" y="2183641"/>
            <a:ext cx="4653887" cy="42601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612572" y="2873829"/>
            <a:ext cx="8853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2572" y="3547923"/>
            <a:ext cx="8853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55257" y="4172403"/>
            <a:ext cx="8853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12</a:t>
            </a:r>
            <a:endParaRPr lang="en-US" sz="4400" b="1" dirty="0">
              <a:solidFill>
                <a:srgbClr val="FF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531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649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omic Sans MS" panose="030F0702030302020204" pitchFamily="66" charset="0"/>
              </a:rPr>
              <a:t>Starter</a:t>
            </a:r>
            <a:r>
              <a:rPr lang="en-US" sz="4000" dirty="0">
                <a:latin typeface="Comic Sans MS" panose="030F0702030302020204" pitchFamily="66" charset="0"/>
              </a:rPr>
              <a:t> – What is the term to term rule for this sequence?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6663" y="3367314"/>
            <a:ext cx="8131629" cy="3593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6000" b="1" dirty="0">
                <a:latin typeface="Comic Sans MS" panose="030F0702030302020204" pitchFamily="66" charset="0"/>
              </a:rPr>
              <a:t>7, 14, 21, 28, 35 …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489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76490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Comic Sans MS" panose="030F0702030302020204" pitchFamily="66" charset="0"/>
              </a:rPr>
              <a:t>The </a:t>
            </a:r>
            <a:r>
              <a:rPr lang="en-US" sz="4000" b="1" dirty="0">
                <a:latin typeface="Comic Sans MS" panose="030F0702030302020204" pitchFamily="66" charset="0"/>
              </a:rPr>
              <a:t>position to term </a:t>
            </a:r>
            <a:r>
              <a:rPr lang="en-US" sz="4000" dirty="0">
                <a:latin typeface="Comic Sans MS" panose="030F0702030302020204" pitchFamily="66" charset="0"/>
              </a:rPr>
              <a:t>rule…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4063" y="2759238"/>
            <a:ext cx="10025337" cy="35934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6000" b="1" dirty="0">
                <a:latin typeface="Comic Sans MS" panose="030F0702030302020204" pitchFamily="66" charset="0"/>
              </a:rPr>
              <a:t>explains how to find the value of any number in a sequence.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8580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14" y="880201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Let’s find the </a:t>
            </a:r>
            <a:r>
              <a:rPr lang="en-US" sz="4000" b="1" dirty="0">
                <a:latin typeface="Comic Sans MS" panose="030F0702030302020204" pitchFamily="66" charset="0"/>
              </a:rPr>
              <a:t>position to term </a:t>
            </a:r>
            <a:r>
              <a:rPr lang="en-US" sz="4000" dirty="0">
                <a:latin typeface="Comic Sans MS" panose="030F0702030302020204" pitchFamily="66" charset="0"/>
              </a:rPr>
              <a:t>rule of the sequence from the starter.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647121" y="2205764"/>
            <a:ext cx="8131629" cy="3593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7, 14, 21, 28, 35 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202569"/>
              </p:ext>
            </p:extLst>
          </p:nvPr>
        </p:nvGraphicFramePr>
        <p:xfrm>
          <a:off x="731564" y="3110006"/>
          <a:ext cx="3817257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571">
                  <a:extLst>
                    <a:ext uri="{9D8B030D-6E8A-4147-A177-3AD203B41FA5}">
                      <a16:colId xmlns:a16="http://schemas.microsoft.com/office/drawing/2014/main" val="858109363"/>
                    </a:ext>
                  </a:extLst>
                </a:gridCol>
                <a:gridCol w="1966686">
                  <a:extLst>
                    <a:ext uri="{9D8B030D-6E8A-4147-A177-3AD203B41FA5}">
                      <a16:colId xmlns:a16="http://schemas.microsoft.com/office/drawing/2014/main" val="2396566836"/>
                    </a:ext>
                  </a:extLst>
                </a:gridCol>
              </a:tblGrid>
              <a:tr h="3404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winkl" panose="02000000000000000000" pitchFamily="2" charset="0"/>
                        </a:rPr>
                        <a:t>Position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winkl" panose="02000000000000000000" pitchFamily="2" charset="0"/>
                        </a:rPr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223047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059264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130002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392774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786813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200371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Twinkl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2387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94514" y="3525420"/>
            <a:ext cx="6836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How could we find the 6</a:t>
            </a:r>
            <a:r>
              <a:rPr lang="en-US" sz="24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th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term in the sequence?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4514" y="4845076"/>
            <a:ext cx="6836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How could we find the 100</a:t>
            </a:r>
            <a:r>
              <a:rPr lang="en-US" sz="2400" b="1" baseline="30000" dirty="0">
                <a:solidFill>
                  <a:srgbClr val="FF0000"/>
                </a:solidFill>
                <a:latin typeface="Comic Sans MS" panose="030F0702030302020204" pitchFamily="66" charset="0"/>
              </a:rPr>
              <a:t>th</a:t>
            </a:r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 term in the sequence? </a:t>
            </a:r>
          </a:p>
        </p:txBody>
      </p:sp>
    </p:spTree>
    <p:extLst>
      <p:ext uri="{BB962C8B-B14F-4D97-AF65-F5344CB8AC3E}">
        <p14:creationId xmlns:p14="http://schemas.microsoft.com/office/powerpoint/2010/main" val="50328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2714" y="880201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Let’s find the </a:t>
            </a:r>
            <a:r>
              <a:rPr lang="en-US" sz="4000" b="1" dirty="0">
                <a:latin typeface="Comic Sans MS" panose="030F0702030302020204" pitchFamily="66" charset="0"/>
              </a:rPr>
              <a:t>position to term </a:t>
            </a:r>
            <a:r>
              <a:rPr lang="en-US" sz="4000" dirty="0">
                <a:latin typeface="Comic Sans MS" panose="030F0702030302020204" pitchFamily="66" charset="0"/>
              </a:rPr>
              <a:t>rule of the sequence from the starter.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647121" y="2205764"/>
            <a:ext cx="8131629" cy="35934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>
                <a:latin typeface="Comic Sans MS" panose="030F0702030302020204" pitchFamily="66" charset="0"/>
              </a:rPr>
              <a:t>7, 14, 21, 28, 35 …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801555"/>
              </p:ext>
            </p:extLst>
          </p:nvPr>
        </p:nvGraphicFramePr>
        <p:xfrm>
          <a:off x="731564" y="3110006"/>
          <a:ext cx="3817257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571">
                  <a:extLst>
                    <a:ext uri="{9D8B030D-6E8A-4147-A177-3AD203B41FA5}">
                      <a16:colId xmlns:a16="http://schemas.microsoft.com/office/drawing/2014/main" val="858109363"/>
                    </a:ext>
                  </a:extLst>
                </a:gridCol>
                <a:gridCol w="1966686">
                  <a:extLst>
                    <a:ext uri="{9D8B030D-6E8A-4147-A177-3AD203B41FA5}">
                      <a16:colId xmlns:a16="http://schemas.microsoft.com/office/drawing/2014/main" val="2396566836"/>
                    </a:ext>
                  </a:extLst>
                </a:gridCol>
              </a:tblGrid>
              <a:tr h="3404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winkl" panose="02000000000000000000" pitchFamily="2" charset="0"/>
                        </a:rPr>
                        <a:t>Position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winkl" panose="02000000000000000000" pitchFamily="2" charset="0"/>
                        </a:rPr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223047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059264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130002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392774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786813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200371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Twinkl" panose="02000000000000000000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2387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94514" y="3525420"/>
            <a:ext cx="6836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What is the position to term rule for this sequence?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32478" y="4877745"/>
            <a:ext cx="683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Multiply the position by 7.</a:t>
            </a:r>
          </a:p>
        </p:txBody>
      </p:sp>
    </p:spTree>
    <p:extLst>
      <p:ext uri="{BB962C8B-B14F-4D97-AF65-F5344CB8AC3E}">
        <p14:creationId xmlns:p14="http://schemas.microsoft.com/office/powerpoint/2010/main" val="2666704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478" y="657176"/>
            <a:ext cx="10515600" cy="1325563"/>
          </a:xfrm>
        </p:spPr>
        <p:txBody>
          <a:bodyPr/>
          <a:lstStyle/>
          <a:p>
            <a:r>
              <a:rPr lang="en-US" sz="4000" b="1" dirty="0">
                <a:latin typeface="Comic Sans MS" panose="030F0702030302020204" pitchFamily="66" charset="0"/>
              </a:rPr>
              <a:t>Check your understanding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1720244"/>
              </p:ext>
            </p:extLst>
          </p:nvPr>
        </p:nvGraphicFramePr>
        <p:xfrm>
          <a:off x="571907" y="2297206"/>
          <a:ext cx="3817257" cy="3627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0571">
                  <a:extLst>
                    <a:ext uri="{9D8B030D-6E8A-4147-A177-3AD203B41FA5}">
                      <a16:colId xmlns:a16="http://schemas.microsoft.com/office/drawing/2014/main" val="858109363"/>
                    </a:ext>
                  </a:extLst>
                </a:gridCol>
                <a:gridCol w="1966686">
                  <a:extLst>
                    <a:ext uri="{9D8B030D-6E8A-4147-A177-3AD203B41FA5}">
                      <a16:colId xmlns:a16="http://schemas.microsoft.com/office/drawing/2014/main" val="2396566836"/>
                    </a:ext>
                  </a:extLst>
                </a:gridCol>
              </a:tblGrid>
              <a:tr h="340495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winkl" panose="02000000000000000000" pitchFamily="2" charset="0"/>
                        </a:rPr>
                        <a:t>Position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Twinkl" panose="02000000000000000000" pitchFamily="2" charset="0"/>
                        </a:rPr>
                        <a:t>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8223047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059264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9130002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8392774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3786813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6200371"/>
                  </a:ext>
                </a:extLst>
              </a:tr>
              <a:tr h="483904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Twinkl" panose="02000000000000000000" pitchFamily="2" charset="0"/>
                        </a:rPr>
                        <a:t>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2387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94512" y="3743134"/>
            <a:ext cx="6836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What is the position to term rule for this sequence?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94513" y="2353796"/>
            <a:ext cx="68362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What is the term to term rule for this sequence?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94512" y="5132473"/>
            <a:ext cx="68362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Comic Sans MS" panose="030F0702030302020204" pitchFamily="66" charset="0"/>
              </a:rPr>
              <a:t>What is the 50</a:t>
            </a:r>
            <a:r>
              <a:rPr lang="en-US" sz="2400" b="1" baseline="30000" dirty="0">
                <a:latin typeface="Comic Sans MS" panose="030F0702030302020204" pitchFamily="66" charset="0"/>
              </a:rPr>
              <a:t>th</a:t>
            </a:r>
            <a:r>
              <a:rPr lang="en-US" sz="2400" b="1" dirty="0">
                <a:latin typeface="Comic Sans MS" panose="030F0702030302020204" pitchFamily="66" charset="0"/>
              </a:rPr>
              <a:t> term in the sequence?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2971" y="2960914"/>
            <a:ext cx="1915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Add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82971" y="4433021"/>
            <a:ext cx="497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Multiply the position by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10285" y="5805027"/>
            <a:ext cx="497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550</a:t>
            </a:r>
          </a:p>
        </p:txBody>
      </p:sp>
    </p:spTree>
    <p:extLst>
      <p:ext uri="{BB962C8B-B14F-4D97-AF65-F5344CB8AC3E}">
        <p14:creationId xmlns:p14="http://schemas.microsoft.com/office/powerpoint/2010/main" val="1849180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69829" y="967694"/>
            <a:ext cx="2728685" cy="4657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LB Page 23 - 26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22" y="1113466"/>
            <a:ext cx="4638722" cy="266791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2843" y="2059665"/>
            <a:ext cx="3429000" cy="40481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1867" y="2674938"/>
            <a:ext cx="3333750" cy="41052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5230" y="5818384"/>
            <a:ext cx="4162199" cy="842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083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78" y="1588633"/>
            <a:ext cx="9416699" cy="42606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995886" y="2133600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Multiply the position by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2478" y="5387591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3871612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862" y="1683656"/>
            <a:ext cx="10727654" cy="3091543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96517" y="3033482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2402" y="3043669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8287" y="3053856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51315" y="3656199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Add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82458" y="4642201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Multiply the position by 3</a:t>
            </a:r>
          </a:p>
        </p:txBody>
      </p:sp>
    </p:spTree>
    <p:extLst>
      <p:ext uri="{BB962C8B-B14F-4D97-AF65-F5344CB8AC3E}">
        <p14:creationId xmlns:p14="http://schemas.microsoft.com/office/powerpoint/2010/main" val="192986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03" y="1359544"/>
            <a:ext cx="10264532" cy="5395459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55563" y="1855458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8, 16, 24, 32, 40, 48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32478" y="6141149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71258" y="5679484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Multiply the position by 8</a:t>
            </a:r>
          </a:p>
        </p:txBody>
      </p:sp>
    </p:spTree>
    <p:extLst>
      <p:ext uri="{BB962C8B-B14F-4D97-AF65-F5344CB8AC3E}">
        <p14:creationId xmlns:p14="http://schemas.microsoft.com/office/powerpoint/2010/main" val="130386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95" y="1121455"/>
            <a:ext cx="9396743" cy="4829402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29086" y="4896854"/>
            <a:ext cx="3976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29085" y="5785360"/>
            <a:ext cx="39769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82846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49" y="1043694"/>
            <a:ext cx="7878259" cy="5342592"/>
          </a:xfrm>
          <a:prstGeom prst="rect">
            <a:avLst/>
          </a:prstGeom>
        </p:spPr>
      </p:pic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889427" y="3126112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2684" y="3618931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2684" y="4047457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9994" y="4525366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6342" y="4970136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Multiply the position by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2478" y="5462955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150</a:t>
            </a:r>
          </a:p>
        </p:txBody>
      </p:sp>
    </p:spTree>
    <p:extLst>
      <p:ext uri="{BB962C8B-B14F-4D97-AF65-F5344CB8AC3E}">
        <p14:creationId xmlns:p14="http://schemas.microsoft.com/office/powerpoint/2010/main" val="260119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122" y="1731508"/>
            <a:ext cx="10639056" cy="407420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542571" y="2995482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 ¼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9885" y="2995481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 ¾ 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7086" y="4721121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4113" y="4721121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1.01 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2570" y="4721119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1.02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45055" y="4721117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1.03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9174" y="4709390"/>
            <a:ext cx="397691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1.04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6798" y="5194509"/>
            <a:ext cx="39769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1.09 </a:t>
            </a:r>
          </a:p>
        </p:txBody>
      </p:sp>
    </p:spTree>
    <p:extLst>
      <p:ext uri="{BB962C8B-B14F-4D97-AF65-F5344CB8AC3E}">
        <p14:creationId xmlns:p14="http://schemas.microsoft.com/office/powerpoint/2010/main" val="3558740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51" y="1039811"/>
            <a:ext cx="11000064" cy="28052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3432" y="4463597"/>
            <a:ext cx="8823702" cy="1051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45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460" y="1837645"/>
            <a:ext cx="9497995" cy="3605212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715657" y="3976914"/>
            <a:ext cx="928914" cy="885372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7" name="Oval 6"/>
          <p:cNvSpPr/>
          <p:nvPr/>
        </p:nvSpPr>
        <p:spPr>
          <a:xfrm>
            <a:off x="6480628" y="3976914"/>
            <a:ext cx="1124858" cy="885372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  <p:sp>
        <p:nvSpPr>
          <p:cNvPr id="8" name="Oval 7"/>
          <p:cNvSpPr/>
          <p:nvPr/>
        </p:nvSpPr>
        <p:spPr>
          <a:xfrm>
            <a:off x="7982856" y="3976914"/>
            <a:ext cx="914401" cy="885372"/>
          </a:xfrm>
          <a:prstGeom prst="ellipse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161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136478" y="188820"/>
            <a:ext cx="12192000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the relationship between repeated addition of a constant and multiplication to find and use a position to term rule.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17" y="1566862"/>
            <a:ext cx="10463441" cy="204719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49827" y="4369804"/>
            <a:ext cx="3976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30.01 </a:t>
            </a:r>
          </a:p>
        </p:txBody>
      </p:sp>
    </p:spTree>
    <p:extLst>
      <p:ext uri="{BB962C8B-B14F-4D97-AF65-F5344CB8AC3E}">
        <p14:creationId xmlns:p14="http://schemas.microsoft.com/office/powerpoint/2010/main" val="252773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01500"/>
            <a:ext cx="10515600" cy="1325563"/>
          </a:xfrm>
        </p:spPr>
        <p:txBody>
          <a:bodyPr>
            <a:noAutofit/>
          </a:bodyPr>
          <a:lstStyle/>
          <a:p>
            <a:r>
              <a:rPr lang="en-US" b="1" dirty="0">
                <a:latin typeface="Comic Sans MS" panose="030F0702030302020204" pitchFamily="66" charset="0"/>
              </a:rPr>
              <a:t>Plenary </a:t>
            </a:r>
            <a:r>
              <a:rPr lang="en-US" dirty="0">
                <a:latin typeface="Comic Sans MS" panose="030F0702030302020204" pitchFamily="66" charset="0"/>
              </a:rPr>
              <a:t>– What is the position to term rule in this sequence?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latin typeface="Comic Sans MS" panose="030F0702030302020204" pitchFamily="66" charset="0"/>
              </a:rPr>
              <a:t>WALT: </a:t>
            </a:r>
            <a:r>
              <a:rPr lang="en-US" sz="2000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sz="20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l="2864" t="4449" b="2462"/>
          <a:stretch/>
        </p:blipFill>
        <p:spPr>
          <a:xfrm>
            <a:off x="2510790" y="3105603"/>
            <a:ext cx="6974084" cy="316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79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find the position to term rule for a sequence.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37017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find the position to term rule for a sequence.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find the position to term rule for a more complicated sequence.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0" y="200665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Count on and count back in numbers of constant size, including fractions and decimals, and extend beyond zero to give negative numbers.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706A67-C25D-42C8-ABF6-CBA367784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313232"/>
            <a:ext cx="1102890" cy="21233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FB90EB-FBA0-47CF-B925-30B72F7FAD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1053553"/>
            <a:ext cx="1102890" cy="230529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C058188-DFF9-4BE2-81EC-CC199A28966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940088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96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876</Words>
  <Application>Microsoft Office PowerPoint</Application>
  <PresentationFormat>Widescreen</PresentationFormat>
  <Paragraphs>126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Light</vt:lpstr>
      <vt:lpstr>Comic Sans MS</vt:lpstr>
      <vt:lpstr>Twinkl</vt:lpstr>
      <vt:lpstr>Office Theme</vt:lpstr>
      <vt:lpstr>Maths </vt:lpstr>
      <vt:lpstr>PowerPoint Presentation</vt:lpstr>
      <vt:lpstr>Retrieval Practice – 3D shapes.</vt:lpstr>
      <vt:lpstr>Starter – What is the term to term rule for this sequence?</vt:lpstr>
      <vt:lpstr>The position to term rule…</vt:lpstr>
      <vt:lpstr>Let’s find the position to term rule of the sequence from the starter.</vt:lpstr>
      <vt:lpstr>Let’s find the position to term rule of the sequence from the starter.</vt:lpstr>
      <vt:lpstr>Check your understanding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Plenary – What is the position to term rule in this sequence?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</cp:lastModifiedBy>
  <cp:revision>13</cp:revision>
  <dcterms:created xsi:type="dcterms:W3CDTF">2024-08-27T00:46:37Z</dcterms:created>
  <dcterms:modified xsi:type="dcterms:W3CDTF">2026-08-06T08:20:13Z</dcterms:modified>
</cp:coreProperties>
</file>
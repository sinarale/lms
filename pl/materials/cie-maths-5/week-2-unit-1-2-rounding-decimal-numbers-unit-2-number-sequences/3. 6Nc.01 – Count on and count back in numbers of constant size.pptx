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74" r:id="rId4"/>
    <p:sldId id="257" r:id="rId5"/>
    <p:sldId id="275" r:id="rId6"/>
    <p:sldId id="276" r:id="rId7"/>
    <p:sldId id="277" r:id="rId8"/>
    <p:sldId id="278" r:id="rId9"/>
    <p:sldId id="279" r:id="rId10"/>
    <p:sldId id="284" r:id="rId11"/>
    <p:sldId id="283" r:id="rId12"/>
    <p:sldId id="280" r:id="rId13"/>
    <p:sldId id="28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9806C-039F-4531-8056-9D24E0A17082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E5594-40B2-452B-81D6-683F4A226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482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9806C-039F-4531-8056-9D24E0A17082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E5594-40B2-452B-81D6-683F4A226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897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9806C-039F-4531-8056-9D24E0A17082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E5594-40B2-452B-81D6-683F4A226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886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9806C-039F-4531-8056-9D24E0A17082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E5594-40B2-452B-81D6-683F4A226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366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9806C-039F-4531-8056-9D24E0A17082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E5594-40B2-452B-81D6-683F4A226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907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9806C-039F-4531-8056-9D24E0A17082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E5594-40B2-452B-81D6-683F4A226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367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9806C-039F-4531-8056-9D24E0A17082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E5594-40B2-452B-81D6-683F4A226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845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9806C-039F-4531-8056-9D24E0A17082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E5594-40B2-452B-81D6-683F4A226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937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9806C-039F-4531-8056-9D24E0A17082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E5594-40B2-452B-81D6-683F4A226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814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9806C-039F-4531-8056-9D24E0A17082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E5594-40B2-452B-81D6-683F4A226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873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9806C-039F-4531-8056-9D24E0A17082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E5594-40B2-452B-81D6-683F4A226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65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C9806C-039F-4531-8056-9D24E0A17082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EE5594-40B2-452B-81D6-683F4A226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906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2.png"/><Relationship Id="rId12" Type="http://schemas.microsoft.com/office/2007/relationships/hdphoto" Target="../media/hdphoto1.wdp"/><Relationship Id="rId16" Type="http://schemas.microsoft.com/office/2007/relationships/hdphoto" Target="../media/hdphoto3.wdp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.png"/><Relationship Id="rId15" Type="http://schemas.openxmlformats.org/officeDocument/2006/relationships/image" Target="../media/image3.png"/><Relationship Id="rId10" Type="http://schemas.openxmlformats.org/officeDocument/2006/relationships/image" Target="../media/image10.png"/><Relationship Id="rId9" Type="http://schemas.openxmlformats.org/officeDocument/2006/relationships/image" Target="../media/image9.png"/><Relationship Id="rId14" Type="http://schemas.microsoft.com/office/2007/relationships/hdphoto" Target="../media/hdphoto2.wdp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5230" y="-98475"/>
            <a:ext cx="5462954" cy="1667095"/>
          </a:xfrm>
        </p:spPr>
        <p:txBody>
          <a:bodyPr>
            <a:normAutofit/>
          </a:bodyPr>
          <a:lstStyle/>
          <a:p>
            <a:r>
              <a:rPr lang="en-US" sz="8800" dirty="0" err="1">
                <a:latin typeface="Comic Sans MS" panose="030F0702030302020204" pitchFamily="66" charset="0"/>
              </a:rPr>
              <a:t>Maths</a:t>
            </a:r>
            <a:r>
              <a:rPr lang="en-US" sz="8800" dirty="0">
                <a:latin typeface="Comic Sans MS" panose="030F0702030302020204" pitchFamily="66" charset="0"/>
              </a:rPr>
              <a:t>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1960" y="2244354"/>
            <a:ext cx="10588079" cy="4061472"/>
          </a:xfrm>
        </p:spPr>
        <p:txBody>
          <a:bodyPr>
            <a:normAutofit/>
          </a:bodyPr>
          <a:lstStyle/>
          <a:p>
            <a:pPr algn="l"/>
            <a:r>
              <a:rPr lang="en-US" sz="4800" dirty="0">
                <a:latin typeface="Comic Sans MS" panose="030F0702030302020204" pitchFamily="66" charset="0"/>
              </a:rPr>
              <a:t>27.08.2026</a:t>
            </a:r>
          </a:p>
          <a:p>
            <a:pPr algn="l"/>
            <a:endParaRPr lang="en-US" sz="4800" dirty="0">
              <a:latin typeface="Comic Sans MS" panose="030F0702030302020204" pitchFamily="66" charset="0"/>
            </a:endParaRPr>
          </a:p>
          <a:p>
            <a:pPr algn="l"/>
            <a:r>
              <a:rPr lang="en-US" sz="4800" dirty="0">
                <a:latin typeface="Comic Sans MS" panose="030F0702030302020204" pitchFamily="66" charset="0"/>
              </a:rPr>
              <a:t>WALT: </a:t>
            </a:r>
            <a:r>
              <a:rPr lang="en-US" sz="3600" dirty="0">
                <a:latin typeface="Comic Sans MS" panose="030F0702030302020204" pitchFamily="66" charset="0"/>
              </a:rPr>
              <a:t>Count on and count back in numbers of constant size, including fractions and decimals, and extend beyond zero to give negative numbers.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35292" y="552174"/>
            <a:ext cx="27562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Unit 2 – Numbers and Sequences</a:t>
            </a:r>
          </a:p>
        </p:txBody>
      </p:sp>
    </p:spTree>
    <p:extLst>
      <p:ext uri="{BB962C8B-B14F-4D97-AF65-F5344CB8AC3E}">
        <p14:creationId xmlns:p14="http://schemas.microsoft.com/office/powerpoint/2010/main" val="3342730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Comic Sans MS" panose="030F0702030302020204" pitchFamily="66" charset="0"/>
              </a:rPr>
              <a:t>I can count on and back in numbers of constant size.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fill in the missing numbers of sequences.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write my own sequences using fractions and decimals and they extend beyond zero.</a:t>
            </a:r>
          </a:p>
        </p:txBody>
      </p:sp>
      <p:sp>
        <p:nvSpPr>
          <p:cNvPr id="12" name="Subtitle 2"/>
          <p:cNvSpPr txBox="1">
            <a:spLocks/>
          </p:cNvSpPr>
          <p:nvPr/>
        </p:nvSpPr>
        <p:spPr>
          <a:xfrm>
            <a:off x="0" y="200665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Count on and count back in numbers of constant size, including fractions and decimals, and extend beyond zero to give negative numbers.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7521B8-EA05-4853-9B0D-9F39556E3C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313232"/>
            <a:ext cx="1102890" cy="21233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FBF9D7C-ED21-401F-ABFA-DE194C580B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1053553"/>
            <a:ext cx="1102890" cy="23052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455D813-C9F0-4EA6-8EFF-5F0B29FAF9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940088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341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/>
          <p:cNvSpPr/>
          <p:nvPr/>
        </p:nvSpPr>
        <p:spPr>
          <a:xfrm>
            <a:off x="8438866" y="3207224"/>
            <a:ext cx="2361062" cy="13784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5058770" y="4585648"/>
            <a:ext cx="2361062" cy="13784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441" y="822960"/>
            <a:ext cx="11912805" cy="1762879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Comic Sans MS" panose="030F0702030302020204" pitchFamily="66" charset="0"/>
              </a:rPr>
              <a:t>Retrieval Practice – </a:t>
            </a:r>
            <a:r>
              <a:rPr lang="en-US" sz="3600" dirty="0">
                <a:latin typeface="Comic Sans MS" panose="030F0702030302020204" pitchFamily="66" charset="0"/>
              </a:rPr>
              <a:t>Which of these numbers is the odd one out? Why?</a:t>
            </a:r>
          </a:p>
        </p:txBody>
      </p:sp>
      <p:sp>
        <p:nvSpPr>
          <p:cNvPr id="5" name="Oval 4"/>
          <p:cNvSpPr/>
          <p:nvPr/>
        </p:nvSpPr>
        <p:spPr>
          <a:xfrm>
            <a:off x="1678675" y="3207224"/>
            <a:ext cx="2361062" cy="13784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11" name="Subtitle 2"/>
          <p:cNvSpPr txBox="1">
            <a:spLocks/>
          </p:cNvSpPr>
          <p:nvPr/>
        </p:nvSpPr>
        <p:spPr>
          <a:xfrm>
            <a:off x="0" y="200665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Count on and count back in numbers of constant size, including fractions and decimals, and extend beyond zero to give negative numbers.</a:t>
            </a:r>
          </a:p>
          <a:p>
            <a:pPr marL="0" indent="0">
              <a:buNone/>
            </a:pPr>
            <a:endParaRPr lang="en-US" sz="2000" dirty="0">
              <a:latin typeface="Comic Sans MS" panose="030F0702030302020204" pitchFamily="66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54955" y="3400567"/>
            <a:ext cx="33982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latin typeface="Comic Sans MS" panose="030F0702030302020204" pitchFamily="66" charset="0"/>
              </a:rPr>
              <a:t>17.34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2018" y="3400567"/>
            <a:ext cx="33982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latin typeface="Comic Sans MS" panose="030F0702030302020204" pitchFamily="66" charset="0"/>
              </a:rPr>
              <a:t>16.49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6663" y="4775957"/>
            <a:ext cx="33982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latin typeface="Comic Sans MS" panose="030F0702030302020204" pitchFamily="66" charset="0"/>
              </a:rPr>
              <a:t>16.51</a:t>
            </a:r>
          </a:p>
        </p:txBody>
      </p:sp>
    </p:spTree>
    <p:extLst>
      <p:ext uri="{BB962C8B-B14F-4D97-AF65-F5344CB8AC3E}">
        <p14:creationId xmlns:p14="http://schemas.microsoft.com/office/powerpoint/2010/main" val="1114971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64749"/>
            <a:ext cx="10515600" cy="1325563"/>
          </a:xfrm>
        </p:spPr>
        <p:txBody>
          <a:bodyPr/>
          <a:lstStyle/>
          <a:p>
            <a:r>
              <a:rPr lang="en-US" sz="4000" b="1" dirty="0">
                <a:latin typeface="Comic Sans MS" panose="030F0702030302020204" pitchFamily="66" charset="0"/>
              </a:rPr>
              <a:t>Starter – </a:t>
            </a:r>
            <a:r>
              <a:rPr lang="en-US" sz="4000" dirty="0">
                <a:latin typeface="Comic Sans MS" panose="030F0702030302020204" pitchFamily="66" charset="0"/>
              </a:rPr>
              <a:t>What do you notice about this pattern?</a:t>
            </a:r>
          </a:p>
        </p:txBody>
      </p:sp>
      <p:sp>
        <p:nvSpPr>
          <p:cNvPr id="13" name="Subtitle 2"/>
          <p:cNvSpPr txBox="1">
            <a:spLocks/>
          </p:cNvSpPr>
          <p:nvPr/>
        </p:nvSpPr>
        <p:spPr>
          <a:xfrm>
            <a:off x="0" y="200665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Count on and count back in numbers of constant size, including fractions and decimals, and extend beyond zero to give negative numbers.</a:t>
            </a:r>
          </a:p>
          <a:p>
            <a:pPr marL="0" indent="0">
              <a:buNone/>
            </a:pPr>
            <a:endParaRPr lang="en-US" sz="2000" dirty="0">
              <a:latin typeface="Comic Sans MS" panose="030F0702030302020204" pitchFamily="66" charset="0"/>
            </a:endParaRPr>
          </a:p>
        </p:txBody>
      </p:sp>
      <p:pic>
        <p:nvPicPr>
          <p:cNvPr id="1032" name="Picture 8" descr="Matchstick Patter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032101"/>
            <a:ext cx="10244850" cy="2536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2193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006" y="672477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How could we continue the sequence?</a:t>
            </a:r>
          </a:p>
        </p:txBody>
      </p:sp>
      <p:sp>
        <p:nvSpPr>
          <p:cNvPr id="13" name="Subtitle 2"/>
          <p:cNvSpPr txBox="1">
            <a:spLocks/>
          </p:cNvSpPr>
          <p:nvPr/>
        </p:nvSpPr>
        <p:spPr>
          <a:xfrm>
            <a:off x="0" y="200665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Count on and count back in numbers of constant size, including fractions and decimals, and extend beyond zero to give negative numbers.</a:t>
            </a:r>
          </a:p>
          <a:p>
            <a:pPr marL="0" indent="0">
              <a:buNone/>
            </a:pPr>
            <a:endParaRPr lang="en-US" sz="2000" dirty="0">
              <a:latin typeface="Comic Sans MS" panose="030F0702030302020204" pitchFamily="66" charset="0"/>
            </a:endParaRPr>
          </a:p>
        </p:txBody>
      </p:sp>
      <p:pic>
        <p:nvPicPr>
          <p:cNvPr id="1032" name="Picture 8" descr="Matchstick Patter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891910"/>
            <a:ext cx="10244850" cy="2536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593824" y="158631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latin typeface="Comic Sans MS" panose="030F0702030302020204" pitchFamily="66" charset="0"/>
              </a:rPr>
              <a:t>Use sticks to continue the sequence.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593824" y="246985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latin typeface="Comic Sans MS" panose="030F0702030302020204" pitchFamily="66" charset="0"/>
              </a:rPr>
              <a:t>Count how many sticks we add each time and think of a term to term rule.</a:t>
            </a:r>
          </a:p>
        </p:txBody>
      </p:sp>
    </p:spTree>
    <p:extLst>
      <p:ext uri="{BB962C8B-B14F-4D97-AF65-F5344CB8AC3E}">
        <p14:creationId xmlns:p14="http://schemas.microsoft.com/office/powerpoint/2010/main" val="1699372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321" y="3732663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omic Sans MS" panose="030F0702030302020204" pitchFamily="66" charset="0"/>
              </a:rPr>
              <a:t>We will look at term to term and position to term rules more next lesson.</a:t>
            </a:r>
          </a:p>
        </p:txBody>
      </p:sp>
      <p:sp>
        <p:nvSpPr>
          <p:cNvPr id="13" name="Subtitle 2"/>
          <p:cNvSpPr txBox="1">
            <a:spLocks/>
          </p:cNvSpPr>
          <p:nvPr/>
        </p:nvSpPr>
        <p:spPr>
          <a:xfrm>
            <a:off x="0" y="200665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Count on and count back in numbers of constant size, including fractions and decimals, and extend beyond zero to give negative numbers.</a:t>
            </a:r>
          </a:p>
          <a:p>
            <a:pPr marL="0" indent="0">
              <a:buNone/>
            </a:pPr>
            <a:endParaRPr lang="en-US" sz="2000" dirty="0">
              <a:latin typeface="Comic Sans MS" panose="030F0702030302020204" pitchFamily="66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489321" y="148875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latin typeface="Comic Sans MS" panose="030F0702030302020204" pitchFamily="66" charset="0"/>
              </a:rPr>
              <a:t>Today we are going to concentrate of counting on and counting back.</a:t>
            </a:r>
          </a:p>
        </p:txBody>
      </p:sp>
    </p:spTree>
    <p:extLst>
      <p:ext uri="{BB962C8B-B14F-4D97-AF65-F5344CB8AC3E}">
        <p14:creationId xmlns:p14="http://schemas.microsoft.com/office/powerpoint/2010/main" val="2792848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88457"/>
            <a:ext cx="10515600" cy="1325563"/>
          </a:xfrm>
        </p:spPr>
        <p:txBody>
          <a:bodyPr/>
          <a:lstStyle/>
          <a:p>
            <a:r>
              <a:rPr lang="en-US" sz="4000" dirty="0">
                <a:latin typeface="Comic Sans MS" panose="030F0702030302020204" pitchFamily="66" charset="0"/>
              </a:rPr>
              <a:t>You need to be able to count on and back in fractions…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0" y="200665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Count on and count back in numbers of constant size, including fractions and decimals, and extend beyond zero to give negative numbers.</a:t>
            </a:r>
          </a:p>
          <a:p>
            <a:pPr marL="0" indent="0">
              <a:buNone/>
            </a:pPr>
            <a:endParaRPr lang="en-US" sz="2000" dirty="0">
              <a:latin typeface="Comic Sans MS" panose="030F0702030302020204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-243385" y="2875935"/>
                <a:ext cx="2702256" cy="11330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3600" b="0" i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43385" y="2875935"/>
                <a:ext cx="2702256" cy="11330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107743" y="2862466"/>
                <a:ext cx="2702256" cy="11330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36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743" y="2862466"/>
                <a:ext cx="2702256" cy="11330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458871" y="2848997"/>
                <a:ext cx="2702256" cy="11294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36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8871" y="2848997"/>
                <a:ext cx="2702256" cy="11294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744872" y="2836973"/>
                <a:ext cx="2702256" cy="11406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4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8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4800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4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Comic Sans MS" panose="030F0702030302020204" pitchFamily="66" charset="0"/>
                  </a:rPr>
                  <a:t> </a:t>
                </a:r>
                <a:r>
                  <a:rPr lang="en-US" sz="4800" dirty="0">
                    <a:latin typeface="Comic Sans MS" panose="030F0702030302020204" pitchFamily="66" charset="0"/>
                  </a:rPr>
                  <a:t>…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4872" y="2836973"/>
                <a:ext cx="2702256" cy="1140633"/>
              </a:xfrm>
              <a:prstGeom prst="rect">
                <a:avLst/>
              </a:prstGeom>
              <a:blipFill>
                <a:blip r:embed="rId5"/>
                <a:stretch>
                  <a:fillRect b="-133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5747121" y="5295331"/>
            <a:ext cx="44750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What are the next terms in this sequence?</a:t>
            </a:r>
          </a:p>
        </p:txBody>
      </p:sp>
    </p:spTree>
    <p:extLst>
      <p:ext uri="{BB962C8B-B14F-4D97-AF65-F5344CB8AC3E}">
        <p14:creationId xmlns:p14="http://schemas.microsoft.com/office/powerpoint/2010/main" val="553251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88457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omic Sans MS" panose="030F0702030302020204" pitchFamily="66" charset="0"/>
              </a:rPr>
              <a:t>You need to be able to count on and back in decimals…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0" y="200665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Count on and count back in numbers of constant size, including fractions and decimals, and extend beyond zero to give negative numbers.</a:t>
            </a:r>
          </a:p>
          <a:p>
            <a:pPr marL="0" indent="0">
              <a:buNone/>
            </a:pPr>
            <a:endParaRPr lang="en-US" sz="2000" dirty="0">
              <a:latin typeface="Comic Sans MS" panose="030F0702030302020204" pitchFamily="66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47121" y="5295331"/>
            <a:ext cx="44750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What are the next terms in this sequence?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200" y="2934830"/>
            <a:ext cx="79566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Comic Sans MS" panose="030F0702030302020204" pitchFamily="66" charset="0"/>
              </a:rPr>
              <a:t>0.65,  0.61,  0.57,  0.53 …</a:t>
            </a:r>
          </a:p>
        </p:txBody>
      </p:sp>
    </p:spTree>
    <p:extLst>
      <p:ext uri="{BB962C8B-B14F-4D97-AF65-F5344CB8AC3E}">
        <p14:creationId xmlns:p14="http://schemas.microsoft.com/office/powerpoint/2010/main" val="314706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88457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omic Sans MS" panose="030F0702030302020204" pitchFamily="66" charset="0"/>
              </a:rPr>
              <a:t>You need to be able to count on and back past zero to give negative numbers…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0" y="200665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Count on and count back in numbers of constant size, including fractions and decimals, and extend beyond zero to give negative numbers.</a:t>
            </a:r>
          </a:p>
          <a:p>
            <a:pPr marL="0" indent="0">
              <a:buNone/>
            </a:pPr>
            <a:endParaRPr lang="en-US" sz="2000" dirty="0">
              <a:latin typeface="Comic Sans MS" panose="030F0702030302020204" pitchFamily="66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47121" y="5295331"/>
            <a:ext cx="44750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What are the next terms in this sequence?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4649" y="3288772"/>
            <a:ext cx="79566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Comic Sans MS" panose="030F0702030302020204" pitchFamily="66" charset="0"/>
              </a:rPr>
              <a:t>12,  8.5,  5,  1.5 …</a:t>
            </a:r>
          </a:p>
        </p:txBody>
      </p:sp>
    </p:spTree>
    <p:extLst>
      <p:ext uri="{BB962C8B-B14F-4D97-AF65-F5344CB8AC3E}">
        <p14:creationId xmlns:p14="http://schemas.microsoft.com/office/powerpoint/2010/main" val="1045941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7308" y="1054825"/>
            <a:ext cx="11494242" cy="2142309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omic Sans MS" panose="030F0702030302020204" pitchFamily="66" charset="0"/>
              </a:rPr>
              <a:t>What happens if we are given the first and last term of the sequence? </a:t>
            </a:r>
            <a:br>
              <a:rPr lang="en-US" sz="3600" dirty="0">
                <a:latin typeface="Comic Sans MS" panose="030F0702030302020204" pitchFamily="66" charset="0"/>
              </a:rPr>
            </a:br>
            <a:br>
              <a:rPr lang="en-US" sz="3600" dirty="0">
                <a:latin typeface="Comic Sans MS" panose="030F0702030302020204" pitchFamily="66" charset="0"/>
              </a:rPr>
            </a:br>
            <a:r>
              <a:rPr lang="en-US" sz="3600" dirty="0">
                <a:latin typeface="Comic Sans MS" panose="030F0702030302020204" pitchFamily="66" charset="0"/>
              </a:rPr>
              <a:t>How can we find the missing numbers?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0" y="200665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Count on and count back in numbers of constant size, including fractions and decimals, and extend beyond zero to give negative numbers.</a:t>
            </a:r>
          </a:p>
          <a:p>
            <a:pPr marL="0" indent="0">
              <a:buNone/>
            </a:pPr>
            <a:endParaRPr lang="en-US" sz="2000" dirty="0">
              <a:latin typeface="Comic Sans MS" panose="030F0702030302020204" pitchFamily="66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99271" y="3660867"/>
            <a:ext cx="1074678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Comic Sans MS" panose="030F0702030302020204" pitchFamily="66" charset="0"/>
              </a:rPr>
              <a:t>4, ____, ____, ____, ____, _____34</a:t>
            </a:r>
          </a:p>
        </p:txBody>
      </p:sp>
    </p:spTree>
    <p:extLst>
      <p:ext uri="{BB962C8B-B14F-4D97-AF65-F5344CB8AC3E}">
        <p14:creationId xmlns:p14="http://schemas.microsoft.com/office/powerpoint/2010/main" val="18491442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0" y="200665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Count on and count back in numbers of constant size, including fractions and decimals, and extend beyond zero to give negative numbers.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8365" y="2154860"/>
            <a:ext cx="39442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mic Sans MS" panose="030F0702030302020204" pitchFamily="66" charset="0"/>
              </a:rPr>
              <a:t>Write the next 3 terms in each of these sequences.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170598" y="4383134"/>
            <a:ext cx="4039736" cy="628467"/>
            <a:chOff x="218365" y="4133091"/>
            <a:chExt cx="4039736" cy="62846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218365" y="4144979"/>
                  <a:ext cx="4039736" cy="6154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>
                      <a:latin typeface="Comic Sans MS" panose="030F0702030302020204" pitchFamily="66" charset="0"/>
                    </a:rPr>
                    <a:t>c)   2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a14:m>
                  <a:endParaRPr lang="en-US" sz="2400" dirty="0">
                    <a:latin typeface="Comic Sans MS" panose="030F0702030302020204" pitchFamily="66" charset="0"/>
                  </a:endParaRPr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365" y="4144979"/>
                  <a:ext cx="4039736" cy="615425"/>
                </a:xfrm>
                <a:prstGeom prst="rect">
                  <a:avLst/>
                </a:prstGeom>
                <a:blipFill>
                  <a:blip r:embed="rId8"/>
                  <a:stretch>
                    <a:fillRect l="-2413" b="-108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/>
                <p:cNvSpPr/>
                <p:nvPr/>
              </p:nvSpPr>
              <p:spPr>
                <a:xfrm>
                  <a:off x="1529162" y="4144594"/>
                  <a:ext cx="593432" cy="61696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sz="2400" dirty="0">
                      <a:latin typeface="Comic Sans MS" panose="030F0702030302020204" pitchFamily="66" charset="0"/>
                    </a:rPr>
                    <a:t>2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a14:m>
                  <a:endParaRPr lang="en-US" sz="2400" dirty="0">
                    <a:latin typeface="Comic Sans MS" panose="030F0702030302020204" pitchFamily="66" charset="0"/>
                  </a:endParaRPr>
                </a:p>
              </p:txBody>
            </p:sp>
          </mc:Choice>
          <mc:Fallback xmlns="">
            <p:sp>
              <p:nvSpPr>
                <p:cNvPr id="11" name="Rectangle 1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9162" y="4144594"/>
                  <a:ext cx="593432" cy="616964"/>
                </a:xfrm>
                <a:prstGeom prst="rect">
                  <a:avLst/>
                </a:prstGeom>
                <a:blipFill>
                  <a:blip r:embed="rId9"/>
                  <a:stretch>
                    <a:fillRect l="-15464" b="-990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/>
                <p:cNvSpPr/>
                <p:nvPr/>
              </p:nvSpPr>
              <p:spPr>
                <a:xfrm>
                  <a:off x="2190466" y="4133091"/>
                  <a:ext cx="593432" cy="61696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sz="2400" dirty="0">
                      <a:latin typeface="Comic Sans MS" panose="030F0702030302020204" pitchFamily="66" charset="0"/>
                    </a:rPr>
                    <a:t>2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a14:m>
                  <a:endParaRPr lang="en-US" sz="2400" dirty="0">
                    <a:latin typeface="Comic Sans MS" panose="030F0702030302020204" pitchFamily="66" charset="0"/>
                  </a:endParaRPr>
                </a:p>
              </p:txBody>
            </p:sp>
          </mc:Choice>
          <mc:Fallback xmlns="">
            <p:sp>
              <p:nvSpPr>
                <p:cNvPr id="12" name="Rectangle 1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0466" y="4133091"/>
                  <a:ext cx="593432" cy="616964"/>
                </a:xfrm>
                <a:prstGeom prst="rect">
                  <a:avLst/>
                </a:prstGeom>
                <a:blipFill>
                  <a:blip r:embed="rId10"/>
                  <a:stretch>
                    <a:fillRect l="-15306" b="-990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" name="TextBox 12"/>
          <p:cNvSpPr txBox="1"/>
          <p:nvPr/>
        </p:nvSpPr>
        <p:spPr>
          <a:xfrm>
            <a:off x="170598" y="3781272"/>
            <a:ext cx="40397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mic Sans MS" panose="030F0702030302020204" pitchFamily="66" charset="0"/>
              </a:rPr>
              <a:t>b) 0.45, 0.6, 0.75</a:t>
            </a:r>
          </a:p>
          <a:p>
            <a:endParaRPr lang="en-US" sz="2400" dirty="0">
              <a:latin typeface="Comic Sans MS" panose="030F0702030302020204" pitchFamily="66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70598" y="3062096"/>
            <a:ext cx="40397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mic Sans MS" panose="030F0702030302020204" pitchFamily="66" charset="0"/>
              </a:rPr>
              <a:t>a) ½ ,  1 ,  1 ½ </a:t>
            </a:r>
          </a:p>
          <a:p>
            <a:endParaRPr lang="en-US" sz="2400" dirty="0">
              <a:latin typeface="Comic Sans MS" panose="030F0702030302020204" pitchFamily="66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70598" y="5292979"/>
            <a:ext cx="40397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mic Sans MS" panose="030F0702030302020204" pitchFamily="66" charset="0"/>
              </a:rPr>
              <a:t>d)  0.34,  0.23</a:t>
            </a:r>
            <a:r>
              <a:rPr lang="en-US" sz="2400">
                <a:latin typeface="Comic Sans MS" panose="030F0702030302020204" pitchFamily="66" charset="0"/>
              </a:rPr>
              <a:t>,  0.11</a:t>
            </a:r>
            <a:endParaRPr lang="en-US" sz="2400" dirty="0">
              <a:latin typeface="Comic Sans MS" panose="030F0702030302020204" pitchFamily="66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476464" y="2117727"/>
            <a:ext cx="495413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mic Sans MS" panose="030F0702030302020204" pitchFamily="66" charset="0"/>
              </a:rPr>
              <a:t>All the sequences below are linear. Write the missing numbers:</a:t>
            </a:r>
          </a:p>
          <a:p>
            <a:endParaRPr lang="en-US" sz="2400" dirty="0">
              <a:latin typeface="Comic Sans MS" panose="030F0702030302020204" pitchFamily="66" charset="0"/>
            </a:endParaRPr>
          </a:p>
          <a:p>
            <a:pPr marL="342900" indent="-342900">
              <a:buAutoNum type="alphaLcParenR" startAt="5"/>
            </a:pPr>
            <a:r>
              <a:rPr lang="en-US" sz="2400" dirty="0">
                <a:latin typeface="Comic Sans MS" panose="030F0702030302020204" pitchFamily="66" charset="0"/>
              </a:rPr>
              <a:t>2, … , …, …, 14</a:t>
            </a:r>
          </a:p>
          <a:p>
            <a:pPr marL="342900" indent="-342900">
              <a:buAutoNum type="alphaLcParenR" startAt="5"/>
            </a:pPr>
            <a:endParaRPr lang="en-US" sz="2400" dirty="0">
              <a:latin typeface="Comic Sans MS" panose="030F0702030302020204" pitchFamily="66" charset="0"/>
            </a:endParaRPr>
          </a:p>
          <a:p>
            <a:pPr marL="342900" indent="-342900">
              <a:buAutoNum type="alphaLcParenR" startAt="5"/>
            </a:pPr>
            <a:r>
              <a:rPr lang="en-US" sz="2400" dirty="0">
                <a:latin typeface="Comic Sans MS" panose="030F0702030302020204" pitchFamily="66" charset="0"/>
              </a:rPr>
              <a:t>5, … , … , … , 25</a:t>
            </a:r>
          </a:p>
          <a:p>
            <a:pPr marL="342900" indent="-342900">
              <a:buAutoNum type="alphaLcParenR" startAt="5"/>
            </a:pPr>
            <a:endParaRPr lang="en-US" sz="2400" dirty="0">
              <a:latin typeface="Comic Sans MS" panose="030F0702030302020204" pitchFamily="66" charset="0"/>
            </a:endParaRPr>
          </a:p>
          <a:p>
            <a:pPr marL="342900" indent="-342900">
              <a:buAutoNum type="alphaLcParenR" startAt="5"/>
            </a:pPr>
            <a:r>
              <a:rPr lang="en-US" sz="2400" dirty="0">
                <a:latin typeface="Comic Sans MS" panose="030F0702030302020204" pitchFamily="66" charset="0"/>
              </a:rPr>
              <a:t>14, … , … , … , 6</a:t>
            </a:r>
          </a:p>
          <a:p>
            <a:pPr marL="342900" indent="-342900">
              <a:buAutoNum type="alphaLcParenR" startAt="5"/>
            </a:pPr>
            <a:endParaRPr lang="en-US" sz="2400" dirty="0">
              <a:latin typeface="Comic Sans MS" panose="030F0702030302020204" pitchFamily="66" charset="0"/>
            </a:endParaRPr>
          </a:p>
          <a:p>
            <a:pPr marL="342900" indent="-342900">
              <a:buAutoNum type="alphaLcParenR" startAt="5"/>
            </a:pPr>
            <a:r>
              <a:rPr lang="en-US" sz="2400" dirty="0">
                <a:latin typeface="Comic Sans MS" panose="030F0702030302020204" pitchFamily="66" charset="0"/>
              </a:rPr>
              <a:t>18, … , … , … , - 10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25886" y="3062096"/>
            <a:ext cx="2784143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Write your own sequences using decimals or fractions.</a:t>
            </a:r>
          </a:p>
          <a:p>
            <a:endParaRPr lang="en-US" dirty="0">
              <a:latin typeface="Comic Sans MS" panose="030F0702030302020204" pitchFamily="66" charset="0"/>
            </a:endParaRPr>
          </a:p>
          <a:p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B03B32A-A476-44BB-91E4-81A13AC84D0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78111" y="852270"/>
            <a:ext cx="653855" cy="125882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9DBDC90-F318-49F9-859F-B7099255404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276" y="798330"/>
            <a:ext cx="653855" cy="136670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2DF7960-876E-4809-B91E-7A0D1DF0742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4035" y="1377705"/>
            <a:ext cx="653855" cy="1480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799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Comic Sans MS" panose="030F0702030302020204" pitchFamily="66" charset="0"/>
              </a:rPr>
              <a:t>I can count on and back in numbers of constant size.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fill in the missing numbers of sequences.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write my own sequences using fractions and decimals and they extend beyond zero.</a:t>
            </a:r>
          </a:p>
        </p:txBody>
      </p:sp>
      <p:sp>
        <p:nvSpPr>
          <p:cNvPr id="12" name="Subtitle 2"/>
          <p:cNvSpPr txBox="1">
            <a:spLocks/>
          </p:cNvSpPr>
          <p:nvPr/>
        </p:nvSpPr>
        <p:spPr>
          <a:xfrm>
            <a:off x="0" y="200665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Count on and count back in numbers of constant size, including fractions and decimals, and extend beyond zero to give negative numbers.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D5A0640-728F-472F-9CAE-7316F9DCCB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313232"/>
            <a:ext cx="1102890" cy="21233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FD075C7-D499-45CC-9BC6-8B7D06BE2E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1053553"/>
            <a:ext cx="1102890" cy="23052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B5CF1FD-8D6C-468A-99C5-F5148B60B4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940088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6014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45160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Comic Sans MS" panose="030F0702030302020204" pitchFamily="66" charset="0"/>
              </a:rPr>
              <a:t>Plenary</a:t>
            </a:r>
            <a:r>
              <a:rPr lang="en-US" sz="2800" b="1" dirty="0">
                <a:latin typeface="Comic Sans MS" panose="030F0702030302020204" pitchFamily="66" charset="0"/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530" y="1705294"/>
            <a:ext cx="11452470" cy="344741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latin typeface="Comic Sans MS" panose="030F0702030302020204" pitchFamily="66" charset="0"/>
              </a:rPr>
              <a:t>Mr. Jon has created a linear sequence.  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dirty="0">
                <a:latin typeface="Comic Sans MS" panose="030F0702030302020204" pitchFamily="66" charset="0"/>
              </a:rPr>
              <a:t>7, ____, ____, _____, - 8 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dirty="0">
                <a:latin typeface="Comic Sans MS" panose="030F0702030302020204" pitchFamily="66" charset="0"/>
              </a:rPr>
              <a:t>He says: </a:t>
            </a:r>
          </a:p>
          <a:p>
            <a:pPr marL="0" indent="0">
              <a:buNone/>
            </a:pPr>
            <a:r>
              <a:rPr lang="en-US" dirty="0">
                <a:latin typeface="Comic Sans MS" panose="030F0702030302020204" pitchFamily="66" charset="0"/>
              </a:rPr>
              <a:t>“To find the missing numbers, I need to find the difference between 7 and -8, then divide by the number of jumps.  The term to term rule is -3. ”</a:t>
            </a:r>
          </a:p>
          <a:p>
            <a:pPr marL="0" indent="0">
              <a:buNone/>
            </a:pPr>
            <a:endParaRPr lang="en-US" sz="32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dirty="0">
                <a:latin typeface="Comic Sans MS" panose="030F0702030302020204" pitchFamily="66" charset="0"/>
              </a:rPr>
              <a:t>Is he correct?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0" y="200665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Count on and count back in numbers of constant size, including fractions and decimals, and extend beyond zero to give negative numbers.</a:t>
            </a:r>
          </a:p>
          <a:p>
            <a:pPr marL="0" indent="0">
              <a:buNone/>
            </a:pPr>
            <a:endParaRPr lang="en-US" sz="20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319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8773</TotalTime>
  <Words>805</Words>
  <Application>Microsoft Office PowerPoint</Application>
  <PresentationFormat>Widescreen</PresentationFormat>
  <Paragraphs>73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Comic Sans MS</vt:lpstr>
      <vt:lpstr>Office Theme</vt:lpstr>
      <vt:lpstr>Maths </vt:lpstr>
      <vt:lpstr>PowerPoint Presentation</vt:lpstr>
      <vt:lpstr>Retrieval Practice – Which of these numbers is the odd one out? Why?</vt:lpstr>
      <vt:lpstr>Starter – What do you notice about this pattern?</vt:lpstr>
      <vt:lpstr>How could we continue the sequence?</vt:lpstr>
      <vt:lpstr>We will look at term to term and position to term rules more next lesson.</vt:lpstr>
      <vt:lpstr>You need to be able to count on and back in fractions…</vt:lpstr>
      <vt:lpstr>You need to be able to count on and back in decimals…</vt:lpstr>
      <vt:lpstr>You need to be able to count on and back past zero to give negative numbers…</vt:lpstr>
      <vt:lpstr>What happens if we are given the first and last term of the sequence?   How can we find the missing numbers?</vt:lpstr>
      <vt:lpstr>PowerPoint Presentation</vt:lpstr>
      <vt:lpstr>PowerPoint Presentation</vt:lpstr>
      <vt:lpstr>Plenary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Maths</dc:title>
  <dc:creator>Jonathan Michael Holliday (VSC-KTiH-MB)</dc:creator>
  <cp:lastModifiedBy>Colette Aisling Meade (VSC-KTiH-MB)</cp:lastModifiedBy>
  <cp:revision>45</cp:revision>
  <dcterms:created xsi:type="dcterms:W3CDTF">2023-02-13T00:23:28Z</dcterms:created>
  <dcterms:modified xsi:type="dcterms:W3CDTF">2026-08-27T00:14:32Z</dcterms:modified>
</cp:coreProperties>
</file>
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0" r:id="rId10"/>
    <p:sldId id="277" r:id="rId11"/>
    <p:sldId id="265" r:id="rId12"/>
    <p:sldId id="266" r:id="rId13"/>
    <p:sldId id="267" r:id="rId14"/>
    <p:sldId id="278" r:id="rId15"/>
    <p:sldId id="279" r:id="rId16"/>
    <p:sldId id="268" r:id="rId17"/>
    <p:sldId id="269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AE7B3-4E03-498A-82CF-07B9D8D5AE7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2CFD-6965-479B-966E-45EC85962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40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AE7B3-4E03-498A-82CF-07B9D8D5AE7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2CFD-6965-479B-966E-45EC85962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99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AE7B3-4E03-498A-82CF-07B9D8D5AE7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2CFD-6965-479B-966E-45EC85962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847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AE7B3-4E03-498A-82CF-07B9D8D5AE7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2CFD-6965-479B-966E-45EC85962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5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AE7B3-4E03-498A-82CF-07B9D8D5AE7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2CFD-6965-479B-966E-45EC85962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069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AE7B3-4E03-498A-82CF-07B9D8D5AE7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2CFD-6965-479B-966E-45EC85962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021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AE7B3-4E03-498A-82CF-07B9D8D5AE7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2CFD-6965-479B-966E-45EC85962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54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AE7B3-4E03-498A-82CF-07B9D8D5AE7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2CFD-6965-479B-966E-45EC85962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908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AE7B3-4E03-498A-82CF-07B9D8D5AE7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2CFD-6965-479B-966E-45EC85962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624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AE7B3-4E03-498A-82CF-07B9D8D5AE7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2CFD-6965-479B-966E-45EC85962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602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AE7B3-4E03-498A-82CF-07B9D8D5AE7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22CFD-6965-479B-966E-45EC85962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672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AE7B3-4E03-498A-82CF-07B9D8D5AE7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522CFD-6965-479B-966E-45EC85962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105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9600" dirty="0" err="1">
                <a:latin typeface="Comic Sans MS" panose="030F0702030302020204" pitchFamily="66" charset="0"/>
              </a:rPr>
              <a:t>Maths</a:t>
            </a:r>
            <a:r>
              <a:rPr lang="en-US" sz="9600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7418" y="1568620"/>
            <a:ext cx="10588079" cy="4061472"/>
          </a:xfrm>
        </p:spPr>
        <p:txBody>
          <a:bodyPr>
            <a:normAutofit/>
          </a:bodyPr>
          <a:lstStyle/>
          <a:p>
            <a:pPr algn="l"/>
            <a:r>
              <a:rPr lang="en-US" sz="5400" b="1" dirty="0">
                <a:latin typeface="Comic Sans MS" panose="030F0702030302020204" pitchFamily="66" charset="0"/>
              </a:rPr>
              <a:t>04.09.2026</a:t>
            </a:r>
          </a:p>
          <a:p>
            <a:pPr algn="l"/>
            <a:endParaRPr lang="en-US" sz="5400" b="1" dirty="0">
              <a:latin typeface="Comic Sans MS" panose="030F0702030302020204" pitchFamily="66" charset="0"/>
            </a:endParaRPr>
          </a:p>
          <a:p>
            <a:pPr algn="l"/>
            <a:r>
              <a:rPr lang="en-US" sz="5400" b="1" dirty="0">
                <a:latin typeface="Comic Sans MS" panose="030F0702030302020204" pitchFamily="66" charset="0"/>
              </a:rPr>
              <a:t>WALT:</a:t>
            </a:r>
          </a:p>
          <a:p>
            <a:pPr algn="l"/>
            <a:r>
              <a:rPr lang="en-US" sz="4000" b="1" dirty="0">
                <a:latin typeface="Comic Sans MS" panose="030F0702030302020204" pitchFamily="66" charset="0"/>
              </a:rPr>
              <a:t>6Ni.06 – </a:t>
            </a:r>
            <a:r>
              <a:rPr lang="en-US" sz="4000" dirty="0">
                <a:latin typeface="Comic Sans MS" panose="030F0702030302020204" pitchFamily="66" charset="0"/>
              </a:rPr>
              <a:t>Understand common multiples and common factors.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2 – Numbers and Sequences</a:t>
            </a:r>
          </a:p>
        </p:txBody>
      </p:sp>
    </p:spTree>
    <p:extLst>
      <p:ext uri="{BB962C8B-B14F-4D97-AF65-F5344CB8AC3E}">
        <p14:creationId xmlns:p14="http://schemas.microsoft.com/office/powerpoint/2010/main" val="2220303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omic Sans MS" panose="030F0702030302020204" pitchFamily="66" charset="0"/>
              </a:rPr>
              <a:t>I can find common multiples of numbers using a 100 square.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a Venn diagram to classify numbers and find common multiples and common factors.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answer word questions about factors and multiples.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common multiples and common factors.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F24C0-B6FC-49CE-8750-2FD8A2B398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210636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7C08F1-DB1D-40BB-854A-FEA1F63710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950957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B043D7-0114-48E6-9279-7230172584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837492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083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094" y="311147"/>
            <a:ext cx="6085819" cy="1325563"/>
          </a:xfrm>
        </p:spPr>
        <p:txBody>
          <a:bodyPr>
            <a:no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Retrieval Practice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20525" y="0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common multiples and common factors.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19516" b="30935"/>
          <a:stretch/>
        </p:blipFill>
        <p:spPr>
          <a:xfrm>
            <a:off x="2002309" y="1187355"/>
            <a:ext cx="10203339" cy="567064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693625" y="1636710"/>
            <a:ext cx="2565779" cy="4377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966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1841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Starter -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017837"/>
            <a:ext cx="10515600" cy="3840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Write all the factors of 12.</a:t>
            </a:r>
          </a:p>
          <a:p>
            <a:pPr marL="0" indent="0">
              <a:buNone/>
            </a:pPr>
            <a:endParaRPr lang="en-US" sz="40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Write all the multiples of 12.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common multiples and common factors.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398485" y="5869894"/>
            <a:ext cx="10515600" cy="3840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400" dirty="0">
                <a:latin typeface="Comic Sans MS" panose="030F0702030302020204" pitchFamily="66" charset="0"/>
              </a:rPr>
              <a:t>Can you do it? Why / why not?</a:t>
            </a:r>
          </a:p>
        </p:txBody>
      </p:sp>
      <p:pic>
        <p:nvPicPr>
          <p:cNvPr id="1026" name="Picture 2" descr="Fixit Maths - Finding all facto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061" y="1281841"/>
            <a:ext cx="3745739" cy="2441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835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8772" y="953455"/>
            <a:ext cx="10515600" cy="1325563"/>
          </a:xfrm>
        </p:spPr>
        <p:txBody>
          <a:bodyPr>
            <a:noAutofit/>
          </a:bodyPr>
          <a:lstStyle/>
          <a:p>
            <a:r>
              <a:rPr lang="en-US" sz="4800" dirty="0">
                <a:latin typeface="Comic Sans MS" panose="030F0702030302020204" pitchFamily="66" charset="0"/>
              </a:rPr>
              <a:t>We are going to be part of a “mathematical orchestra”.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common multiples and common factors.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2050" name="Picture 2" descr="Concert Violin GIF by Valparaiso University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2508" y="2466293"/>
            <a:ext cx="7427950" cy="4178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1952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184" y="694580"/>
            <a:ext cx="11353800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I will be the conductor and count the beat.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742" y="1904028"/>
            <a:ext cx="10729685" cy="459837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000" b="1" dirty="0">
                <a:latin typeface="Comic Sans MS" panose="030F0702030302020204" pitchFamily="66" charset="0"/>
              </a:rPr>
              <a:t>Table 1 </a:t>
            </a:r>
            <a:r>
              <a:rPr lang="en-US" sz="3000" dirty="0">
                <a:latin typeface="Comic Sans MS" panose="030F0702030302020204" pitchFamily="66" charset="0"/>
              </a:rPr>
              <a:t>– Stand up whenever I say a multiple of 1.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000" b="1" dirty="0">
                <a:latin typeface="Comic Sans MS" panose="030F0702030302020204" pitchFamily="66" charset="0"/>
              </a:rPr>
              <a:t>Table 2 </a:t>
            </a:r>
            <a:r>
              <a:rPr lang="en-US" sz="3000" dirty="0">
                <a:latin typeface="Comic Sans MS" panose="030F0702030302020204" pitchFamily="66" charset="0"/>
              </a:rPr>
              <a:t>- Stand up whenever I say a multiple of 2.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000" b="1" dirty="0">
                <a:latin typeface="Comic Sans MS" panose="030F0702030302020204" pitchFamily="66" charset="0"/>
              </a:rPr>
              <a:t>Table 3 </a:t>
            </a:r>
            <a:r>
              <a:rPr lang="en-US" sz="3000" dirty="0">
                <a:latin typeface="Comic Sans MS" panose="030F0702030302020204" pitchFamily="66" charset="0"/>
              </a:rPr>
              <a:t>- Stand up whenever I say a multiple of 3.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000" b="1" dirty="0">
                <a:latin typeface="Comic Sans MS" panose="030F0702030302020204" pitchFamily="66" charset="0"/>
              </a:rPr>
              <a:t>Table 4 </a:t>
            </a:r>
            <a:r>
              <a:rPr lang="en-US" sz="3000" dirty="0">
                <a:latin typeface="Comic Sans MS" panose="030F0702030302020204" pitchFamily="66" charset="0"/>
              </a:rPr>
              <a:t>- Stand up whenever I say a multiple of 4.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000" b="1" dirty="0">
                <a:latin typeface="Comic Sans MS" panose="030F0702030302020204" pitchFamily="66" charset="0"/>
              </a:rPr>
              <a:t>Table 5 </a:t>
            </a:r>
            <a:r>
              <a:rPr lang="en-US" sz="3000" dirty="0">
                <a:latin typeface="Comic Sans MS" panose="030F0702030302020204" pitchFamily="66" charset="0"/>
              </a:rPr>
              <a:t>- Stand up whenever I say a multiple of 5.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000" b="1" dirty="0">
                <a:latin typeface="Comic Sans MS" panose="030F0702030302020204" pitchFamily="66" charset="0"/>
              </a:rPr>
              <a:t>Table 6 </a:t>
            </a:r>
            <a:r>
              <a:rPr lang="en-US" sz="3000" dirty="0">
                <a:latin typeface="Comic Sans MS" panose="030F0702030302020204" pitchFamily="66" charset="0"/>
              </a:rPr>
              <a:t>- Stand up whenever I say a multiple of 6.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common multiples and common factors.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63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063" y="1501253"/>
            <a:ext cx="10515600" cy="12828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How many tables will stand up when I say 24?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common multiples and common factors.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36063" y="3222919"/>
            <a:ext cx="10515600" cy="1282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>
                <a:latin typeface="Comic Sans MS" panose="030F0702030302020204" pitchFamily="66" charset="0"/>
              </a:rPr>
              <a:t>How do you know?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3893" y="5513695"/>
            <a:ext cx="91576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What is the first number where all 6 tables will stand up? How do you know?</a:t>
            </a:r>
          </a:p>
        </p:txBody>
      </p:sp>
      <p:pic>
        <p:nvPicPr>
          <p:cNvPr id="1026" name="Picture 2" descr="4,374 Brain Workout Royalty-Free Images, Stock Photos &amp; Pictures |  Shutterstoc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8" b="92857" l="10000" r="90000">
                        <a14:foregroundMark x1="53167" y1="87327" x2="58833" y2="86175"/>
                        <a14:foregroundMark x1="43167" y1="84562" x2="44500" y2="854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938" y="4975369"/>
            <a:ext cx="2451147" cy="177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6487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742" y="871408"/>
            <a:ext cx="11776936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omic Sans MS" panose="030F0702030302020204" pitchFamily="66" charset="0"/>
              </a:rPr>
              <a:t>The activity we have just done demonstrated common multiples and common factors.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742" y="2470245"/>
            <a:ext cx="11298570" cy="40670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Common Multiples </a:t>
            </a:r>
            <a:r>
              <a:rPr lang="en-US" sz="3200" dirty="0">
                <a:latin typeface="Comic Sans MS" panose="030F0702030302020204" pitchFamily="66" charset="0"/>
              </a:rPr>
              <a:t>– Multiples that are shared by more than one number. </a:t>
            </a:r>
          </a:p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For example 10 is a common multiple of both 2 and 5.</a:t>
            </a:r>
          </a:p>
          <a:p>
            <a:pPr marL="0" indent="0">
              <a:buNone/>
            </a:pPr>
            <a:endParaRPr lang="en-US" sz="32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Common Factors </a:t>
            </a:r>
            <a:r>
              <a:rPr lang="en-US" sz="3200" dirty="0">
                <a:latin typeface="Comic Sans MS" panose="030F0702030302020204" pitchFamily="66" charset="0"/>
              </a:rPr>
              <a:t>– Factors that are shared by more than one number. </a:t>
            </a:r>
          </a:p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For example 10 is a common factor of both 20 and 30.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common multiples and common factors.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456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56126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We can use a 100 square to help us find common multiples.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24051" y="245430"/>
            <a:ext cx="11494242" cy="61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common multiples and common factors.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0989" y="2234625"/>
            <a:ext cx="439457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3200" dirty="0">
                <a:latin typeface="Comic Sans MS" panose="030F0702030302020204" pitchFamily="66" charset="0"/>
              </a:rPr>
            </a:br>
            <a:r>
              <a:rPr lang="en-US" sz="3200" dirty="0">
                <a:latin typeface="Comic Sans MS" panose="030F0702030302020204" pitchFamily="66" charset="0"/>
              </a:rPr>
              <a:t>Use one </a:t>
            </a:r>
            <a:r>
              <a:rPr lang="en-US" sz="3200" dirty="0" err="1">
                <a:latin typeface="Comic Sans MS" panose="030F0702030302020204" pitchFamily="66" charset="0"/>
              </a:rPr>
              <a:t>colour</a:t>
            </a:r>
            <a:r>
              <a:rPr lang="en-US" sz="3200" dirty="0">
                <a:latin typeface="Comic Sans MS" panose="030F0702030302020204" pitchFamily="66" charset="0"/>
              </a:rPr>
              <a:t> to circle all the multiples of 5.</a:t>
            </a:r>
          </a:p>
        </p:txBody>
      </p:sp>
      <p:sp>
        <p:nvSpPr>
          <p:cNvPr id="7" name="Oval 6"/>
          <p:cNvSpPr/>
          <p:nvPr/>
        </p:nvSpPr>
        <p:spPr>
          <a:xfrm>
            <a:off x="7576403" y="1837193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040203" y="1880788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7576402" y="2337988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040203" y="2360213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7576401" y="2862396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040202" y="2862396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576401" y="3321977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040202" y="3321977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576401" y="3822772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0017975" y="3822798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7582749" y="4282379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0040202" y="4305853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7576401" y="4806787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0017975" y="4783174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576401" y="5266368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0040201" y="5266591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7576401" y="5767163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0017974" y="5762014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7576401" y="6254009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10027499" y="6256916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8304059" y="2195011"/>
            <a:ext cx="221397" cy="1296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6322859" y="2683171"/>
            <a:ext cx="221397" cy="1296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9256559" y="2679336"/>
            <a:ext cx="221397" cy="1296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7298435" y="3142396"/>
            <a:ext cx="221397" cy="1296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248896" y="3163372"/>
            <a:ext cx="221397" cy="1296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8304058" y="3659201"/>
            <a:ext cx="221397" cy="1296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6322859" y="4144902"/>
            <a:ext cx="221397" cy="1296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9256559" y="4139365"/>
            <a:ext cx="221397" cy="1296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7342256" y="4585786"/>
            <a:ext cx="221397" cy="1296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10261598" y="4646778"/>
            <a:ext cx="221397" cy="1296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8304057" y="5108680"/>
            <a:ext cx="221397" cy="1296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6386511" y="5584778"/>
            <a:ext cx="221397" cy="1296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9256559" y="5584778"/>
            <a:ext cx="221397" cy="1296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7316713" y="6055292"/>
            <a:ext cx="221397" cy="1296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10239371" y="6075801"/>
            <a:ext cx="221397" cy="1296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8290502" y="6552395"/>
            <a:ext cx="221397" cy="1296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34F3F2-5015-4D9D-A809-A5C2CCFDFEEF}"/>
              </a:ext>
            </a:extLst>
          </p:cNvPr>
          <p:cNvSpPr txBox="1"/>
          <p:nvPr/>
        </p:nvSpPr>
        <p:spPr>
          <a:xfrm>
            <a:off x="620573" y="4191906"/>
            <a:ext cx="439457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3200" dirty="0">
                <a:latin typeface="Comic Sans MS" panose="030F0702030302020204" pitchFamily="66" charset="0"/>
              </a:rPr>
            </a:br>
            <a:r>
              <a:rPr lang="en-US" sz="3200" dirty="0">
                <a:latin typeface="Comic Sans MS" panose="030F0702030302020204" pitchFamily="66" charset="0"/>
              </a:rPr>
              <a:t>Use a different </a:t>
            </a:r>
            <a:r>
              <a:rPr lang="en-US" sz="3200" dirty="0" err="1">
                <a:latin typeface="Comic Sans MS" panose="030F0702030302020204" pitchFamily="66" charset="0"/>
              </a:rPr>
              <a:t>colour</a:t>
            </a:r>
            <a:r>
              <a:rPr lang="en-US" sz="3200" dirty="0">
                <a:latin typeface="Comic Sans MS" panose="030F0702030302020204" pitchFamily="66" charset="0"/>
              </a:rPr>
              <a:t> to circle all the multiples of 6.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5582" y="1816502"/>
            <a:ext cx="4924353" cy="492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744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56126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We can use a 100 square to help us find common multiples.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24051" y="245430"/>
            <a:ext cx="11494242" cy="61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common multiples and common factors.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5582" y="1816502"/>
            <a:ext cx="4924353" cy="4924353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7576403" y="1837193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040203" y="1880788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7576402" y="2337988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040203" y="2360213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7576401" y="2862396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040202" y="2862396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576401" y="3321977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040202" y="3321977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576401" y="3822772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0017975" y="3822798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7582749" y="4282379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0040202" y="4305853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7576401" y="4806787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0017975" y="4783174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576401" y="5266368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0040201" y="5266591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7576401" y="5767163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0017974" y="5762014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7576401" y="6254009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10027499" y="6256916"/>
            <a:ext cx="221397" cy="1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8304059" y="2195011"/>
            <a:ext cx="221397" cy="1296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6322859" y="2683171"/>
            <a:ext cx="221397" cy="1296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9256559" y="2679336"/>
            <a:ext cx="221397" cy="1296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7298435" y="3142396"/>
            <a:ext cx="221397" cy="1296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248896" y="3163372"/>
            <a:ext cx="221397" cy="1296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8304058" y="3659201"/>
            <a:ext cx="221397" cy="1296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6322859" y="4144902"/>
            <a:ext cx="221397" cy="1296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9256559" y="4139365"/>
            <a:ext cx="221397" cy="1296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7342256" y="4585786"/>
            <a:ext cx="221397" cy="1296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10261598" y="4646778"/>
            <a:ext cx="221397" cy="1296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8304057" y="5108680"/>
            <a:ext cx="221397" cy="1296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6386511" y="5584778"/>
            <a:ext cx="221397" cy="1296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9256559" y="5584778"/>
            <a:ext cx="221397" cy="1296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7316713" y="6055292"/>
            <a:ext cx="221397" cy="1296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10239371" y="6075801"/>
            <a:ext cx="221397" cy="1296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8290502" y="6552395"/>
            <a:ext cx="221397" cy="1296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1A1D647-A95B-4FD5-B711-787E8BB526DC}"/>
              </a:ext>
            </a:extLst>
          </p:cNvPr>
          <p:cNvSpPr txBox="1"/>
          <p:nvPr/>
        </p:nvSpPr>
        <p:spPr>
          <a:xfrm>
            <a:off x="487469" y="3201460"/>
            <a:ext cx="439457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Let’s find the common multiples of </a:t>
            </a:r>
            <a:r>
              <a:rPr lang="en-US" sz="3200" b="1" dirty="0">
                <a:latin typeface="Comic Sans MS" panose="030F0702030302020204" pitchFamily="66" charset="0"/>
              </a:rPr>
              <a:t>5</a:t>
            </a:r>
            <a:r>
              <a:rPr lang="en-US" sz="3200" dirty="0">
                <a:latin typeface="Comic Sans MS" panose="030F0702030302020204" pitchFamily="66" charset="0"/>
              </a:rPr>
              <a:t> and </a:t>
            </a:r>
            <a:r>
              <a:rPr lang="en-US" sz="3200" b="1" dirty="0">
                <a:latin typeface="Comic Sans MS" panose="030F0702030302020204" pitchFamily="66" charset="0"/>
              </a:rPr>
              <a:t>6</a:t>
            </a:r>
            <a:r>
              <a:rPr lang="en-US" sz="3200" dirty="0"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2008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302" y="577721"/>
            <a:ext cx="10515600" cy="1325563"/>
          </a:xfrm>
        </p:spPr>
        <p:txBody>
          <a:bodyPr/>
          <a:lstStyle/>
          <a:p>
            <a:r>
              <a:rPr lang="en-US" sz="4000" b="1" dirty="0">
                <a:latin typeface="Comic Sans MS" panose="030F0702030302020204" pitchFamily="66" charset="0"/>
              </a:rPr>
              <a:t>Check your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302" y="1997342"/>
            <a:ext cx="10515600" cy="4321571"/>
          </a:xfrm>
        </p:spPr>
        <p:txBody>
          <a:bodyPr>
            <a:normAutofit/>
          </a:bodyPr>
          <a:lstStyle/>
          <a:p>
            <a:pPr marL="514350" indent="-514350">
              <a:buAutoNum type="arabicParenR"/>
            </a:pPr>
            <a:r>
              <a:rPr lang="en-US" dirty="0">
                <a:latin typeface="Comic Sans MS" panose="030F0702030302020204" pitchFamily="66" charset="0"/>
              </a:rPr>
              <a:t>What are the common factors of 6 and 15?</a:t>
            </a:r>
          </a:p>
          <a:p>
            <a:pPr marL="514350" indent="-514350">
              <a:buAutoNum type="arabicParenR"/>
            </a:pPr>
            <a:r>
              <a:rPr lang="en-US" dirty="0">
                <a:latin typeface="Comic Sans MS" panose="030F0702030302020204" pitchFamily="66" charset="0"/>
              </a:rPr>
              <a:t>Write a number is a common multiple of 4 and 7?</a:t>
            </a:r>
          </a:p>
          <a:p>
            <a:pPr marL="514350" indent="-514350">
              <a:buAutoNum type="arabicParenR"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3) Ms. Colette and Ms. Anh both enjoy playing basketball. If they both to basketball training on the 1</a:t>
            </a:r>
            <a:r>
              <a:rPr lang="en-US" baseline="30000" dirty="0">
                <a:latin typeface="Comic Sans MS" panose="030F0702030302020204" pitchFamily="66" charset="0"/>
              </a:rPr>
              <a:t>st</a:t>
            </a:r>
            <a:r>
              <a:rPr lang="en-US" dirty="0">
                <a:latin typeface="Comic Sans MS" panose="030F0702030302020204" pitchFamily="66" charset="0"/>
              </a:rPr>
              <a:t> of June and Ms. Colette goes once every </a:t>
            </a:r>
            <a:r>
              <a:rPr lang="en-US" b="1" dirty="0">
                <a:latin typeface="Comic Sans MS" panose="030F0702030302020204" pitchFamily="66" charset="0"/>
              </a:rPr>
              <a:t>3 days </a:t>
            </a:r>
            <a:r>
              <a:rPr lang="en-US" dirty="0">
                <a:latin typeface="Comic Sans MS" panose="030F0702030302020204" pitchFamily="66" charset="0"/>
              </a:rPr>
              <a:t>and Ms. Anh goes once every </a:t>
            </a:r>
            <a:r>
              <a:rPr lang="en-US" b="1" dirty="0">
                <a:latin typeface="Comic Sans MS" panose="030F0702030302020204" pitchFamily="66" charset="0"/>
              </a:rPr>
              <a:t>4 days</a:t>
            </a:r>
            <a:r>
              <a:rPr lang="en-US" dirty="0">
                <a:latin typeface="Comic Sans MS" panose="030F0702030302020204" pitchFamily="66" charset="0"/>
              </a:rPr>
              <a:t>. How many times will they play basketball on the same day in June in total?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common multiples and common factors.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2050" name="Picture 2" descr="Mini whiteboard – Why it's an essential learning tool - Teachwire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353" b="97059" l="9122" r="98649">
                        <a14:foregroundMark x1="44257" y1="57059" x2="67568" y2="39412"/>
                        <a14:foregroundMark x1="68581" y1="39412" x2="28378" y2="31765"/>
                        <a14:foregroundMark x1="28378" y1="31765" x2="30405" y2="74118"/>
                        <a14:foregroundMark x1="30405" y1="74706" x2="65541" y2="82353"/>
                        <a14:foregroundMark x1="66216" y1="80588" x2="79730" y2="25882"/>
                        <a14:foregroundMark x1="79730" y1="25294" x2="38851" y2="25294"/>
                        <a14:foregroundMark x1="27365" y1="20000" x2="21622" y2="70588"/>
                        <a14:foregroundMark x1="77703" y1="60000" x2="75338" y2="70000"/>
                        <a14:foregroundMark x1="82432" y1="35882" x2="87838" y2="1588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600" y="671779"/>
            <a:ext cx="2819400" cy="161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821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5467"/>
            <a:ext cx="10515600" cy="1325563"/>
          </a:xfrm>
        </p:spPr>
        <p:txBody>
          <a:bodyPr/>
          <a:lstStyle/>
          <a:p>
            <a:r>
              <a:rPr lang="en-US" b="1" dirty="0">
                <a:latin typeface="Comic Sans MS" panose="030F0702030302020204" pitchFamily="66" charset="0"/>
              </a:rPr>
              <a:t>Check your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302" y="2385088"/>
            <a:ext cx="10515600" cy="4152189"/>
          </a:xfrm>
        </p:spPr>
        <p:txBody>
          <a:bodyPr>
            <a:normAutofit/>
          </a:bodyPr>
          <a:lstStyle/>
          <a:p>
            <a:pPr marL="514350" indent="-514350">
              <a:buAutoNum type="arabicParenR"/>
            </a:pPr>
            <a:r>
              <a:rPr lang="en-US" sz="3200" dirty="0">
                <a:latin typeface="Comic Sans MS" panose="030F0702030302020204" pitchFamily="66" charset="0"/>
              </a:rPr>
              <a:t>What are the common factors of 6 and 15?</a:t>
            </a:r>
          </a:p>
          <a:p>
            <a:pPr marL="0" indent="0" algn="ctr">
              <a:buNone/>
            </a:pPr>
            <a:r>
              <a:rPr lang="en-US" sz="5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1, 3 </a:t>
            </a:r>
            <a:endParaRPr lang="en-US" sz="32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32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2) Write a number is a common multiple of 4 and 7?</a:t>
            </a:r>
          </a:p>
          <a:p>
            <a:pPr marL="0" indent="0">
              <a:buNone/>
            </a:pPr>
            <a:endParaRPr lang="en-US" sz="3200" dirty="0">
              <a:latin typeface="Comic Sans MS" panose="030F0702030302020204" pitchFamily="66" charset="0"/>
            </a:endParaRPr>
          </a:p>
          <a:p>
            <a:pPr marL="0" indent="0" algn="ctr">
              <a:buNone/>
            </a:pPr>
            <a:r>
              <a:rPr lang="en-US" sz="5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28, 56, 84, 112, 140…</a:t>
            </a:r>
          </a:p>
          <a:p>
            <a:pPr marL="0" indent="0">
              <a:buNone/>
            </a:pPr>
            <a:endParaRPr lang="en-US" sz="3200" dirty="0">
              <a:latin typeface="Comic Sans MS" panose="030F0702030302020204" pitchFamily="66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common multiples and common factors.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2050" name="Picture 2" descr="Mini whiteboard – Why it's an essential learning tool - Teachwire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353" b="97059" l="9122" r="98649">
                        <a14:foregroundMark x1="44257" y1="57059" x2="67568" y2="39412"/>
                        <a14:foregroundMark x1="68581" y1="39412" x2="28378" y2="31765"/>
                        <a14:foregroundMark x1="28378" y1="31765" x2="30405" y2="74118"/>
                        <a14:foregroundMark x1="30405" y1="74706" x2="65541" y2="82353"/>
                        <a14:foregroundMark x1="66216" y1="80588" x2="79730" y2="25882"/>
                        <a14:foregroundMark x1="79730" y1="25294" x2="38851" y2="25294"/>
                        <a14:foregroundMark x1="27365" y1="20000" x2="21622" y2="70588"/>
                        <a14:foregroundMark x1="77703" y1="60000" x2="75338" y2="70000"/>
                        <a14:foregroundMark x1="82432" y1="35882" x2="87838" y2="1588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600" y="671779"/>
            <a:ext cx="2819400" cy="161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838200" y="1628248"/>
            <a:ext cx="10515600" cy="4152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32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5666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common multiples and common factors.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3981" y="1352856"/>
            <a:ext cx="1117296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3) Ms. Colette and Ms. Anh both enjoy playing basketball. If they both go to basketball training on the 1</a:t>
            </a:r>
            <a:r>
              <a:rPr lang="en-US" sz="3200" baseline="30000" dirty="0">
                <a:latin typeface="Comic Sans MS" panose="030F0702030302020204" pitchFamily="66" charset="0"/>
              </a:rPr>
              <a:t>st</a:t>
            </a:r>
            <a:r>
              <a:rPr lang="en-US" sz="3200" dirty="0">
                <a:latin typeface="Comic Sans MS" panose="030F0702030302020204" pitchFamily="66" charset="0"/>
              </a:rPr>
              <a:t> of June and Ms. Colette goes once every </a:t>
            </a:r>
            <a:r>
              <a:rPr lang="en-US" sz="3200" b="1" dirty="0">
                <a:latin typeface="Comic Sans MS" panose="030F0702030302020204" pitchFamily="66" charset="0"/>
              </a:rPr>
              <a:t>3 days </a:t>
            </a:r>
            <a:r>
              <a:rPr lang="en-US" sz="3200" dirty="0">
                <a:latin typeface="Comic Sans MS" panose="030F0702030302020204" pitchFamily="66" charset="0"/>
              </a:rPr>
              <a:t>and Ms. Anh goes once every </a:t>
            </a:r>
            <a:r>
              <a:rPr lang="en-US" sz="3200" b="1" dirty="0">
                <a:latin typeface="Comic Sans MS" panose="030F0702030302020204" pitchFamily="66" charset="0"/>
              </a:rPr>
              <a:t>4 days</a:t>
            </a:r>
            <a:r>
              <a:rPr lang="en-US" sz="3200" dirty="0">
                <a:latin typeface="Comic Sans MS" panose="030F0702030302020204" pitchFamily="66" charset="0"/>
              </a:rPr>
              <a:t>. How many times will they play basketball on the same day in June in total?</a:t>
            </a:r>
            <a:endParaRPr lang="en-US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413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common multiples and common factors.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4098" name="Picture 2" descr="Free Printable June 2025 Calendars | Download Now!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69"/>
          <a:stretch/>
        </p:blipFill>
        <p:spPr bwMode="auto">
          <a:xfrm>
            <a:off x="2393579" y="1243851"/>
            <a:ext cx="7200568" cy="4952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/>
          <p:cNvSpPr/>
          <p:nvPr/>
        </p:nvSpPr>
        <p:spPr>
          <a:xfrm>
            <a:off x="253566" y="1433014"/>
            <a:ext cx="313899" cy="3138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1310" y="1433014"/>
            <a:ext cx="13784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Ms. Colette</a:t>
            </a:r>
          </a:p>
        </p:txBody>
      </p:sp>
      <p:sp>
        <p:nvSpPr>
          <p:cNvPr id="8" name="Oval 7"/>
          <p:cNvSpPr/>
          <p:nvPr/>
        </p:nvSpPr>
        <p:spPr>
          <a:xfrm>
            <a:off x="253566" y="2568053"/>
            <a:ext cx="313899" cy="31389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4402" y="2504051"/>
            <a:ext cx="1485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Ms. Anh</a:t>
            </a:r>
          </a:p>
        </p:txBody>
      </p:sp>
    </p:spTree>
    <p:extLst>
      <p:ext uri="{BB962C8B-B14F-4D97-AF65-F5344CB8AC3E}">
        <p14:creationId xmlns:p14="http://schemas.microsoft.com/office/powerpoint/2010/main" val="3769838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common multiples and common factors.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3981" y="1352856"/>
            <a:ext cx="1117296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3) Ms. Colette and Ms. Anh both enjoy playing basketball. If they both to basketball training on the 1</a:t>
            </a:r>
            <a:r>
              <a:rPr lang="en-US" sz="3200" baseline="30000" dirty="0">
                <a:latin typeface="Comic Sans MS" panose="030F0702030302020204" pitchFamily="66" charset="0"/>
              </a:rPr>
              <a:t>st</a:t>
            </a:r>
            <a:r>
              <a:rPr lang="en-US" sz="3200" dirty="0">
                <a:latin typeface="Comic Sans MS" panose="030F0702030302020204" pitchFamily="66" charset="0"/>
              </a:rPr>
              <a:t> of June and Ms. Colette goes once every </a:t>
            </a:r>
            <a:r>
              <a:rPr lang="en-US" sz="3200" b="1" dirty="0">
                <a:latin typeface="Comic Sans MS" panose="030F0702030302020204" pitchFamily="66" charset="0"/>
              </a:rPr>
              <a:t>3 days </a:t>
            </a:r>
            <a:r>
              <a:rPr lang="en-US" sz="3200" dirty="0">
                <a:latin typeface="Comic Sans MS" panose="030F0702030302020204" pitchFamily="66" charset="0"/>
              </a:rPr>
              <a:t>and Ms. Anh goes once every </a:t>
            </a:r>
            <a:r>
              <a:rPr lang="en-US" sz="3200" b="1" dirty="0">
                <a:latin typeface="Comic Sans MS" panose="030F0702030302020204" pitchFamily="66" charset="0"/>
              </a:rPr>
              <a:t>4 days</a:t>
            </a:r>
            <a:r>
              <a:rPr lang="en-US" sz="3200" dirty="0">
                <a:latin typeface="Comic Sans MS" panose="030F0702030302020204" pitchFamily="66" charset="0"/>
              </a:rPr>
              <a:t>. How many times will they play basketball on the same day in June in total?</a:t>
            </a: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44454" y="4388849"/>
            <a:ext cx="3207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 times</a:t>
            </a:r>
          </a:p>
        </p:txBody>
      </p:sp>
    </p:spTree>
    <p:extLst>
      <p:ext uri="{BB962C8B-B14F-4D97-AF65-F5344CB8AC3E}">
        <p14:creationId xmlns:p14="http://schemas.microsoft.com/office/powerpoint/2010/main" val="2619026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common multiples and common factors.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4098" name="Picture 2" descr="Free Printable June 2025 Calendars | Download Now!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69"/>
          <a:stretch/>
        </p:blipFill>
        <p:spPr bwMode="auto">
          <a:xfrm>
            <a:off x="2393579" y="1243851"/>
            <a:ext cx="7200568" cy="4952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/>
          <p:cNvSpPr/>
          <p:nvPr/>
        </p:nvSpPr>
        <p:spPr>
          <a:xfrm>
            <a:off x="253566" y="1433014"/>
            <a:ext cx="313899" cy="3138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1310" y="1433014"/>
            <a:ext cx="13784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Ms. Colette</a:t>
            </a:r>
          </a:p>
        </p:txBody>
      </p:sp>
      <p:sp>
        <p:nvSpPr>
          <p:cNvPr id="8" name="Oval 7"/>
          <p:cNvSpPr/>
          <p:nvPr/>
        </p:nvSpPr>
        <p:spPr>
          <a:xfrm>
            <a:off x="253566" y="2568053"/>
            <a:ext cx="313899" cy="31389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4402" y="2504051"/>
            <a:ext cx="1485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Ms. Anh</a:t>
            </a:r>
          </a:p>
        </p:txBody>
      </p:sp>
      <p:sp>
        <p:nvSpPr>
          <p:cNvPr id="10" name="Oval 9"/>
          <p:cNvSpPr/>
          <p:nvPr/>
        </p:nvSpPr>
        <p:spPr>
          <a:xfrm>
            <a:off x="2592219" y="2610872"/>
            <a:ext cx="313899" cy="3138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5836913" y="2610872"/>
            <a:ext cx="313899" cy="3138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8813758" y="2628670"/>
            <a:ext cx="313899" cy="3138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803591" y="3382924"/>
            <a:ext cx="313899" cy="3138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8019332" y="3381203"/>
            <a:ext cx="313899" cy="3138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3839149" y="4106810"/>
            <a:ext cx="313899" cy="3138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6775368" y="4106810"/>
            <a:ext cx="313899" cy="3138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2800403" y="4887007"/>
            <a:ext cx="313899" cy="3138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5993862" y="4887006"/>
            <a:ext cx="313899" cy="3138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8775171" y="4887007"/>
            <a:ext cx="313899" cy="3138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3030357" y="2610872"/>
            <a:ext cx="313899" cy="31389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6830694" y="2605525"/>
            <a:ext cx="313899" cy="31389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3818667" y="3381203"/>
            <a:ext cx="313899" cy="31389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7527502" y="3381203"/>
            <a:ext cx="313899" cy="31389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803589" y="4106810"/>
            <a:ext cx="313899" cy="31389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8813757" y="4106810"/>
            <a:ext cx="313899" cy="31389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5591051" y="4887006"/>
            <a:ext cx="313899" cy="31389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2800402" y="5678946"/>
            <a:ext cx="313899" cy="31389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663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common multiples and common factors.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457321-D723-4EF3-9EEC-B264AA714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96" y="1148631"/>
            <a:ext cx="5346975" cy="19940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8662F0-E4C2-4357-981A-C8FABB3D44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245" y="1195137"/>
            <a:ext cx="5730739" cy="50793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22C620-EF85-482B-BC8C-65F5480592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631" y="3221224"/>
            <a:ext cx="4946904" cy="348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547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4B6E74-E002-47E0-84C5-42C50B1C2C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468" y="1814957"/>
            <a:ext cx="9496100" cy="3681269"/>
          </a:xfrm>
          <a:prstGeom prst="rect">
            <a:avLst/>
          </a:prstGeom>
        </p:spPr>
      </p:pic>
      <p:sp>
        <p:nvSpPr>
          <p:cNvPr id="4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common multiples and common factors.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17257" y="2997786"/>
            <a:ext cx="1944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35, 70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7257" y="3721034"/>
            <a:ext cx="345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24, 48, 72, 96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7257" y="4582755"/>
            <a:ext cx="345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36, 72</a:t>
            </a:r>
          </a:p>
        </p:txBody>
      </p:sp>
    </p:spTree>
    <p:extLst>
      <p:ext uri="{BB962C8B-B14F-4D97-AF65-F5344CB8AC3E}">
        <p14:creationId xmlns:p14="http://schemas.microsoft.com/office/powerpoint/2010/main" val="768380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051DC0-9BBD-4CFA-8A77-D54245343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96" y="1532123"/>
            <a:ext cx="11516994" cy="4625852"/>
          </a:xfrm>
          <a:prstGeom prst="rect">
            <a:avLst/>
          </a:prstGeom>
        </p:spPr>
      </p:pic>
      <p:sp>
        <p:nvSpPr>
          <p:cNvPr id="5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common multiples and common factors.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05967" y="3313946"/>
            <a:ext cx="63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7086" y="3469621"/>
            <a:ext cx="63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7086" y="3992841"/>
            <a:ext cx="63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167591"/>
            <a:ext cx="63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98115" y="2423181"/>
            <a:ext cx="63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45519" y="3627516"/>
            <a:ext cx="63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71748" y="3025883"/>
            <a:ext cx="63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7894" y="3287493"/>
            <a:ext cx="63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4668" y="3303420"/>
            <a:ext cx="63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71748" y="3627516"/>
            <a:ext cx="1604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7683" y="4044354"/>
            <a:ext cx="1604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254657"/>
            <a:ext cx="1604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3497" y="2761846"/>
            <a:ext cx="1604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7114" y="3178684"/>
            <a:ext cx="1604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95667" y="3637127"/>
            <a:ext cx="1604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4815" y="2148175"/>
            <a:ext cx="1604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6291" y="3992841"/>
            <a:ext cx="1604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5143" y="2859555"/>
            <a:ext cx="1604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46868" y="4160347"/>
            <a:ext cx="1604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19 … </a:t>
            </a:r>
            <a:r>
              <a:rPr lang="en-US" sz="2400" b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etc</a:t>
            </a:r>
            <a:endParaRPr lang="en-US" sz="24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466258" y="5696310"/>
            <a:ext cx="2943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1, 2, 3, 4, 6, 12</a:t>
            </a:r>
          </a:p>
        </p:txBody>
      </p:sp>
    </p:spTree>
    <p:extLst>
      <p:ext uri="{BB962C8B-B14F-4D97-AF65-F5344CB8AC3E}">
        <p14:creationId xmlns:p14="http://schemas.microsoft.com/office/powerpoint/2010/main" val="3951302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95ABCF-6347-489F-829C-148315A4E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23" y="1515114"/>
            <a:ext cx="9742118" cy="4801330"/>
          </a:xfrm>
          <a:prstGeom prst="rect">
            <a:avLst/>
          </a:prstGeom>
        </p:spPr>
      </p:pic>
      <p:sp>
        <p:nvSpPr>
          <p:cNvPr id="5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common multiples and common factors.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57714" y="2438400"/>
            <a:ext cx="464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83515" y="2927697"/>
            <a:ext cx="649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45040" y="3100472"/>
            <a:ext cx="649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2754" y="3641058"/>
            <a:ext cx="649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0169" y="3641058"/>
            <a:ext cx="649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6680" y="3269823"/>
            <a:ext cx="649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9502" y="3684947"/>
            <a:ext cx="649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7625" y="5462030"/>
            <a:ext cx="2137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21, 42, 63</a:t>
            </a:r>
          </a:p>
        </p:txBody>
      </p:sp>
    </p:spTree>
    <p:extLst>
      <p:ext uri="{BB962C8B-B14F-4D97-AF65-F5344CB8AC3E}">
        <p14:creationId xmlns:p14="http://schemas.microsoft.com/office/powerpoint/2010/main" val="1081050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201FF4-8311-43E4-B07F-7881BC222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42" y="885541"/>
            <a:ext cx="9685537" cy="5848188"/>
          </a:xfrm>
          <a:prstGeom prst="rect">
            <a:avLst/>
          </a:prstGeom>
        </p:spPr>
      </p:pic>
      <p:sp>
        <p:nvSpPr>
          <p:cNvPr id="4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common multiples and common factors.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72114" y="3680518"/>
            <a:ext cx="162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8:36 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97886" y="5710849"/>
            <a:ext cx="162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24957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omic Sans MS" panose="030F0702030302020204" pitchFamily="66" charset="0"/>
              </a:rPr>
              <a:t>I can find common multiples of numbers using a number square.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a Venn diagram to classify numbers and find common multiples and common factors.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answer word questions about factors and multiples.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common multiples and common factors.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3477CD-30F1-4CE0-881F-F7260B7695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210636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CAA63F-67D1-4B19-8D3D-A9D2B8E119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950957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FB6C56-AEB0-4285-B8F1-0EB4EF718A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837492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2500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60260"/>
            <a:ext cx="10515600" cy="1325563"/>
          </a:xfrm>
        </p:spPr>
        <p:txBody>
          <a:bodyPr/>
          <a:lstStyle/>
          <a:p>
            <a:r>
              <a:rPr lang="en-US" b="1" dirty="0">
                <a:latin typeface="Comic Sans MS" panose="030F0702030302020204" pitchFamily="66" charset="0"/>
              </a:rPr>
              <a:t>Plenary 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common multiples and common factors.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85111"/>
            <a:ext cx="6981825" cy="15716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38" y="3060927"/>
            <a:ext cx="6935787" cy="18172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751840"/>
            <a:ext cx="5315857" cy="168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637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2298</TotalTime>
  <Words>906</Words>
  <Application>Microsoft Office PowerPoint</Application>
  <PresentationFormat>Widescreen</PresentationFormat>
  <Paragraphs>117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Comic Sans MS</vt:lpstr>
      <vt:lpstr>Office Theme</vt:lpstr>
      <vt:lpstr>Maths </vt:lpstr>
      <vt:lpstr>PowerPoint Presentation</vt:lpstr>
      <vt:lpstr>Retrieval Practice</vt:lpstr>
      <vt:lpstr>Starter - </vt:lpstr>
      <vt:lpstr>We are going to be part of a “mathematical orchestra”.</vt:lpstr>
      <vt:lpstr>I will be the conductor and count the beat.</vt:lpstr>
      <vt:lpstr>PowerPoint Presentation</vt:lpstr>
      <vt:lpstr>The activity we have just done demonstrated common multiples and common factors.</vt:lpstr>
      <vt:lpstr>We can use a 100 square to help us find common multiples.</vt:lpstr>
      <vt:lpstr>We can use a 100 square to help us find common multiples.</vt:lpstr>
      <vt:lpstr>Check your understanding</vt:lpstr>
      <vt:lpstr>Check your understanding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Plenary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</dc:title>
  <dc:creator>Jonathan Michael Holliday (VSC-KTiH-MB)</dc:creator>
  <cp:lastModifiedBy>Colette Aisling Meade (VSC-KTiH-MB)</cp:lastModifiedBy>
  <cp:revision>33</cp:revision>
  <dcterms:created xsi:type="dcterms:W3CDTF">2024-09-05T00:31:52Z</dcterms:created>
  <dcterms:modified xsi:type="dcterms:W3CDTF">2026-09-04T08:43:11Z</dcterms:modified>
</cp:coreProperties>
</file>
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DE7F-540D-46A1-A967-6EBBCB4C603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20A88-6530-47D3-A305-F1752687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81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DE7F-540D-46A1-A967-6EBBCB4C603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20A88-6530-47D3-A305-F1752687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9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DE7F-540D-46A1-A967-6EBBCB4C603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20A88-6530-47D3-A305-F1752687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4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DE7F-540D-46A1-A967-6EBBCB4C603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20A88-6530-47D3-A305-F1752687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51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DE7F-540D-46A1-A967-6EBBCB4C603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20A88-6530-47D3-A305-F1752687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5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DE7F-540D-46A1-A967-6EBBCB4C603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20A88-6530-47D3-A305-F1752687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DE7F-540D-46A1-A967-6EBBCB4C603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20A88-6530-47D3-A305-F1752687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5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DE7F-540D-46A1-A967-6EBBCB4C603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20A88-6530-47D3-A305-F1752687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88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DE7F-540D-46A1-A967-6EBBCB4C603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20A88-6530-47D3-A305-F1752687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1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DE7F-540D-46A1-A967-6EBBCB4C603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20A88-6530-47D3-A305-F1752687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89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DE7F-540D-46A1-A967-6EBBCB4C603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20A88-6530-47D3-A305-F1752687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4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BDE7F-540D-46A1-A967-6EBBCB4C603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20A88-6530-47D3-A305-F1752687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28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 err="1">
                <a:latin typeface="Comic Sans MS" panose="030F0702030302020204" pitchFamily="66" charset="0"/>
              </a:rPr>
              <a:t>Maths</a:t>
            </a:r>
            <a:r>
              <a:rPr lang="en-US" sz="88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8503" y="3110037"/>
            <a:ext cx="10588079" cy="223267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03.09.2026</a:t>
            </a:r>
          </a:p>
          <a:p>
            <a:pPr algn="l"/>
            <a:endParaRPr lang="en-US" sz="4800" b="1" dirty="0">
              <a:latin typeface="Comic Sans MS" panose="030F0702030302020204" pitchFamily="66" charset="0"/>
            </a:endParaRPr>
          </a:p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 </a:t>
            </a:r>
            <a:r>
              <a:rPr lang="en-US" sz="3600" dirty="0">
                <a:latin typeface="Comic Sans MS" panose="030F0702030302020204" pitchFamily="66" charset="0"/>
              </a:rPr>
              <a:t>Use knowledge of multiplication and square numbers to </a:t>
            </a:r>
            <a:r>
              <a:rPr lang="en-US" sz="3600" dirty="0" err="1">
                <a:latin typeface="Comic Sans MS" panose="030F0702030302020204" pitchFamily="66" charset="0"/>
              </a:rPr>
              <a:t>recognise</a:t>
            </a:r>
            <a:r>
              <a:rPr lang="en-US" sz="3600" dirty="0">
                <a:latin typeface="Comic Sans MS" panose="030F0702030302020204" pitchFamily="66" charset="0"/>
              </a:rPr>
              <a:t> cube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Numbers and Sequences</a:t>
            </a:r>
          </a:p>
        </p:txBody>
      </p:sp>
    </p:spTree>
    <p:extLst>
      <p:ext uri="{BB962C8B-B14F-4D97-AF65-F5344CB8AC3E}">
        <p14:creationId xmlns:p14="http://schemas.microsoft.com/office/powerpoint/2010/main" val="953387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complete a table about cube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complete a table about cube numbers.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solve and write my own riddles about cube numbers.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multiplication and square numbers to </a:t>
            </a:r>
            <a:r>
              <a:rPr lang="en-US" dirty="0" err="1">
                <a:latin typeface="Comic Sans MS" panose="030F0702030302020204" pitchFamily="66" charset="0"/>
              </a:rPr>
              <a:t>recognise</a:t>
            </a:r>
            <a:r>
              <a:rPr lang="en-US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FFB5CE-6C0C-458C-9249-DC0432D54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78E2CE-77F3-492E-8A0F-66558EEFAA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F91087-B6ED-44FB-BC4F-6BC002CC97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7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9" y="84664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knowledge of multiplication and square numbers to </a:t>
            </a:r>
            <a:r>
              <a:rPr lang="en-US" sz="2000" dirty="0" err="1">
                <a:latin typeface="Comic Sans MS" panose="030F0702030302020204" pitchFamily="66" charset="0"/>
              </a:rPr>
              <a:t>recognise</a:t>
            </a:r>
            <a:r>
              <a:rPr lang="en-US" sz="2000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256" y="1969008"/>
            <a:ext cx="9904060" cy="468579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299200" y="2873829"/>
            <a:ext cx="1407886" cy="92891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299200" y="3802743"/>
            <a:ext cx="1407886" cy="149497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299200" y="4550229"/>
            <a:ext cx="1407886" cy="879674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6299200" y="3918857"/>
            <a:ext cx="1741714" cy="1469571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6299200" y="3918857"/>
            <a:ext cx="2235200" cy="2365321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5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343" y="1304179"/>
            <a:ext cx="10903320" cy="1325563"/>
          </a:xfrm>
        </p:spPr>
        <p:txBody>
          <a:bodyPr>
            <a:no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Starter</a:t>
            </a:r>
            <a:r>
              <a:rPr lang="en-US" dirty="0">
                <a:latin typeface="Comic Sans MS" panose="030F0702030302020204" pitchFamily="66" charset="0"/>
              </a:rPr>
              <a:t> – Last lesson we learned that 4</a:t>
            </a:r>
            <a:r>
              <a:rPr lang="en-US" baseline="30000" dirty="0">
                <a:latin typeface="Comic Sans MS" panose="030F0702030302020204" pitchFamily="66" charset="0"/>
              </a:rPr>
              <a:t>2</a:t>
            </a:r>
            <a:r>
              <a:rPr lang="en-US" dirty="0">
                <a:latin typeface="Comic Sans MS" panose="030F0702030302020204" pitchFamily="66" charset="0"/>
              </a:rPr>
              <a:t> is 4 x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5384" y="3889829"/>
            <a:ext cx="10515600" cy="31144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>
                <a:latin typeface="Comic Sans MS" panose="030F0702030302020204" pitchFamily="66" charset="0"/>
              </a:rPr>
              <a:t>What do you think 4</a:t>
            </a:r>
            <a:r>
              <a:rPr lang="en-US" sz="4800" baseline="30000" dirty="0">
                <a:latin typeface="Comic Sans MS" panose="030F0702030302020204" pitchFamily="66" charset="0"/>
              </a:rPr>
              <a:t>3</a:t>
            </a:r>
            <a:r>
              <a:rPr lang="en-US" sz="4800" dirty="0">
                <a:latin typeface="Comic Sans MS" panose="030F0702030302020204" pitchFamily="66" charset="0"/>
              </a:rPr>
              <a:t> means?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knowledge of multiplication and square numbers to </a:t>
            </a:r>
            <a:r>
              <a:rPr lang="en-US" sz="2000" dirty="0" err="1">
                <a:latin typeface="Comic Sans MS" panose="030F0702030302020204" pitchFamily="66" charset="0"/>
              </a:rPr>
              <a:t>recognise</a:t>
            </a:r>
            <a:r>
              <a:rPr lang="en-US" sz="2000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20457" y="5196114"/>
            <a:ext cx="4659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 x 4 x 4</a:t>
            </a:r>
          </a:p>
        </p:txBody>
      </p:sp>
    </p:spTree>
    <p:extLst>
      <p:ext uri="{BB962C8B-B14F-4D97-AF65-F5344CB8AC3E}">
        <p14:creationId xmlns:p14="http://schemas.microsoft.com/office/powerpoint/2010/main" val="56739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063" y="1128373"/>
            <a:ext cx="10515600" cy="1455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When we multiply a number by itself 3 times we say it is cubed.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Use knowledge of multiplication and square numbers to </a:t>
            </a:r>
            <a:r>
              <a:rPr lang="en-US" sz="1800" dirty="0" err="1">
                <a:latin typeface="Comic Sans MS" panose="030F0702030302020204" pitchFamily="66" charset="0"/>
              </a:rPr>
              <a:t>recognise</a:t>
            </a:r>
            <a:r>
              <a:rPr lang="en-US" sz="1800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pic>
        <p:nvPicPr>
          <p:cNvPr id="1026" name="Picture 2" descr="The Official Rubik's Cube | Products | Rubik's Spee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2267" y1="34133" x2="80533" y2="32933"/>
                        <a14:foregroundMark x1="80133" y1="32800" x2="79467" y2="69067"/>
                        <a14:foregroundMark x1="78267" y1="68533" x2="51067" y2="69600"/>
                        <a14:foregroundMark x1="50667" y1="69600" x2="51467" y2="50267"/>
                        <a14:foregroundMark x1="51600" y1="50267" x2="70133" y2="51067"/>
                        <a14:foregroundMark x1="61067" y1="47733" x2="76000" y2="49600"/>
                        <a14:foregroundMark x1="70000" y1="47733" x2="62667" y2="58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758" y="2291387"/>
            <a:ext cx="4696506" cy="469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1262534" y="3449695"/>
            <a:ext cx="4867753" cy="2379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>
                <a:latin typeface="Comic Sans MS" panose="030F0702030302020204" pitchFamily="66" charset="0"/>
              </a:rPr>
              <a:t>Imagine a cube that is 3 units in all 3 dimensions.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257143" y="5829584"/>
            <a:ext cx="1364343" cy="52767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89371" y="6093420"/>
            <a:ext cx="899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 flipV="1">
            <a:off x="8621485" y="3746557"/>
            <a:ext cx="58057" cy="258377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56070" y="4496703"/>
            <a:ext cx="899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8795658" y="5950857"/>
            <a:ext cx="1790555" cy="35519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845985" y="6136554"/>
            <a:ext cx="899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2921" y="5536389"/>
            <a:ext cx="4479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  <a:r>
              <a:rPr lang="en-US" sz="44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= 3 x 3 x 3</a:t>
            </a:r>
          </a:p>
        </p:txBody>
      </p:sp>
    </p:spTree>
    <p:extLst>
      <p:ext uri="{BB962C8B-B14F-4D97-AF65-F5344CB8AC3E}">
        <p14:creationId xmlns:p14="http://schemas.microsoft.com/office/powerpoint/2010/main" val="369891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4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21879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omic Sans MS" panose="030F0702030302020204" pitchFamily="66" charset="0"/>
              </a:rPr>
              <a:t>Check your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97913"/>
            <a:ext cx="10515600" cy="1030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Comic Sans MS" panose="030F0702030302020204" pitchFamily="66" charset="0"/>
              </a:rPr>
              <a:t>How many different ways can you write 4</a:t>
            </a:r>
            <a:r>
              <a:rPr lang="en-US" sz="3600" b="1" baseline="30000" dirty="0">
                <a:latin typeface="Comic Sans MS" panose="030F0702030302020204" pitchFamily="66" charset="0"/>
              </a:rPr>
              <a:t>3</a:t>
            </a:r>
            <a:r>
              <a:rPr lang="en-US" sz="3600" b="1" dirty="0">
                <a:latin typeface="Comic Sans MS" panose="030F0702030302020204" pitchFamily="66" charset="0"/>
              </a:rPr>
              <a:t>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knowledge of multiplication and square numbers to </a:t>
            </a:r>
            <a:r>
              <a:rPr lang="en-US" sz="2000" dirty="0" err="1">
                <a:latin typeface="Comic Sans MS" panose="030F0702030302020204" pitchFamily="66" charset="0"/>
              </a:rPr>
              <a:t>recognise</a:t>
            </a:r>
            <a:r>
              <a:rPr lang="en-US" sz="2000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199" y="3947886"/>
            <a:ext cx="3254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 x 4 x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370" y="3947886"/>
            <a:ext cx="28339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4284" y="3947886"/>
            <a:ext cx="28339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  <a:r>
              <a:rPr lang="en-US" sz="48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2 </a:t>
            </a:r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885" y="5323920"/>
            <a:ext cx="28339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16 x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3399" y="5323920"/>
            <a:ext cx="28339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 x 16</a:t>
            </a:r>
          </a:p>
        </p:txBody>
      </p:sp>
    </p:spTree>
    <p:extLst>
      <p:ext uri="{BB962C8B-B14F-4D97-AF65-F5344CB8AC3E}">
        <p14:creationId xmlns:p14="http://schemas.microsoft.com/office/powerpoint/2010/main" val="112331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knowledge of multiplication and square numbers to </a:t>
            </a:r>
            <a:r>
              <a:rPr lang="en-US" sz="2000" dirty="0" err="1">
                <a:latin typeface="Comic Sans MS" panose="030F0702030302020204" pitchFamily="66" charset="0"/>
              </a:rPr>
              <a:t>recognise</a:t>
            </a:r>
            <a:r>
              <a:rPr lang="en-US" sz="2000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42" y="4176940"/>
            <a:ext cx="8143853" cy="21222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4456" y="2119086"/>
            <a:ext cx="3483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Complete the table with support.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7886" y="2119086"/>
            <a:ext cx="3483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Complete the table independently.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7852" y="2414148"/>
            <a:ext cx="34689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Solve this riddle.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dirty="0">
                <a:latin typeface="Comic Sans MS" panose="030F0702030302020204" pitchFamily="66" charset="0"/>
              </a:rPr>
              <a:t>I am a cube number.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I am odd.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I am less than 50.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I have 2 digits.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What number am I?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dirty="0">
                <a:latin typeface="Comic Sans MS" panose="030F0702030302020204" pitchFamily="66" charset="0"/>
              </a:rPr>
              <a:t>Write your own riddle.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67B840-785D-4C50-85BF-05E609406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2836" y="558800"/>
            <a:ext cx="850209" cy="16368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4D0567-4CE3-492D-9DBF-9E52E86EE7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697" y="488660"/>
            <a:ext cx="770062" cy="16096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1BCBC9-95BC-4DEA-BE24-9466E6ADCC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179" y="666411"/>
            <a:ext cx="723129" cy="163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33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multiplication and square numbers to </a:t>
            </a:r>
            <a:r>
              <a:rPr lang="en-US" dirty="0" err="1">
                <a:latin typeface="Comic Sans MS" panose="030F0702030302020204" pitchFamily="66" charset="0"/>
              </a:rPr>
              <a:t>recognise</a:t>
            </a:r>
            <a:r>
              <a:rPr lang="en-US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86" y="2246312"/>
            <a:ext cx="10699953" cy="27466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31772" y="2888342"/>
            <a:ext cx="1988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 X 2 X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7747" y="2888342"/>
            <a:ext cx="1988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</a:t>
            </a:r>
            <a:r>
              <a:rPr lang="en-US" sz="28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2 </a:t>
            </a: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3315" y="3411562"/>
            <a:ext cx="1988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  <a:r>
              <a:rPr lang="en-US" sz="28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  <a:endParaRPr 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85061" y="3358003"/>
            <a:ext cx="1988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 X 3 X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4971" y="3417471"/>
            <a:ext cx="1988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3315" y="3913848"/>
            <a:ext cx="1988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  <a:r>
              <a:rPr lang="en-US" sz="28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  <a:endParaRPr 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67747" y="3934782"/>
            <a:ext cx="1988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  <a:r>
              <a:rPr lang="en-US" sz="28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2 </a:t>
            </a: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4971" y="3934782"/>
            <a:ext cx="1988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3314" y="4416134"/>
            <a:ext cx="1988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5</a:t>
            </a:r>
            <a:r>
              <a:rPr lang="en-US" sz="28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  <a:endParaRPr 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31772" y="4416134"/>
            <a:ext cx="1988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5 X 5 X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7747" y="4416134"/>
            <a:ext cx="1988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5</a:t>
            </a:r>
            <a:r>
              <a:rPr lang="en-US" sz="28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2 </a:t>
            </a: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5</a:t>
            </a:r>
          </a:p>
        </p:txBody>
      </p:sp>
    </p:spTree>
    <p:extLst>
      <p:ext uri="{BB962C8B-B14F-4D97-AF65-F5344CB8AC3E}">
        <p14:creationId xmlns:p14="http://schemas.microsoft.com/office/powerpoint/2010/main" val="381086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016" y="871408"/>
            <a:ext cx="10515600" cy="1325563"/>
          </a:xfrm>
        </p:spPr>
        <p:txBody>
          <a:bodyPr/>
          <a:lstStyle/>
          <a:p>
            <a:r>
              <a:rPr lang="en-US" sz="3600" b="1" dirty="0">
                <a:latin typeface="Comic Sans MS" panose="030F0702030302020204" pitchFamily="66" charset="0"/>
              </a:rPr>
              <a:t>Plenary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257" y="2756807"/>
            <a:ext cx="10515600" cy="24102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What is 3</a:t>
            </a:r>
            <a:r>
              <a:rPr lang="en-US" sz="3200" baseline="30000" dirty="0">
                <a:latin typeface="Comic Sans MS" panose="030F0702030302020204" pitchFamily="66" charset="0"/>
              </a:rPr>
              <a:t>2 </a:t>
            </a:r>
            <a:r>
              <a:rPr lang="en-US" sz="3200" dirty="0">
                <a:latin typeface="Comic Sans MS" panose="030F0702030302020204" pitchFamily="66" charset="0"/>
              </a:rPr>
              <a:t>X 3</a:t>
            </a:r>
            <a:r>
              <a:rPr lang="en-US" sz="3200" baseline="30000" dirty="0">
                <a:latin typeface="Comic Sans MS" panose="030F0702030302020204" pitchFamily="66" charset="0"/>
              </a:rPr>
              <a:t>3</a:t>
            </a:r>
            <a:r>
              <a:rPr lang="en-US" sz="3200" dirty="0">
                <a:latin typeface="Comic Sans MS" panose="030F0702030302020204" pitchFamily="66" charset="0"/>
              </a:rPr>
              <a:t> = 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How could we write it using powers?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knowledge of multiplication and square numbers to </a:t>
            </a:r>
            <a:r>
              <a:rPr lang="en-US" sz="2000" dirty="0" err="1">
                <a:latin typeface="Comic Sans MS" panose="030F0702030302020204" pitchFamily="66" charset="0"/>
              </a:rPr>
              <a:t>recognise</a:t>
            </a:r>
            <a:r>
              <a:rPr lang="en-US" sz="2000" dirty="0">
                <a:latin typeface="Comic Sans MS" panose="030F0702030302020204" pitchFamily="66" charset="0"/>
              </a:rPr>
              <a:t> cube numbers</a:t>
            </a:r>
            <a:r>
              <a:rPr lang="en-US" sz="1800" dirty="0">
                <a:latin typeface="Comic Sans MS" panose="030F0702030302020204" pitchFamily="66" charset="0"/>
              </a:rPr>
              <a:t>.</a:t>
            </a: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26857" y="2651287"/>
            <a:ext cx="1451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 x 3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2172" y="2651287"/>
            <a:ext cx="595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3863" y="5141978"/>
            <a:ext cx="29463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  <a:r>
              <a:rPr lang="en-US" sz="66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5</a:t>
            </a:r>
            <a:endParaRPr lang="en-US" sz="66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48400" y="2651287"/>
            <a:ext cx="2691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 x 3 x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2109" y="2675146"/>
            <a:ext cx="2691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= 243</a:t>
            </a:r>
          </a:p>
        </p:txBody>
      </p:sp>
    </p:spTree>
    <p:extLst>
      <p:ext uri="{BB962C8B-B14F-4D97-AF65-F5344CB8AC3E}">
        <p14:creationId xmlns:p14="http://schemas.microsoft.com/office/powerpoint/2010/main" val="167850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8510</TotalTime>
  <Words>361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Comic Sans MS</vt:lpstr>
      <vt:lpstr>Office Theme</vt:lpstr>
      <vt:lpstr>Maths </vt:lpstr>
      <vt:lpstr>PowerPoint Presentation</vt:lpstr>
      <vt:lpstr>Retrieval Practice</vt:lpstr>
      <vt:lpstr>Starter – Last lesson we learned that 42 is 4 x 4</vt:lpstr>
      <vt:lpstr>PowerPoint Presentation</vt:lpstr>
      <vt:lpstr>Check your understanding</vt:lpstr>
      <vt:lpstr>PowerPoint Presentation</vt:lpstr>
      <vt:lpstr>PowerPoint Presentation</vt:lpstr>
      <vt:lpstr>Plenary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10</cp:revision>
  <dcterms:created xsi:type="dcterms:W3CDTF">2024-09-04T00:22:44Z</dcterms:created>
  <dcterms:modified xsi:type="dcterms:W3CDTF">2026-09-03T02:16:03Z</dcterms:modified>
</cp:coreProperties>
</file>
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39" d="100"/>
          <a:sy n="39" d="100"/>
        </p:scale>
        <p:origin x="24" y="2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65A52-27C5-4E7C-A1A0-7FCA2581618F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4594-FBCE-4722-842E-20365E3DE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43678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65A52-27C5-4E7C-A1A0-7FCA2581618F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4594-FBCE-4722-842E-20365E3DE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9616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65A52-27C5-4E7C-A1A0-7FCA2581618F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4594-FBCE-4722-842E-20365E3DE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61013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65A52-27C5-4E7C-A1A0-7FCA2581618F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4594-FBCE-4722-842E-20365E3DE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29784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65A52-27C5-4E7C-A1A0-7FCA2581618F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4594-FBCE-4722-842E-20365E3DE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39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65A52-27C5-4E7C-A1A0-7FCA2581618F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4594-FBCE-4722-842E-20365E3DE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695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65A52-27C5-4E7C-A1A0-7FCA2581618F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4594-FBCE-4722-842E-20365E3DE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40604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65A52-27C5-4E7C-A1A0-7FCA2581618F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4594-FBCE-4722-842E-20365E3DE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693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65A52-27C5-4E7C-A1A0-7FCA2581618F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4594-FBCE-4722-842E-20365E3DE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368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65A52-27C5-4E7C-A1A0-7FCA2581618F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4594-FBCE-4722-842E-20365E3DE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17654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F65A52-27C5-4E7C-A1A0-7FCA2581618F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D4594-FBCE-4722-842E-20365E3DE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6291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4">
            <a:lumMod val="20000"/>
            <a:lumOff val="8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1F65A52-27C5-4E7C-A1A0-7FCA2581618F}" type="datetimeFigureOut">
              <a:rPr lang="en-US" smtClean="0"/>
              <a:t>9/2/2025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8D4594-FBCE-4722-842E-20365E3DED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2123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7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microsoft.com/office/2007/relationships/hdphoto" Target="../media/hdphoto2.wdp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165230" y="-98475"/>
            <a:ext cx="5462954" cy="1667095"/>
          </a:xfrm>
        </p:spPr>
        <p:txBody>
          <a:bodyPr>
            <a:normAutofit/>
          </a:bodyPr>
          <a:lstStyle/>
          <a:p>
            <a:r>
              <a:rPr lang="en-US" sz="9600" dirty="0" err="1">
                <a:latin typeface="Comic Sans MS" panose="030F0702030302020204" pitchFamily="66" charset="0"/>
              </a:rPr>
              <a:t>Maths</a:t>
            </a:r>
            <a:r>
              <a:rPr lang="en-US" sz="9600" dirty="0">
                <a:latin typeface="Comic Sans MS" panose="030F0702030302020204" pitchFamily="66" charset="0"/>
              </a:rPr>
              <a:t> 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37418" y="1568620"/>
            <a:ext cx="11286260" cy="4061472"/>
          </a:xfrm>
        </p:spPr>
        <p:txBody>
          <a:bodyPr>
            <a:normAutofit/>
          </a:bodyPr>
          <a:lstStyle/>
          <a:p>
            <a:pPr algn="l"/>
            <a:r>
              <a:rPr lang="en-US" sz="5400" b="1" dirty="0">
                <a:latin typeface="Comic Sans MS" panose="030F0702030302020204" pitchFamily="66" charset="0"/>
              </a:rPr>
              <a:t>WALT:</a:t>
            </a:r>
          </a:p>
          <a:p>
            <a:pPr algn="l"/>
            <a:r>
              <a:rPr lang="en-US" sz="3600" b="1" dirty="0">
                <a:latin typeface="Comic Sans MS" panose="030F0702030302020204" pitchFamily="66" charset="0"/>
              </a:rPr>
              <a:t>6Nc.04 – </a:t>
            </a:r>
            <a:r>
              <a:rPr lang="en-US" sz="3600" dirty="0">
                <a:latin typeface="Comic Sans MS" panose="030F0702030302020204" pitchFamily="66" charset="0"/>
              </a:rPr>
              <a:t>Use knowledge of square numbers to generate terms in a sequence </a:t>
            </a:r>
            <a:r>
              <a:rPr lang="en-US" sz="3600">
                <a:latin typeface="Comic Sans MS" panose="030F0702030302020204" pitchFamily="66" charset="0"/>
              </a:rPr>
              <a:t>given its </a:t>
            </a:r>
            <a:r>
              <a:rPr lang="en-US" sz="3600" dirty="0">
                <a:latin typeface="Comic Sans MS" panose="030F0702030302020204" pitchFamily="66" charset="0"/>
              </a:rPr>
              <a:t>position.</a:t>
            </a:r>
          </a:p>
          <a:p>
            <a:pPr algn="l"/>
            <a:endParaRPr lang="en-US" sz="3600" dirty="0">
              <a:latin typeface="Comic Sans MS" panose="030F0702030302020204" pitchFamily="66" charset="0"/>
            </a:endParaRPr>
          </a:p>
          <a:p>
            <a:pPr algn="l"/>
            <a:r>
              <a:rPr lang="en-US" sz="3600" b="1" dirty="0">
                <a:latin typeface="Comic Sans MS" panose="030F0702030302020204" pitchFamily="66" charset="0"/>
              </a:rPr>
              <a:t>6Ni.08</a:t>
            </a:r>
            <a:r>
              <a:rPr lang="en-US" sz="3600" dirty="0">
                <a:latin typeface="Comic Sans MS" panose="030F0702030302020204" pitchFamily="66" charset="0"/>
              </a:rPr>
              <a:t> – Use knowledge of multiplication and square numbers to </a:t>
            </a:r>
            <a:r>
              <a:rPr lang="en-US" sz="3600" dirty="0" err="1">
                <a:latin typeface="Comic Sans MS" panose="030F0702030302020204" pitchFamily="66" charset="0"/>
              </a:rPr>
              <a:t>recognise</a:t>
            </a:r>
            <a:r>
              <a:rPr lang="en-US" sz="3600" dirty="0">
                <a:latin typeface="Comic Sans MS" panose="030F0702030302020204" pitchFamily="66" charset="0"/>
              </a:rPr>
              <a:t> cube numbers.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35292" y="552174"/>
            <a:ext cx="27562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Unit 2 – Numbers and Sequences</a:t>
            </a:r>
          </a:p>
        </p:txBody>
      </p:sp>
    </p:spTree>
    <p:extLst>
      <p:ext uri="{BB962C8B-B14F-4D97-AF65-F5344CB8AC3E}">
        <p14:creationId xmlns:p14="http://schemas.microsoft.com/office/powerpoint/2010/main" val="37505461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52697" y="3526971"/>
            <a:ext cx="3435532" cy="2155372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Comic Sans MS" panose="030F0702030302020204" pitchFamily="66" charset="0"/>
              </a:rPr>
              <a:t>With support, I can answer questions about square and cube numbers.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480560" y="3526971"/>
            <a:ext cx="3396343" cy="2155372"/>
          </a:xfrm>
          <a:prstGeom prst="rect">
            <a:avLst/>
          </a:prstGeom>
          <a:solidFill>
            <a:srgbClr val="FFC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chemeClr val="tx1"/>
                </a:solidFill>
                <a:latin typeface="Comic Sans MS" panose="030F0702030302020204" pitchFamily="66" charset="0"/>
              </a:rPr>
              <a:t>Independently, I can answer questions about square and cube numbers.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24049" y="3526971"/>
            <a:ext cx="3396343" cy="2155372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000" b="1" dirty="0">
                <a:solidFill>
                  <a:schemeClr val="tx1"/>
                </a:solidFill>
                <a:latin typeface="Comic Sans MS" panose="030F0702030302020204" pitchFamily="66" charset="0"/>
              </a:rPr>
              <a:t>I can complete the “Think Like A Mathematician” investigation.</a:t>
            </a:r>
          </a:p>
        </p:txBody>
      </p:sp>
      <p:sp>
        <p:nvSpPr>
          <p:cNvPr id="12" name="Subtitle 2"/>
          <p:cNvSpPr txBox="1">
            <a:spLocks/>
          </p:cNvSpPr>
          <p:nvPr/>
        </p:nvSpPr>
        <p:spPr>
          <a:xfrm>
            <a:off x="246742" y="249113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latin typeface="Comic Sans MS" panose="030F0702030302020204" pitchFamily="66" charset="0"/>
              </a:rPr>
              <a:t>WALT: </a:t>
            </a:r>
            <a:r>
              <a:rPr lang="en-US" sz="1800" dirty="0">
                <a:latin typeface="Comic Sans MS" panose="030F0702030302020204" pitchFamily="66" charset="0"/>
              </a:rPr>
              <a:t>Use knowledge of square numbers to generate terms in a sequence given it’s position. Use knowledge of multiplication and square numbers to </a:t>
            </a:r>
            <a:r>
              <a:rPr lang="en-US" sz="1800" dirty="0" err="1">
                <a:latin typeface="Comic Sans MS" panose="030F0702030302020204" pitchFamily="66" charset="0"/>
              </a:rPr>
              <a:t>recognise</a:t>
            </a:r>
            <a:r>
              <a:rPr lang="en-US" sz="1800" dirty="0">
                <a:latin typeface="Comic Sans MS" panose="030F0702030302020204" pitchFamily="66" charset="0"/>
              </a:rPr>
              <a:t> cube numbers.</a:t>
            </a:r>
          </a:p>
          <a:p>
            <a:pPr marL="0" indent="0">
              <a:buNone/>
            </a:pPr>
            <a:endParaRPr lang="en-US" sz="18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1800" dirty="0">
              <a:latin typeface="Comic Sans MS" panose="030F0702030302020204" pitchFamily="66" charset="0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2B1B7C9E-C3EB-4D17-BEF9-839D18414D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709" b="92718" l="9346" r="89720">
                        <a14:foregroundMark x1="44860" y1="92718" x2="44860" y2="92718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320662" y="1210636"/>
            <a:ext cx="1102890" cy="212332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8A4765F-72EC-45CA-AC97-5C94CB22A70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7914" b="93885" l="9023" r="89474">
                        <a14:foregroundMark x1="31579" y1="8273" x2="31579" y2="8273"/>
                        <a14:foregroundMark x1="34586" y1="15108" x2="34586" y2="15108"/>
                        <a14:foregroundMark x1="33083" y1="12950" x2="33083" y2="12950"/>
                        <a14:foregroundMark x1="53383" y1="16906" x2="53383" y2="16906"/>
                        <a14:foregroundMark x1="66165" y1="24460" x2="66165" y2="24460"/>
                        <a14:foregroundMark x1="44361" y1="20504" x2="44361" y2="20504"/>
                        <a14:foregroundMark x1="48120" y1="18705" x2="48120" y2="18705"/>
                        <a14:foregroundMark x1="57895" y1="27338" x2="57895" y2="27338"/>
                        <a14:foregroundMark x1="54887" y1="93885" x2="54887" y2="9388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555" y="950957"/>
            <a:ext cx="1102890" cy="230529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7FF622E-9590-4EE6-B20E-3D034701249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8904" b="97603" l="8527" r="89147">
                        <a14:foregroundMark x1="54264" y1="17808" x2="54264" y2="17808"/>
                        <a14:foregroundMark x1="66667" y1="25685" x2="66667" y2="25685"/>
                        <a14:foregroundMark x1="66667" y1="97945" x2="66667" y2="97945"/>
                        <a14:foregroundMark x1="33333" y1="8904" x2="33333" y2="8904"/>
                        <a14:foregroundMark x1="35659" y1="15068" x2="35659" y2="15068"/>
                        <a14:foregroundMark x1="35659" y1="11986" x2="35659" y2="11986"/>
                        <a14:foregroundMark x1="58140" y1="19178" x2="58140" y2="19178"/>
                        <a14:foregroundMark x1="46512" y1="19863" x2="46512" y2="19863"/>
                        <a14:foregroundMark x1="72868" y1="25342" x2="72868" y2="25342"/>
                        <a14:foregroundMark x1="68992" y1="21575" x2="68992" y2="21575"/>
                        <a14:foregroundMark x1="52713" y1="17808" x2="52713" y2="17808"/>
                        <a14:foregroundMark x1="53488" y1="16096" x2="53488" y2="16096"/>
                        <a14:foregroundMark x1="33333" y1="9247" x2="33333" y2="9247"/>
                        <a14:foregroundMark x1="24031" y1="9247" x2="24031" y2="9247"/>
                        <a14:foregroundMark x1="36434" y1="34589" x2="36434" y2="34589"/>
                        <a14:foregroundMark x1="38760" y1="32192" x2="38760" y2="3219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3850" y="837492"/>
            <a:ext cx="1102890" cy="2496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2508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44996"/>
            <a:ext cx="10515600" cy="1325563"/>
          </a:xfrm>
        </p:spPr>
        <p:txBody>
          <a:bodyPr/>
          <a:lstStyle/>
          <a:p>
            <a:r>
              <a:rPr lang="en-US" sz="4000" dirty="0">
                <a:latin typeface="Comic Sans MS" panose="030F0702030302020204" pitchFamily="66" charset="0"/>
              </a:rPr>
              <a:t>Retrieval Practice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46742" y="249113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latin typeface="Comic Sans MS" panose="030F0702030302020204" pitchFamily="66" charset="0"/>
              </a:rPr>
              <a:t>WALT: </a:t>
            </a:r>
            <a:r>
              <a:rPr lang="en-US" sz="1800" dirty="0">
                <a:latin typeface="Comic Sans MS" panose="030F0702030302020204" pitchFamily="66" charset="0"/>
              </a:rPr>
              <a:t>Use knowledge of square numbers to generate terms in a sequence given it’s position. Use knowledge of multiplication and square numbers to </a:t>
            </a:r>
            <a:r>
              <a:rPr lang="en-US" sz="1800" dirty="0" err="1">
                <a:latin typeface="Comic Sans MS" panose="030F0702030302020204" pitchFamily="66" charset="0"/>
              </a:rPr>
              <a:t>recognise</a:t>
            </a:r>
            <a:r>
              <a:rPr lang="en-US" sz="1800" dirty="0">
                <a:latin typeface="Comic Sans MS" panose="030F0702030302020204" pitchFamily="66" charset="0"/>
              </a:rPr>
              <a:t> cube numbers.</a:t>
            </a:r>
          </a:p>
          <a:p>
            <a:pPr marL="0" indent="0">
              <a:buNone/>
            </a:pPr>
            <a:endParaRPr lang="en-US" sz="18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1800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1960" y="2006150"/>
            <a:ext cx="8768611" cy="478862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21599" y="5834743"/>
            <a:ext cx="1103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70,000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43485" y="6306718"/>
            <a:ext cx="110308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65,000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7257143" y="5685580"/>
            <a:ext cx="0" cy="726757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816063" y="4138851"/>
            <a:ext cx="35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44842" y="4138851"/>
            <a:ext cx="35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9256" y="4145112"/>
            <a:ext cx="35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FF0000"/>
                </a:solidFill>
                <a:latin typeface="Comic Sans MS" panose="030F0702030302020204" pitchFamily="66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041156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231087" y="1233713"/>
            <a:ext cx="2394856" cy="69668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Pg. 28 - 29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46742" y="249113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Use knowledge of square numbers to generate terms in a sequence given it’s position. Use knowledge of multiplication and square numbers to </a:t>
            </a:r>
            <a:r>
              <a:rPr lang="en-US" dirty="0" err="1">
                <a:latin typeface="Comic Sans MS" panose="030F0702030302020204" pitchFamily="66" charset="0"/>
              </a:rPr>
              <a:t>recognise</a:t>
            </a:r>
            <a:r>
              <a:rPr lang="en-US" dirty="0">
                <a:latin typeface="Comic Sans MS" panose="030F0702030302020204" pitchFamily="66" charset="0"/>
              </a:rPr>
              <a:t> cube numbers.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7129" y="986970"/>
            <a:ext cx="4260781" cy="515257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7760" y="2292705"/>
            <a:ext cx="5096547" cy="4418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4237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5225" y="1382940"/>
            <a:ext cx="10263856" cy="268106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96611" y="1382940"/>
            <a:ext cx="1063171" cy="84182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81</a:t>
            </a:r>
          </a:p>
        </p:txBody>
      </p:sp>
      <p:sp>
        <p:nvSpPr>
          <p:cNvPr id="4" name="Subtitle 2"/>
          <p:cNvSpPr txBox="1">
            <a:spLocks/>
          </p:cNvSpPr>
          <p:nvPr/>
        </p:nvSpPr>
        <p:spPr>
          <a:xfrm>
            <a:off x="246742" y="249113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latin typeface="Comic Sans MS" panose="030F0702030302020204" pitchFamily="66" charset="0"/>
              </a:rPr>
              <a:t>WALT: </a:t>
            </a:r>
            <a:r>
              <a:rPr lang="en-US" sz="1800" dirty="0">
                <a:latin typeface="Comic Sans MS" panose="030F0702030302020204" pitchFamily="66" charset="0"/>
              </a:rPr>
              <a:t>Use knowledge of square numbers to generate terms in a sequence given it’s position. Use knowledge of multiplication and square numbers to </a:t>
            </a:r>
            <a:r>
              <a:rPr lang="en-US" sz="1800" dirty="0" err="1">
                <a:latin typeface="Comic Sans MS" panose="030F0702030302020204" pitchFamily="66" charset="0"/>
              </a:rPr>
              <a:t>recognise</a:t>
            </a:r>
            <a:r>
              <a:rPr lang="en-US" sz="1800" dirty="0">
                <a:latin typeface="Comic Sans MS" panose="030F0702030302020204" pitchFamily="66" charset="0"/>
              </a:rPr>
              <a:t> cube numbers.</a:t>
            </a:r>
          </a:p>
          <a:p>
            <a:pPr marL="0" indent="0">
              <a:buNone/>
            </a:pPr>
            <a:endParaRPr lang="en-US" sz="18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1800" dirty="0">
              <a:latin typeface="Comic Sans MS" panose="030F0702030302020204" pitchFamily="66" charset="0"/>
            </a:endParaRPr>
          </a:p>
        </p:txBody>
      </p:sp>
      <p:sp>
        <p:nvSpPr>
          <p:cNvPr id="6" name="Content Placeholder 2"/>
          <p:cNvSpPr txBox="1">
            <a:spLocks/>
          </p:cNvSpPr>
          <p:nvPr/>
        </p:nvSpPr>
        <p:spPr>
          <a:xfrm>
            <a:off x="3339868" y="2607356"/>
            <a:ext cx="1063171" cy="8418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25</a:t>
            </a:r>
          </a:p>
        </p:txBody>
      </p:sp>
      <p:sp>
        <p:nvSpPr>
          <p:cNvPr id="7" name="Content Placeholder 2"/>
          <p:cNvSpPr txBox="1">
            <a:spLocks/>
          </p:cNvSpPr>
          <p:nvPr/>
        </p:nvSpPr>
        <p:spPr>
          <a:xfrm>
            <a:off x="6728954" y="2607356"/>
            <a:ext cx="1413560" cy="8418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100</a:t>
            </a:r>
          </a:p>
        </p:txBody>
      </p:sp>
      <p:sp>
        <p:nvSpPr>
          <p:cNvPr id="8" name="Content Placeholder 2"/>
          <p:cNvSpPr txBox="1">
            <a:spLocks/>
          </p:cNvSpPr>
          <p:nvPr/>
        </p:nvSpPr>
        <p:spPr>
          <a:xfrm>
            <a:off x="9761649" y="2645683"/>
            <a:ext cx="1413560" cy="8418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49</a:t>
            </a:r>
          </a:p>
        </p:txBody>
      </p:sp>
      <p:sp>
        <p:nvSpPr>
          <p:cNvPr id="9" name="Content Placeholder 2"/>
          <p:cNvSpPr txBox="1">
            <a:spLocks/>
          </p:cNvSpPr>
          <p:nvPr/>
        </p:nvSpPr>
        <p:spPr>
          <a:xfrm>
            <a:off x="5497053" y="3950494"/>
            <a:ext cx="2253576" cy="84182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36 + 9</a:t>
            </a:r>
          </a:p>
        </p:txBody>
      </p:sp>
    </p:spTree>
    <p:extLst>
      <p:ext uri="{BB962C8B-B14F-4D97-AF65-F5344CB8AC3E}">
        <p14:creationId xmlns:p14="http://schemas.microsoft.com/office/powerpoint/2010/main" val="3502788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46742" y="249113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latin typeface="Comic Sans MS" panose="030F0702030302020204" pitchFamily="66" charset="0"/>
              </a:rPr>
              <a:t>WALT: </a:t>
            </a:r>
            <a:r>
              <a:rPr lang="en-US" sz="1800" dirty="0">
                <a:latin typeface="Comic Sans MS" panose="030F0702030302020204" pitchFamily="66" charset="0"/>
              </a:rPr>
              <a:t>Use knowledge of square numbers to generate terms in a sequence given it’s position. Use knowledge of multiplication and square numbers to </a:t>
            </a:r>
            <a:r>
              <a:rPr lang="en-US" sz="1800" dirty="0" err="1">
                <a:latin typeface="Comic Sans MS" panose="030F0702030302020204" pitchFamily="66" charset="0"/>
              </a:rPr>
              <a:t>recognise</a:t>
            </a:r>
            <a:r>
              <a:rPr lang="en-US" sz="1800" dirty="0">
                <a:latin typeface="Comic Sans MS" panose="030F0702030302020204" pitchFamily="66" charset="0"/>
              </a:rPr>
              <a:t> cube numbers.</a:t>
            </a:r>
          </a:p>
          <a:p>
            <a:pPr marL="0" indent="0">
              <a:buNone/>
            </a:pPr>
            <a:endParaRPr lang="en-US" sz="18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1800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930" y="1276349"/>
            <a:ext cx="9245274" cy="529862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438400" y="3222171"/>
            <a:ext cx="8853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95371" y="1734456"/>
            <a:ext cx="88537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231085" y="1280291"/>
            <a:ext cx="137885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125</a:t>
            </a:r>
          </a:p>
        </p:txBody>
      </p:sp>
    </p:spTree>
    <p:extLst>
      <p:ext uri="{BB962C8B-B14F-4D97-AF65-F5344CB8AC3E}">
        <p14:creationId xmlns:p14="http://schemas.microsoft.com/office/powerpoint/2010/main" val="2187007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46742" y="249113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Use knowledge of square numbers to generate terms in a sequence given it’s position. Use knowledge of multiplication and square numbers to </a:t>
            </a:r>
            <a:r>
              <a:rPr lang="en-US" dirty="0" err="1">
                <a:latin typeface="Comic Sans MS" panose="030F0702030302020204" pitchFamily="66" charset="0"/>
              </a:rPr>
              <a:t>recognise</a:t>
            </a:r>
            <a:r>
              <a:rPr lang="en-US" dirty="0">
                <a:latin typeface="Comic Sans MS" panose="030F0702030302020204" pitchFamily="66" charset="0"/>
              </a:rPr>
              <a:t> cube numbers.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0097" y="1052513"/>
            <a:ext cx="8837200" cy="186485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902856" y="1630999"/>
            <a:ext cx="13788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4473" y="1630999"/>
            <a:ext cx="13788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06090" y="1630999"/>
            <a:ext cx="13788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27</a:t>
            </a:r>
          </a:p>
        </p:txBody>
      </p:sp>
    </p:spTree>
    <p:extLst>
      <p:ext uri="{BB962C8B-B14F-4D97-AF65-F5344CB8AC3E}">
        <p14:creationId xmlns:p14="http://schemas.microsoft.com/office/powerpoint/2010/main" val="299960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7472" y="1450293"/>
            <a:ext cx="11593512" cy="4297364"/>
          </a:xfrm>
          <a:prstGeom prst="rect">
            <a:avLst/>
          </a:prstGeom>
        </p:spPr>
      </p:pic>
      <p:sp>
        <p:nvSpPr>
          <p:cNvPr id="5" name="Subtitle 2"/>
          <p:cNvSpPr txBox="1">
            <a:spLocks/>
          </p:cNvSpPr>
          <p:nvPr/>
        </p:nvSpPr>
        <p:spPr>
          <a:xfrm>
            <a:off x="246742" y="249113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800" b="1" dirty="0">
                <a:latin typeface="Comic Sans MS" panose="030F0702030302020204" pitchFamily="66" charset="0"/>
              </a:rPr>
              <a:t>WALT: </a:t>
            </a:r>
            <a:r>
              <a:rPr lang="en-US" sz="1800" dirty="0">
                <a:latin typeface="Comic Sans MS" panose="030F0702030302020204" pitchFamily="66" charset="0"/>
              </a:rPr>
              <a:t>Use knowledge of square numbers to generate terms in a sequence given it’s position. Use knowledge of multiplication and square numbers to </a:t>
            </a:r>
            <a:r>
              <a:rPr lang="en-US" sz="1800" dirty="0" err="1">
                <a:latin typeface="Comic Sans MS" panose="030F0702030302020204" pitchFamily="66" charset="0"/>
              </a:rPr>
              <a:t>recognise</a:t>
            </a:r>
            <a:r>
              <a:rPr lang="en-US" sz="1800" dirty="0">
                <a:latin typeface="Comic Sans MS" panose="030F0702030302020204" pitchFamily="66" charset="0"/>
              </a:rPr>
              <a:t> cube numbers.</a:t>
            </a:r>
          </a:p>
          <a:p>
            <a:pPr marL="0" indent="0">
              <a:buNone/>
            </a:pPr>
            <a:endParaRPr lang="en-US" sz="1800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sz="1800" dirty="0">
              <a:latin typeface="Comic Sans MS" panose="030F0702030302020204" pitchFamily="66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558972" y="2627085"/>
            <a:ext cx="2134674" cy="4001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 or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46457" y="2627084"/>
            <a:ext cx="14586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8 or 64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63618" y="3088749"/>
            <a:ext cx="3425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3, 5, 7 … 25, 29 …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4361" y="3084269"/>
            <a:ext cx="34259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Comic Sans MS" panose="030F0702030302020204" pitchFamily="66" charset="0"/>
              </a:rPr>
              <a:t>2, 4, 6, 10 … 62, 66 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31085" y="3758722"/>
            <a:ext cx="21991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FF0000"/>
                </a:solidFill>
                <a:latin typeface="Comic Sans MS" panose="030F0702030302020204" pitchFamily="66" charset="0"/>
              </a:rPr>
              <a:t>125 + 27</a:t>
            </a:r>
          </a:p>
        </p:txBody>
      </p:sp>
    </p:spTree>
    <p:extLst>
      <p:ext uri="{BB962C8B-B14F-4D97-AF65-F5344CB8AC3E}">
        <p14:creationId xmlns:p14="http://schemas.microsoft.com/office/powerpoint/2010/main" val="2283920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2"/>
          <p:cNvSpPr txBox="1">
            <a:spLocks/>
          </p:cNvSpPr>
          <p:nvPr/>
        </p:nvSpPr>
        <p:spPr>
          <a:xfrm>
            <a:off x="246742" y="249113"/>
            <a:ext cx="11494242" cy="622295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>
                <a:latin typeface="Comic Sans MS" panose="030F0702030302020204" pitchFamily="66" charset="0"/>
              </a:rPr>
              <a:t>WALT: </a:t>
            </a:r>
            <a:r>
              <a:rPr lang="en-US" dirty="0">
                <a:latin typeface="Comic Sans MS" panose="030F0702030302020204" pitchFamily="66" charset="0"/>
              </a:rPr>
              <a:t>Use knowledge of square numbers to generate terms in a sequence given it’s position. Use knowledge of multiplication and square numbers to </a:t>
            </a:r>
            <a:r>
              <a:rPr lang="en-US" dirty="0" err="1">
                <a:latin typeface="Comic Sans MS" panose="030F0702030302020204" pitchFamily="66" charset="0"/>
              </a:rPr>
              <a:t>recognise</a:t>
            </a:r>
            <a:r>
              <a:rPr lang="en-US" dirty="0">
                <a:latin typeface="Comic Sans MS" panose="030F0702030302020204" pitchFamily="66" charset="0"/>
              </a:rPr>
              <a:t> cube numbers.</a:t>
            </a: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  <a:p>
            <a:pPr marL="0" indent="0">
              <a:buNone/>
            </a:pPr>
            <a:endParaRPr lang="en-US" dirty="0">
              <a:latin typeface="Comic Sans MS" panose="030F0702030302020204" pitchFamily="66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778" y="1378856"/>
            <a:ext cx="11467015" cy="5007430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0566" y="1647370"/>
            <a:ext cx="7031733" cy="447040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20566" y="1647369"/>
            <a:ext cx="7144109" cy="4593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2525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369</Words>
  <Application>Microsoft Office PowerPoint</Application>
  <PresentationFormat>Widescreen</PresentationFormat>
  <Paragraphs>40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Calibri Light</vt:lpstr>
      <vt:lpstr>Comic Sans MS</vt:lpstr>
      <vt:lpstr>Office Theme</vt:lpstr>
      <vt:lpstr>Maths </vt:lpstr>
      <vt:lpstr>PowerPoint Presentation</vt:lpstr>
      <vt:lpstr>Retrieval 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Maths</dc:title>
  <dc:creator>Jonathan Michael Holliday (VSC-KTiH-MB)</dc:creator>
  <cp:lastModifiedBy>Colette</cp:lastModifiedBy>
  <cp:revision>5</cp:revision>
  <dcterms:created xsi:type="dcterms:W3CDTF">2024-09-04T01:36:23Z</dcterms:created>
  <dcterms:modified xsi:type="dcterms:W3CDTF">2025-09-02T15:18:58Z</dcterms:modified>
</cp:coreProperties>
</file>
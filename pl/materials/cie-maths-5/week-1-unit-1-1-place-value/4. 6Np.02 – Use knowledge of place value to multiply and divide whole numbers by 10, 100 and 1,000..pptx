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97" r:id="rId4"/>
    <p:sldId id="259" r:id="rId5"/>
    <p:sldId id="274" r:id="rId6"/>
    <p:sldId id="284" r:id="rId7"/>
    <p:sldId id="288" r:id="rId8"/>
    <p:sldId id="289" r:id="rId9"/>
    <p:sldId id="291" r:id="rId10"/>
    <p:sldId id="286" r:id="rId11"/>
    <p:sldId id="287" r:id="rId12"/>
    <p:sldId id="290" r:id="rId13"/>
    <p:sldId id="296" r:id="rId14"/>
    <p:sldId id="299" r:id="rId15"/>
    <p:sldId id="294" r:id="rId16"/>
    <p:sldId id="292" r:id="rId17"/>
    <p:sldId id="293" r:id="rId18"/>
    <p:sldId id="275" r:id="rId19"/>
  </p:sldIdLst>
  <p:sldSz cx="12192000" cy="6858000"/>
  <p:notesSz cx="6889750" cy="100203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4A55409-3F01-417C-95F5-A887D11611B0}"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3073141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A55409-3F01-417C-95F5-A887D11611B0}"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227489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4A55409-3F01-417C-95F5-A887D11611B0}"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876515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A55409-3F01-417C-95F5-A887D11611B0}"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3476831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4A55409-3F01-417C-95F5-A887D11611B0}"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978455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A55409-3F01-417C-95F5-A887D11611B0}"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820360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55409-3F01-417C-95F5-A887D11611B0}"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3395619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4A55409-3F01-417C-95F5-A887D11611B0}"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421133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4A55409-3F01-417C-95F5-A887D11611B0}"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876790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A55409-3F01-417C-95F5-A887D11611B0}"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2337149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A55409-3F01-417C-95F5-A887D11611B0}"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97AB4B-861B-4493-9205-C14018D9472D}" type="slidenum">
              <a:rPr lang="en-US" smtClean="0"/>
              <a:t>‹#›</a:t>
            </a:fld>
            <a:endParaRPr lang="en-US"/>
          </a:p>
        </p:txBody>
      </p:sp>
    </p:spTree>
    <p:extLst>
      <p:ext uri="{BB962C8B-B14F-4D97-AF65-F5344CB8AC3E}">
        <p14:creationId xmlns:p14="http://schemas.microsoft.com/office/powerpoint/2010/main" val="1456779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A55409-3F01-417C-95F5-A887D11611B0}" type="datetimeFigureOut">
              <a:rPr lang="en-US" smtClean="0"/>
              <a:t>8/20/2026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97AB4B-861B-4493-9205-C14018D9472D}" type="slidenum">
              <a:rPr lang="en-US" smtClean="0"/>
              <a:t>‹#›</a:t>
            </a:fld>
            <a:endParaRPr lang="en-US"/>
          </a:p>
        </p:txBody>
      </p:sp>
    </p:spTree>
    <p:extLst>
      <p:ext uri="{BB962C8B-B14F-4D97-AF65-F5344CB8AC3E}">
        <p14:creationId xmlns:p14="http://schemas.microsoft.com/office/powerpoint/2010/main" val="3296482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65230" y="-98475"/>
            <a:ext cx="5462954" cy="1667095"/>
          </a:xfrm>
        </p:spPr>
        <p:txBody>
          <a:bodyPr>
            <a:normAutofit/>
          </a:bodyPr>
          <a:lstStyle/>
          <a:p>
            <a:r>
              <a:rPr lang="en-US" sz="9600" dirty="0" err="1">
                <a:latin typeface="Comic Sans MS" panose="030F0702030302020204" pitchFamily="66" charset="0"/>
              </a:rPr>
              <a:t>Maths</a:t>
            </a:r>
            <a:r>
              <a:rPr lang="en-US" sz="9600" dirty="0">
                <a:latin typeface="Comic Sans MS" panose="030F0702030302020204" pitchFamily="66" charset="0"/>
              </a:rPr>
              <a:t> </a:t>
            </a:r>
          </a:p>
        </p:txBody>
      </p:sp>
      <p:sp>
        <p:nvSpPr>
          <p:cNvPr id="3" name="Subtitle 2"/>
          <p:cNvSpPr>
            <a:spLocks noGrp="1"/>
          </p:cNvSpPr>
          <p:nvPr>
            <p:ph type="subTitle" idx="1"/>
          </p:nvPr>
        </p:nvSpPr>
        <p:spPr>
          <a:xfrm>
            <a:off x="737418" y="1568620"/>
            <a:ext cx="10588079" cy="4061472"/>
          </a:xfrm>
        </p:spPr>
        <p:txBody>
          <a:bodyPr>
            <a:normAutofit fontScale="85000" lnSpcReduction="10000"/>
          </a:bodyPr>
          <a:lstStyle/>
          <a:p>
            <a:pPr algn="l"/>
            <a:endParaRPr lang="en-US" sz="5400" dirty="0">
              <a:latin typeface="Comic Sans MS" panose="030F0702030302020204" pitchFamily="66" charset="0"/>
            </a:endParaRPr>
          </a:p>
          <a:p>
            <a:pPr algn="l"/>
            <a:endParaRPr lang="en-US" sz="5400" dirty="0">
              <a:latin typeface="Comic Sans MS" panose="030F0702030302020204" pitchFamily="66" charset="0"/>
            </a:endParaRPr>
          </a:p>
          <a:p>
            <a:pPr algn="l"/>
            <a:r>
              <a:rPr lang="en-US" sz="5400" dirty="0">
                <a:latin typeface="Comic Sans MS" panose="030F0702030302020204" pitchFamily="66" charset="0"/>
              </a:rPr>
              <a:t>20.08.2026</a:t>
            </a:r>
          </a:p>
          <a:p>
            <a:pPr algn="l"/>
            <a:endParaRPr lang="en-US" sz="5400" dirty="0">
              <a:latin typeface="Comic Sans MS" panose="030F0702030302020204" pitchFamily="66" charset="0"/>
            </a:endParaRPr>
          </a:p>
          <a:p>
            <a:pPr algn="l"/>
            <a:r>
              <a:rPr lang="en-US" sz="5400" dirty="0">
                <a:latin typeface="Comic Sans MS" panose="030F0702030302020204" pitchFamily="66" charset="0"/>
              </a:rPr>
              <a:t>WALT: </a:t>
            </a:r>
            <a:r>
              <a:rPr lang="en-US" sz="4000" dirty="0">
                <a:latin typeface="Comic Sans MS" panose="030F0702030302020204" pitchFamily="66" charset="0"/>
              </a:rPr>
              <a:t>Use knowledge of place value to multiply and divide whole numbers by 10, 100 and 1,000.</a:t>
            </a:r>
          </a:p>
        </p:txBody>
      </p:sp>
      <p:sp>
        <p:nvSpPr>
          <p:cNvPr id="4" name="TextBox 3"/>
          <p:cNvSpPr txBox="1"/>
          <p:nvPr/>
        </p:nvSpPr>
        <p:spPr>
          <a:xfrm>
            <a:off x="9135292" y="552174"/>
            <a:ext cx="2756262" cy="369332"/>
          </a:xfrm>
          <a:prstGeom prst="rect">
            <a:avLst/>
          </a:prstGeom>
          <a:noFill/>
        </p:spPr>
        <p:txBody>
          <a:bodyPr wrap="square" rtlCol="0">
            <a:spAutoFit/>
          </a:bodyPr>
          <a:lstStyle/>
          <a:p>
            <a:r>
              <a:rPr lang="en-US" b="1" dirty="0">
                <a:solidFill>
                  <a:srgbClr val="FF0000"/>
                </a:solidFill>
                <a:latin typeface="Comic Sans MS" panose="030F0702030302020204" pitchFamily="66" charset="0"/>
              </a:rPr>
              <a:t>Unit 1.1 – Place Value </a:t>
            </a:r>
          </a:p>
        </p:txBody>
      </p:sp>
    </p:spTree>
    <p:extLst>
      <p:ext uri="{BB962C8B-B14F-4D97-AF65-F5344CB8AC3E}">
        <p14:creationId xmlns:p14="http://schemas.microsoft.com/office/powerpoint/2010/main" val="4254474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omic Sans MS" panose="030F0702030302020204" pitchFamily="66" charset="0"/>
              </a:rPr>
              <a:t>WALT: Use knowledge of place value to multiply and divide whole numbers by 10, 100 and 1,000.</a:t>
            </a:r>
            <a:endParaRPr lang="en-US" dirty="0">
              <a:latin typeface="Comic Sans MS" panose="030F0702030302020204" pitchFamily="66" charset="0"/>
            </a:endParaRPr>
          </a:p>
        </p:txBody>
      </p:sp>
      <p:sp>
        <p:nvSpPr>
          <p:cNvPr id="7" name="Rectangle 6"/>
          <p:cNvSpPr/>
          <p:nvPr/>
        </p:nvSpPr>
        <p:spPr>
          <a:xfrm>
            <a:off x="352697" y="3526971"/>
            <a:ext cx="3435532" cy="2155372"/>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mic Sans MS" panose="030F0702030302020204" pitchFamily="66" charset="0"/>
              </a:rPr>
              <a:t>With support, I can multiply and divide decimal and whole numbers by 10, 100 and 1,000.</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Independently, I can multiply and divide decimal and whole numbers by 10, 100 and 1,000.</a:t>
            </a: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Comic Sans MS" panose="030F0702030302020204" pitchFamily="66" charset="0"/>
              </a:rPr>
              <a:t>I can write my own question when given the answer.</a:t>
            </a:r>
          </a:p>
        </p:txBody>
      </p:sp>
      <p:sp>
        <p:nvSpPr>
          <p:cNvPr id="11" name="TextBox 10"/>
          <p:cNvSpPr txBox="1"/>
          <p:nvPr/>
        </p:nvSpPr>
        <p:spPr>
          <a:xfrm>
            <a:off x="8569234" y="3523282"/>
            <a:ext cx="3221068" cy="461665"/>
          </a:xfrm>
          <a:prstGeom prst="rect">
            <a:avLst/>
          </a:prstGeom>
          <a:noFill/>
        </p:spPr>
        <p:txBody>
          <a:bodyPr wrap="square" rtlCol="0">
            <a:spAutoFit/>
          </a:bodyPr>
          <a:lstStyle/>
          <a:p>
            <a:endParaRPr lang="en-US" sz="2400" b="1" dirty="0">
              <a:latin typeface="Comic Sans MS" panose="030F0702030302020204" pitchFamily="66" charset="0"/>
            </a:endParaRPr>
          </a:p>
        </p:txBody>
      </p:sp>
      <p:pic>
        <p:nvPicPr>
          <p:cNvPr id="10" name="Picture 9">
            <a:extLst>
              <a:ext uri="{FF2B5EF4-FFF2-40B4-BE49-F238E27FC236}">
                <a16:creationId xmlns:a16="http://schemas.microsoft.com/office/drawing/2014/main" id="{8D210CF2-E590-4AEE-BDA5-B348319AFD1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335275" y="1383645"/>
            <a:ext cx="1102890" cy="2123320"/>
          </a:xfrm>
          <a:prstGeom prst="rect">
            <a:avLst/>
          </a:prstGeom>
        </p:spPr>
      </p:pic>
      <p:pic>
        <p:nvPicPr>
          <p:cNvPr id="12" name="Picture 11">
            <a:extLst>
              <a:ext uri="{FF2B5EF4-FFF2-40B4-BE49-F238E27FC236}">
                <a16:creationId xmlns:a16="http://schemas.microsoft.com/office/drawing/2014/main" id="{2B072FBE-BB7D-471A-AA6A-8152596267B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559168" y="1123966"/>
            <a:ext cx="1102890" cy="2305290"/>
          </a:xfrm>
          <a:prstGeom prst="rect">
            <a:avLst/>
          </a:prstGeom>
        </p:spPr>
      </p:pic>
      <p:pic>
        <p:nvPicPr>
          <p:cNvPr id="13" name="Picture 12">
            <a:extLst>
              <a:ext uri="{FF2B5EF4-FFF2-40B4-BE49-F238E27FC236}">
                <a16:creationId xmlns:a16="http://schemas.microsoft.com/office/drawing/2014/main" id="{ABF22869-84F4-4B45-A394-FDD353F27BA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808463" y="1010501"/>
            <a:ext cx="1102890" cy="2496464"/>
          </a:xfrm>
          <a:prstGeom prst="rect">
            <a:avLst/>
          </a:prstGeom>
        </p:spPr>
      </p:pic>
    </p:spTree>
    <p:extLst>
      <p:ext uri="{BB962C8B-B14F-4D97-AF65-F5344CB8AC3E}">
        <p14:creationId xmlns:p14="http://schemas.microsoft.com/office/powerpoint/2010/main" val="1802007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4C1C1-0EDA-422D-964D-0F32F9C9B3A9}"/>
              </a:ext>
            </a:extLst>
          </p:cNvPr>
          <p:cNvSpPr>
            <a:spLocks noGrp="1"/>
          </p:cNvSpPr>
          <p:nvPr>
            <p:ph type="title"/>
          </p:nvPr>
        </p:nvSpPr>
        <p:spPr/>
        <p:txBody>
          <a:bodyPr/>
          <a:lstStyle/>
          <a:p>
            <a:r>
              <a:rPr lang="en-US" dirty="0">
                <a:latin typeface="Comic Sans MS" panose="030F0702030302020204" pitchFamily="66" charset="0"/>
              </a:rPr>
              <a:t>Homework</a:t>
            </a:r>
          </a:p>
        </p:txBody>
      </p:sp>
      <p:sp>
        <p:nvSpPr>
          <p:cNvPr id="3" name="Content Placeholder 2">
            <a:extLst>
              <a:ext uri="{FF2B5EF4-FFF2-40B4-BE49-F238E27FC236}">
                <a16:creationId xmlns:a16="http://schemas.microsoft.com/office/drawing/2014/main" id="{99CD4990-1D68-45C4-B409-66DA91FD91F0}"/>
              </a:ext>
            </a:extLst>
          </p:cNvPr>
          <p:cNvSpPr>
            <a:spLocks noGrp="1"/>
          </p:cNvSpPr>
          <p:nvPr>
            <p:ph idx="1"/>
          </p:nvPr>
        </p:nvSpPr>
        <p:spPr/>
        <p:txBody>
          <a:bodyPr>
            <a:normAutofit/>
          </a:bodyPr>
          <a:lstStyle/>
          <a:p>
            <a:pPr marL="0" indent="0">
              <a:buNone/>
            </a:pPr>
            <a:r>
              <a:rPr lang="en-US" sz="4000" dirty="0">
                <a:latin typeface="Comic Sans MS" panose="030F0702030302020204" pitchFamily="66" charset="0"/>
              </a:rPr>
              <a:t>Complete pages 9 – 13 in your Workbooks.</a:t>
            </a:r>
          </a:p>
          <a:p>
            <a:pPr marL="0" indent="0">
              <a:buNone/>
            </a:pPr>
            <a:endParaRPr lang="en-US" sz="4000" dirty="0">
              <a:latin typeface="Comic Sans MS" panose="030F0702030302020204" pitchFamily="66" charset="0"/>
            </a:endParaRPr>
          </a:p>
          <a:p>
            <a:pPr marL="0" indent="0">
              <a:buNone/>
            </a:pPr>
            <a:r>
              <a:rPr lang="en-US" sz="4000" dirty="0">
                <a:latin typeface="Comic Sans MS" panose="030F0702030302020204" pitchFamily="66" charset="0"/>
              </a:rPr>
              <a:t>Due – Tuesday 25</a:t>
            </a:r>
            <a:r>
              <a:rPr lang="en-US" sz="4000" baseline="30000" dirty="0">
                <a:latin typeface="Comic Sans MS" panose="030F0702030302020204" pitchFamily="66" charset="0"/>
              </a:rPr>
              <a:t>th</a:t>
            </a:r>
            <a:r>
              <a:rPr lang="en-US" sz="4000" dirty="0">
                <a:latin typeface="Comic Sans MS" panose="030F0702030302020204" pitchFamily="66" charset="0"/>
              </a:rPr>
              <a:t> August 2026.</a:t>
            </a:r>
          </a:p>
        </p:txBody>
      </p:sp>
    </p:spTree>
    <p:extLst>
      <p:ext uri="{BB962C8B-B14F-4D97-AF65-F5344CB8AC3E}">
        <p14:creationId xmlns:p14="http://schemas.microsoft.com/office/powerpoint/2010/main" val="376640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606392"/>
            <a:ext cx="10515600" cy="663480"/>
          </a:xfrm>
        </p:spPr>
        <p:txBody>
          <a:bodyPr>
            <a:normAutofit/>
          </a:bodyPr>
          <a:lstStyle/>
          <a:p>
            <a:r>
              <a:rPr lang="en-US" sz="2800" b="1" dirty="0">
                <a:latin typeface="Comic Sans MS" panose="030F0702030302020204" pitchFamily="66" charset="0"/>
              </a:rPr>
              <a:t>Retrieval Practice – </a:t>
            </a:r>
            <a:endParaRPr lang="en-US" sz="2800" dirty="0">
              <a:latin typeface="Comic Sans MS" panose="030F0702030302020204" pitchFamily="66" charset="0"/>
            </a:endParaRPr>
          </a:p>
        </p:txBody>
      </p:sp>
      <p:sp>
        <p:nvSpPr>
          <p:cNvPr id="7" name="Subtitle 2"/>
          <p:cNvSpPr txBox="1">
            <a:spLocks/>
          </p:cNvSpPr>
          <p:nvPr/>
        </p:nvSpPr>
        <p:spPr>
          <a:xfrm>
            <a:off x="204716" y="234752"/>
            <a:ext cx="11402922" cy="3716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graphicFrame>
        <p:nvGraphicFramePr>
          <p:cNvPr id="4" name="Table 5">
            <a:extLst>
              <a:ext uri="{FF2B5EF4-FFF2-40B4-BE49-F238E27FC236}">
                <a16:creationId xmlns:a16="http://schemas.microsoft.com/office/drawing/2014/main" id="{E03CF67C-B741-4132-9699-034ED94D51BC}"/>
              </a:ext>
            </a:extLst>
          </p:cNvPr>
          <p:cNvGraphicFramePr>
            <a:graphicFrameLocks noGrp="1"/>
          </p:cNvGraphicFramePr>
          <p:nvPr>
            <p:extLst>
              <p:ext uri="{D42A27DB-BD31-4B8C-83A1-F6EECF244321}">
                <p14:modId xmlns:p14="http://schemas.microsoft.com/office/powerpoint/2010/main" val="646530441"/>
              </p:ext>
            </p:extLst>
          </p:nvPr>
        </p:nvGraphicFramePr>
        <p:xfrm>
          <a:off x="749302" y="1274922"/>
          <a:ext cx="10313750" cy="5189043"/>
        </p:xfrm>
        <a:graphic>
          <a:graphicData uri="http://schemas.openxmlformats.org/drawingml/2006/table">
            <a:tbl>
              <a:tblPr firstRow="1" bandRow="1">
                <a:tableStyleId>{5C22544A-7EE6-4342-B048-85BDC9FD1C3A}</a:tableStyleId>
              </a:tblPr>
              <a:tblGrid>
                <a:gridCol w="5156875">
                  <a:extLst>
                    <a:ext uri="{9D8B030D-6E8A-4147-A177-3AD203B41FA5}">
                      <a16:colId xmlns:a16="http://schemas.microsoft.com/office/drawing/2014/main" val="4134481629"/>
                    </a:ext>
                  </a:extLst>
                </a:gridCol>
                <a:gridCol w="5156875">
                  <a:extLst>
                    <a:ext uri="{9D8B030D-6E8A-4147-A177-3AD203B41FA5}">
                      <a16:colId xmlns:a16="http://schemas.microsoft.com/office/drawing/2014/main" val="3425758891"/>
                    </a:ext>
                  </a:extLst>
                </a:gridCol>
              </a:tblGrid>
              <a:tr h="2681061">
                <a:tc>
                  <a:txBody>
                    <a:bodyPr/>
                    <a:lstStyle/>
                    <a:p>
                      <a:pPr algn="ctr"/>
                      <a:r>
                        <a:rPr lang="en-US" u="sng" dirty="0">
                          <a:solidFill>
                            <a:schemeClr val="tx1"/>
                          </a:solidFill>
                          <a:latin typeface="Comic Sans MS" panose="030F0702030302020204" pitchFamily="66" charset="0"/>
                        </a:rPr>
                        <a:t>Last Lesson</a:t>
                      </a:r>
                    </a:p>
                    <a:p>
                      <a:pPr algn="ctr"/>
                      <a:endParaRPr lang="en-US" dirty="0">
                        <a:solidFill>
                          <a:schemeClr val="tx1"/>
                        </a:solidFill>
                        <a:latin typeface="Comic Sans MS" panose="030F0702030302020204" pitchFamily="66" charset="0"/>
                      </a:endParaRPr>
                    </a:p>
                    <a:p>
                      <a:pPr algn="ctr"/>
                      <a:r>
                        <a:rPr lang="en-US" dirty="0">
                          <a:solidFill>
                            <a:schemeClr val="tx1"/>
                          </a:solidFill>
                          <a:latin typeface="Comic Sans MS" panose="030F0702030302020204" pitchFamily="66" charset="0"/>
                        </a:rPr>
                        <a:t>What is the value of the underlined number?</a:t>
                      </a:r>
                    </a:p>
                    <a:p>
                      <a:pPr algn="ctr"/>
                      <a:endParaRPr lang="en-US" dirty="0">
                        <a:solidFill>
                          <a:schemeClr val="tx1"/>
                        </a:solidFill>
                        <a:latin typeface="Comic Sans MS" panose="030F0702030302020204" pitchFamily="66" charset="0"/>
                      </a:endParaRPr>
                    </a:p>
                    <a:p>
                      <a:pPr algn="ctr"/>
                      <a:r>
                        <a:rPr lang="en-US" dirty="0">
                          <a:solidFill>
                            <a:schemeClr val="tx1"/>
                          </a:solidFill>
                          <a:latin typeface="Comic Sans MS" panose="030F0702030302020204" pitchFamily="66" charset="0"/>
                        </a:rPr>
                        <a:t>33,234.53</a:t>
                      </a:r>
                      <a:r>
                        <a:rPr lang="en-US" u="sng" dirty="0">
                          <a:solidFill>
                            <a:schemeClr val="tx1"/>
                          </a:solidFill>
                          <a:latin typeface="Comic Sans MS" panose="030F0702030302020204" pitchFamily="66"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u="sng" dirty="0">
                          <a:solidFill>
                            <a:schemeClr val="tx1"/>
                          </a:solidFill>
                          <a:latin typeface="Comic Sans MS" panose="030F0702030302020204" pitchFamily="66" charset="0"/>
                        </a:rPr>
                        <a:t>Last Lesson</a:t>
                      </a:r>
                    </a:p>
                    <a:p>
                      <a:pPr algn="ctr"/>
                      <a:endParaRPr lang="en-US" u="sng" dirty="0">
                        <a:solidFill>
                          <a:schemeClr val="tx1"/>
                        </a:solidFill>
                        <a:latin typeface="Comic Sans MS" panose="030F0702030302020204" pitchFamily="66" charset="0"/>
                      </a:endParaRPr>
                    </a:p>
                    <a:p>
                      <a:pPr algn="ctr"/>
                      <a:r>
                        <a:rPr lang="en-US" u="none" dirty="0">
                          <a:solidFill>
                            <a:schemeClr val="tx1"/>
                          </a:solidFill>
                          <a:latin typeface="Comic Sans MS" panose="030F0702030302020204" pitchFamily="66" charset="0"/>
                        </a:rPr>
                        <a:t>Mr. Jon thinks of a number. </a:t>
                      </a:r>
                    </a:p>
                    <a:p>
                      <a:pPr marL="285750" indent="-285750" algn="ctr">
                        <a:buFont typeface="Arial" panose="020B0604020202020204" pitchFamily="34" charset="0"/>
                        <a:buChar char="•"/>
                      </a:pPr>
                      <a:r>
                        <a:rPr lang="en-US" u="none" dirty="0">
                          <a:solidFill>
                            <a:schemeClr val="tx1"/>
                          </a:solidFill>
                          <a:latin typeface="Comic Sans MS" panose="030F0702030302020204" pitchFamily="66" charset="0"/>
                        </a:rPr>
                        <a:t>It is greater than 45.</a:t>
                      </a:r>
                    </a:p>
                    <a:p>
                      <a:pPr marL="285750" indent="-285750" algn="ctr">
                        <a:buFont typeface="Arial" panose="020B0604020202020204" pitchFamily="34" charset="0"/>
                        <a:buChar char="•"/>
                      </a:pPr>
                      <a:r>
                        <a:rPr lang="en-US" u="none" dirty="0">
                          <a:solidFill>
                            <a:schemeClr val="tx1"/>
                          </a:solidFill>
                          <a:latin typeface="Comic Sans MS" panose="030F0702030302020204" pitchFamily="66" charset="0"/>
                        </a:rPr>
                        <a:t>Has an even number in the tenths and hundredths.</a:t>
                      </a:r>
                    </a:p>
                    <a:p>
                      <a:pPr marL="285750" indent="-285750" algn="ctr">
                        <a:buFont typeface="Arial" panose="020B0604020202020204" pitchFamily="34" charset="0"/>
                        <a:buChar char="•"/>
                      </a:pPr>
                      <a:r>
                        <a:rPr lang="en-US" u="none" dirty="0">
                          <a:solidFill>
                            <a:schemeClr val="tx1"/>
                          </a:solidFill>
                          <a:latin typeface="Comic Sans MS" panose="030F0702030302020204" pitchFamily="66" charset="0"/>
                        </a:rPr>
                        <a:t>Rounds to 60 when rounding to the nearest 10.</a:t>
                      </a:r>
                    </a:p>
                    <a:p>
                      <a:pPr marL="0" indent="0" algn="ctr">
                        <a:buFont typeface="Arial" panose="020B0604020202020204" pitchFamily="34" charset="0"/>
                        <a:buNone/>
                      </a:pPr>
                      <a:r>
                        <a:rPr lang="en-US" u="none" dirty="0">
                          <a:solidFill>
                            <a:schemeClr val="tx1"/>
                          </a:solidFill>
                          <a:latin typeface="Comic Sans MS" panose="030F0702030302020204" pitchFamily="66" charset="0"/>
                        </a:rPr>
                        <a:t>What could his number be?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0186418"/>
                  </a:ext>
                </a:extLst>
              </a:tr>
              <a:tr h="2507982">
                <a:tc>
                  <a:txBody>
                    <a:bodyPr/>
                    <a:lstStyle/>
                    <a:p>
                      <a:pPr algn="ctr"/>
                      <a:r>
                        <a:rPr lang="en-US" b="1" u="sng" dirty="0">
                          <a:latin typeface="Comic Sans MS" panose="030F0702030302020204" pitchFamily="66" charset="0"/>
                        </a:rPr>
                        <a:t>Last Year</a:t>
                      </a:r>
                    </a:p>
                    <a:p>
                      <a:pPr algn="ctr"/>
                      <a:endParaRPr lang="en-US" b="1" u="sng" dirty="0">
                        <a:latin typeface="Comic Sans MS" panose="030F0702030302020204" pitchFamily="66" charset="0"/>
                      </a:endParaRPr>
                    </a:p>
                    <a:p>
                      <a:pPr algn="ctr"/>
                      <a:r>
                        <a:rPr lang="en-US" b="1" u="none" dirty="0">
                          <a:latin typeface="Comic Sans MS" panose="030F0702030302020204" pitchFamily="66" charset="0"/>
                        </a:rPr>
                        <a:t>Here is a sequence:</a:t>
                      </a:r>
                    </a:p>
                    <a:p>
                      <a:pPr algn="ctr"/>
                      <a:endParaRPr lang="en-US" b="1" u="none" dirty="0">
                        <a:latin typeface="Comic Sans MS" panose="030F0702030302020204" pitchFamily="66" charset="0"/>
                      </a:endParaRPr>
                    </a:p>
                    <a:p>
                      <a:pPr algn="ctr"/>
                      <a:r>
                        <a:rPr lang="en-US" b="1" u="none" dirty="0">
                          <a:latin typeface="Comic Sans MS" panose="030F0702030302020204" pitchFamily="66" charset="0"/>
                        </a:rPr>
                        <a:t>1, 5, 9, 13, 17</a:t>
                      </a:r>
                    </a:p>
                    <a:p>
                      <a:pPr algn="ctr"/>
                      <a:endParaRPr lang="en-US" b="1" u="none" dirty="0">
                        <a:latin typeface="Comic Sans MS" panose="030F0702030302020204" pitchFamily="66" charset="0"/>
                      </a:endParaRPr>
                    </a:p>
                    <a:p>
                      <a:pPr algn="ctr"/>
                      <a:r>
                        <a:rPr lang="en-US" b="1" u="none" dirty="0">
                          <a:latin typeface="Comic Sans MS" panose="030F0702030302020204" pitchFamily="66" charset="0"/>
                        </a:rPr>
                        <a:t>The rule is ‘add 4’.  Write the next 3 terms.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u="sng" dirty="0">
                          <a:solidFill>
                            <a:schemeClr val="tx1"/>
                          </a:solidFill>
                          <a:latin typeface="Comic Sans MS" panose="030F0702030302020204" pitchFamily="66" charset="0"/>
                        </a:rPr>
                        <a:t>Last Year</a:t>
                      </a:r>
                    </a:p>
                    <a:p>
                      <a:pPr algn="ctr"/>
                      <a:endParaRPr lang="en-US" b="1" u="sng" dirty="0">
                        <a:solidFill>
                          <a:schemeClr val="tx1"/>
                        </a:solidFill>
                        <a:latin typeface="Comic Sans MS" panose="030F0702030302020204" pitchFamily="66" charset="0"/>
                      </a:endParaRPr>
                    </a:p>
                    <a:p>
                      <a:pPr algn="ctr"/>
                      <a:r>
                        <a:rPr lang="en-US" b="1" u="none" dirty="0">
                          <a:solidFill>
                            <a:schemeClr val="tx1"/>
                          </a:solidFill>
                          <a:latin typeface="Comic Sans MS" panose="030F0702030302020204" pitchFamily="66" charset="0"/>
                        </a:rPr>
                        <a:t>Write the number is words and digits.</a:t>
                      </a:r>
                    </a:p>
                    <a:p>
                      <a:pPr algn="ctr"/>
                      <a:endParaRPr lang="en-US" b="1" u="none" dirty="0">
                        <a:solidFill>
                          <a:schemeClr val="tx1"/>
                        </a:solidFill>
                        <a:latin typeface="Comic Sans MS" panose="030F0702030302020204" pitchFamily="66" charset="0"/>
                      </a:endParaRPr>
                    </a:p>
                    <a:p>
                      <a:pPr algn="ctr"/>
                      <a:r>
                        <a:rPr lang="en-US" b="1" u="none" dirty="0">
                          <a:solidFill>
                            <a:schemeClr val="tx1"/>
                          </a:solidFill>
                          <a:latin typeface="Comic Sans MS" panose="030F0702030302020204" pitchFamily="66" charset="0"/>
                        </a:rPr>
                        <a:t>40,000 + 5,000 + 80 + 0.2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8493824"/>
                  </a:ext>
                </a:extLst>
              </a:tr>
            </a:tbl>
          </a:graphicData>
        </a:graphic>
      </p:graphicFrame>
      <p:sp>
        <p:nvSpPr>
          <p:cNvPr id="6" name="TextBox 5">
            <a:extLst>
              <a:ext uri="{FF2B5EF4-FFF2-40B4-BE49-F238E27FC236}">
                <a16:creationId xmlns:a16="http://schemas.microsoft.com/office/drawing/2014/main" id="{9E95655F-0BB5-4A7E-8872-E12AACEB5917}"/>
              </a:ext>
            </a:extLst>
          </p:cNvPr>
          <p:cNvSpPr txBox="1"/>
          <p:nvPr/>
        </p:nvSpPr>
        <p:spPr>
          <a:xfrm>
            <a:off x="1203158" y="3059668"/>
            <a:ext cx="1760418" cy="369332"/>
          </a:xfrm>
          <a:prstGeom prst="rect">
            <a:avLst/>
          </a:prstGeom>
          <a:noFill/>
        </p:spPr>
        <p:txBody>
          <a:bodyPr wrap="none" rtlCol="0">
            <a:spAutoFit/>
          </a:bodyPr>
          <a:lstStyle/>
          <a:p>
            <a:r>
              <a:rPr lang="en-US" b="1" dirty="0">
                <a:solidFill>
                  <a:srgbClr val="FF0000"/>
                </a:solidFill>
                <a:latin typeface="Comic Sans MS" panose="030F0702030302020204" pitchFamily="66" charset="0"/>
              </a:rPr>
              <a:t>9 thousandths</a:t>
            </a:r>
          </a:p>
        </p:txBody>
      </p:sp>
      <p:sp>
        <p:nvSpPr>
          <p:cNvPr id="9" name="TextBox 8">
            <a:extLst>
              <a:ext uri="{FF2B5EF4-FFF2-40B4-BE49-F238E27FC236}">
                <a16:creationId xmlns:a16="http://schemas.microsoft.com/office/drawing/2014/main" id="{82BCB648-4775-44E5-B4C4-816107DF0C07}"/>
              </a:ext>
            </a:extLst>
          </p:cNvPr>
          <p:cNvSpPr txBox="1"/>
          <p:nvPr/>
        </p:nvSpPr>
        <p:spPr>
          <a:xfrm>
            <a:off x="3829250" y="3059668"/>
            <a:ext cx="848309" cy="369332"/>
          </a:xfrm>
          <a:prstGeom prst="rect">
            <a:avLst/>
          </a:prstGeom>
          <a:noFill/>
        </p:spPr>
        <p:txBody>
          <a:bodyPr wrap="none" rtlCol="0">
            <a:spAutoFit/>
          </a:bodyPr>
          <a:lstStyle/>
          <a:p>
            <a:r>
              <a:rPr lang="en-US" b="1" dirty="0">
                <a:solidFill>
                  <a:srgbClr val="FF0000"/>
                </a:solidFill>
                <a:latin typeface="Comic Sans MS" panose="030F0702030302020204" pitchFamily="66" charset="0"/>
              </a:rPr>
              <a:t>0.009</a:t>
            </a:r>
          </a:p>
        </p:txBody>
      </p:sp>
      <p:sp>
        <p:nvSpPr>
          <p:cNvPr id="11" name="TextBox 10">
            <a:extLst>
              <a:ext uri="{FF2B5EF4-FFF2-40B4-BE49-F238E27FC236}">
                <a16:creationId xmlns:a16="http://schemas.microsoft.com/office/drawing/2014/main" id="{76CD38B4-B7C5-4D98-AC90-BF8A4DF8D3A1}"/>
              </a:ext>
            </a:extLst>
          </p:cNvPr>
          <p:cNvSpPr txBox="1"/>
          <p:nvPr/>
        </p:nvSpPr>
        <p:spPr>
          <a:xfrm>
            <a:off x="2626092" y="6109672"/>
            <a:ext cx="1428596" cy="369332"/>
          </a:xfrm>
          <a:prstGeom prst="rect">
            <a:avLst/>
          </a:prstGeom>
          <a:noFill/>
        </p:spPr>
        <p:txBody>
          <a:bodyPr wrap="none" rtlCol="0">
            <a:spAutoFit/>
          </a:bodyPr>
          <a:lstStyle/>
          <a:p>
            <a:r>
              <a:rPr lang="en-US" b="1" dirty="0">
                <a:solidFill>
                  <a:srgbClr val="FF0000"/>
                </a:solidFill>
                <a:latin typeface="Comic Sans MS" panose="030F0702030302020204" pitchFamily="66" charset="0"/>
              </a:rPr>
              <a:t>21, 25, 29</a:t>
            </a:r>
          </a:p>
        </p:txBody>
      </p:sp>
      <p:sp>
        <p:nvSpPr>
          <p:cNvPr id="12" name="TextBox 11">
            <a:extLst>
              <a:ext uri="{FF2B5EF4-FFF2-40B4-BE49-F238E27FC236}">
                <a16:creationId xmlns:a16="http://schemas.microsoft.com/office/drawing/2014/main" id="{2C975FC4-1DBC-4C74-ADD4-C969D5A11D28}"/>
              </a:ext>
            </a:extLst>
          </p:cNvPr>
          <p:cNvSpPr txBox="1"/>
          <p:nvPr/>
        </p:nvSpPr>
        <p:spPr>
          <a:xfrm>
            <a:off x="6096000" y="5502880"/>
            <a:ext cx="5133136" cy="369332"/>
          </a:xfrm>
          <a:prstGeom prst="rect">
            <a:avLst/>
          </a:prstGeom>
          <a:noFill/>
        </p:spPr>
        <p:txBody>
          <a:bodyPr wrap="none" rtlCol="0">
            <a:spAutoFit/>
          </a:bodyPr>
          <a:lstStyle/>
          <a:p>
            <a:r>
              <a:rPr lang="en-US" b="1" dirty="0">
                <a:solidFill>
                  <a:srgbClr val="FF0000"/>
                </a:solidFill>
                <a:latin typeface="Comic Sans MS" panose="030F0702030302020204" pitchFamily="66" charset="0"/>
              </a:rPr>
              <a:t>Forty-five thousand and eighty, point two. </a:t>
            </a:r>
          </a:p>
        </p:txBody>
      </p:sp>
      <p:sp>
        <p:nvSpPr>
          <p:cNvPr id="13" name="TextBox 12">
            <a:extLst>
              <a:ext uri="{FF2B5EF4-FFF2-40B4-BE49-F238E27FC236}">
                <a16:creationId xmlns:a16="http://schemas.microsoft.com/office/drawing/2014/main" id="{A4927190-A41F-4DF4-B4A4-CB5A602A02DB}"/>
              </a:ext>
            </a:extLst>
          </p:cNvPr>
          <p:cNvSpPr txBox="1"/>
          <p:nvPr/>
        </p:nvSpPr>
        <p:spPr>
          <a:xfrm>
            <a:off x="7669731" y="5925006"/>
            <a:ext cx="1229824" cy="369332"/>
          </a:xfrm>
          <a:prstGeom prst="rect">
            <a:avLst/>
          </a:prstGeom>
          <a:noFill/>
        </p:spPr>
        <p:txBody>
          <a:bodyPr wrap="none" rtlCol="0">
            <a:spAutoFit/>
          </a:bodyPr>
          <a:lstStyle/>
          <a:p>
            <a:r>
              <a:rPr lang="en-US" b="1" dirty="0">
                <a:solidFill>
                  <a:srgbClr val="FF0000"/>
                </a:solidFill>
                <a:latin typeface="Comic Sans MS" panose="030F0702030302020204" pitchFamily="66" charset="0"/>
              </a:rPr>
              <a:t>45,080.2</a:t>
            </a:r>
          </a:p>
        </p:txBody>
      </p:sp>
    </p:spTree>
    <p:extLst>
      <p:ext uri="{BB962C8B-B14F-4D97-AF65-F5344CB8AC3E}">
        <p14:creationId xmlns:p14="http://schemas.microsoft.com/office/powerpoint/2010/main" val="404665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496" y="1143047"/>
            <a:ext cx="10515600" cy="1325563"/>
          </a:xfrm>
        </p:spPr>
        <p:txBody>
          <a:bodyPr/>
          <a:lstStyle/>
          <a:p>
            <a:r>
              <a:rPr lang="en-US" dirty="0">
                <a:latin typeface="Comic Sans MS" panose="030F0702030302020204" pitchFamily="66" charset="0"/>
              </a:rPr>
              <a:t>Starter – Match the equivalent calculations. </a:t>
            </a:r>
          </a:p>
        </p:txBody>
      </p:sp>
      <p:sp>
        <p:nvSpPr>
          <p:cNvPr id="6"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mic Sans MS" panose="030F0702030302020204" pitchFamily="66" charset="0"/>
              </a:rPr>
              <a:t>WALT: Use knowledge of place value to multiply and divide whole numbers by 10, 100 and 1,000.</a:t>
            </a:r>
          </a:p>
        </p:txBody>
      </p:sp>
      <p:sp>
        <p:nvSpPr>
          <p:cNvPr id="3" name="TextBox 2"/>
          <p:cNvSpPr txBox="1"/>
          <p:nvPr/>
        </p:nvSpPr>
        <p:spPr>
          <a:xfrm>
            <a:off x="1274929" y="3179928"/>
            <a:ext cx="2478205" cy="707886"/>
          </a:xfrm>
          <a:prstGeom prst="rect">
            <a:avLst/>
          </a:prstGeom>
          <a:noFill/>
        </p:spPr>
        <p:txBody>
          <a:bodyPr wrap="square" rtlCol="0">
            <a:spAutoFit/>
          </a:bodyPr>
          <a:lstStyle/>
          <a:p>
            <a:r>
              <a:rPr lang="en-US" sz="4000" dirty="0">
                <a:latin typeface="Comic Sans MS" panose="030F0702030302020204" pitchFamily="66" charset="0"/>
              </a:rPr>
              <a:t>X 100</a:t>
            </a:r>
          </a:p>
        </p:txBody>
      </p:sp>
      <p:sp>
        <p:nvSpPr>
          <p:cNvPr id="7" name="TextBox 6"/>
          <p:cNvSpPr txBox="1"/>
          <p:nvPr/>
        </p:nvSpPr>
        <p:spPr>
          <a:xfrm>
            <a:off x="8237562" y="5038299"/>
            <a:ext cx="2478205" cy="707886"/>
          </a:xfrm>
          <a:prstGeom prst="rect">
            <a:avLst/>
          </a:prstGeom>
          <a:noFill/>
        </p:spPr>
        <p:txBody>
          <a:bodyPr wrap="square" rtlCol="0">
            <a:spAutoFit/>
          </a:bodyPr>
          <a:lstStyle/>
          <a:p>
            <a:r>
              <a:rPr lang="en-US" sz="4000" dirty="0">
                <a:latin typeface="Comic Sans MS" panose="030F0702030302020204" pitchFamily="66" charset="0"/>
              </a:rPr>
              <a:t>X 10 X 10</a:t>
            </a:r>
          </a:p>
        </p:txBody>
      </p:sp>
      <p:sp>
        <p:nvSpPr>
          <p:cNvPr id="8" name="TextBox 7"/>
          <p:cNvSpPr txBox="1"/>
          <p:nvPr/>
        </p:nvSpPr>
        <p:spPr>
          <a:xfrm>
            <a:off x="8338783" y="3179928"/>
            <a:ext cx="3268856" cy="707886"/>
          </a:xfrm>
          <a:prstGeom prst="rect">
            <a:avLst/>
          </a:prstGeom>
          <a:noFill/>
        </p:spPr>
        <p:txBody>
          <a:bodyPr wrap="square" rtlCol="0">
            <a:spAutoFit/>
          </a:bodyPr>
          <a:lstStyle/>
          <a:p>
            <a:r>
              <a:rPr lang="en-US" sz="4000" dirty="0">
                <a:latin typeface="Comic Sans MS" panose="030F0702030302020204" pitchFamily="66" charset="0"/>
              </a:rPr>
              <a:t>X 100 ÷ 10</a:t>
            </a:r>
          </a:p>
        </p:txBody>
      </p:sp>
      <p:sp>
        <p:nvSpPr>
          <p:cNvPr id="9" name="TextBox 8"/>
          <p:cNvSpPr txBox="1"/>
          <p:nvPr/>
        </p:nvSpPr>
        <p:spPr>
          <a:xfrm>
            <a:off x="3753134" y="5038299"/>
            <a:ext cx="3807726" cy="707886"/>
          </a:xfrm>
          <a:prstGeom prst="rect">
            <a:avLst/>
          </a:prstGeom>
          <a:noFill/>
        </p:spPr>
        <p:txBody>
          <a:bodyPr wrap="square" rtlCol="0">
            <a:spAutoFit/>
          </a:bodyPr>
          <a:lstStyle/>
          <a:p>
            <a:r>
              <a:rPr lang="en-US" sz="4000" dirty="0">
                <a:latin typeface="Comic Sans MS" panose="030F0702030302020204" pitchFamily="66" charset="0"/>
              </a:rPr>
              <a:t>X 1,000 ÷ 100</a:t>
            </a:r>
          </a:p>
        </p:txBody>
      </p:sp>
      <p:sp>
        <p:nvSpPr>
          <p:cNvPr id="10" name="TextBox 9"/>
          <p:cNvSpPr txBox="1"/>
          <p:nvPr/>
        </p:nvSpPr>
        <p:spPr>
          <a:xfrm>
            <a:off x="1384111" y="5038299"/>
            <a:ext cx="2478205" cy="707886"/>
          </a:xfrm>
          <a:prstGeom prst="rect">
            <a:avLst/>
          </a:prstGeom>
          <a:noFill/>
        </p:spPr>
        <p:txBody>
          <a:bodyPr wrap="square" rtlCol="0">
            <a:spAutoFit/>
          </a:bodyPr>
          <a:lstStyle/>
          <a:p>
            <a:r>
              <a:rPr lang="en-US" sz="4000" dirty="0">
                <a:latin typeface="Comic Sans MS" panose="030F0702030302020204" pitchFamily="66" charset="0"/>
              </a:rPr>
              <a:t>÷ 10</a:t>
            </a:r>
          </a:p>
        </p:txBody>
      </p:sp>
      <p:sp>
        <p:nvSpPr>
          <p:cNvPr id="11" name="TextBox 10"/>
          <p:cNvSpPr txBox="1"/>
          <p:nvPr/>
        </p:nvSpPr>
        <p:spPr>
          <a:xfrm>
            <a:off x="3794077" y="3179928"/>
            <a:ext cx="3944203" cy="707886"/>
          </a:xfrm>
          <a:prstGeom prst="rect">
            <a:avLst/>
          </a:prstGeom>
          <a:noFill/>
        </p:spPr>
        <p:txBody>
          <a:bodyPr wrap="square" rtlCol="0">
            <a:spAutoFit/>
          </a:bodyPr>
          <a:lstStyle/>
          <a:p>
            <a:r>
              <a:rPr lang="en-US" sz="4000" dirty="0">
                <a:latin typeface="Comic Sans MS" panose="030F0702030302020204" pitchFamily="66" charset="0"/>
              </a:rPr>
              <a:t>X 100 ÷ 1,000 </a:t>
            </a:r>
          </a:p>
        </p:txBody>
      </p:sp>
      <p:cxnSp>
        <p:nvCxnSpPr>
          <p:cNvPr id="13" name="Straight Connector 12"/>
          <p:cNvCxnSpPr/>
          <p:nvPr/>
        </p:nvCxnSpPr>
        <p:spPr>
          <a:xfrm>
            <a:off x="2402006" y="3887814"/>
            <a:ext cx="6100549" cy="1150485"/>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2623213" y="3847109"/>
            <a:ext cx="2564074" cy="133904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endCxn id="9" idx="0"/>
          </p:cNvCxnSpPr>
          <p:nvPr/>
        </p:nvCxnSpPr>
        <p:spPr>
          <a:xfrm flipH="1">
            <a:off x="5656997" y="3874003"/>
            <a:ext cx="4252698" cy="1164296"/>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5350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down)">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9166" y="671333"/>
            <a:ext cx="10515600" cy="1325563"/>
          </a:xfrm>
        </p:spPr>
        <p:txBody>
          <a:bodyPr>
            <a:normAutofit/>
          </a:bodyPr>
          <a:lstStyle/>
          <a:p>
            <a:r>
              <a:rPr lang="en-US" sz="4000" dirty="0">
                <a:latin typeface="Comic Sans MS" panose="030F0702030302020204" pitchFamily="66" charset="0"/>
              </a:rPr>
              <a:t>How do we multiply by 10?</a:t>
            </a:r>
          </a:p>
        </p:txBody>
      </p:sp>
      <p:sp>
        <p:nvSpPr>
          <p:cNvPr id="6" name="Subtitle 2"/>
          <p:cNvSpPr txBox="1">
            <a:spLocks/>
          </p:cNvSpPr>
          <p:nvPr/>
        </p:nvSpPr>
        <p:spPr>
          <a:xfrm>
            <a:off x="204716" y="234752"/>
            <a:ext cx="11402922" cy="6302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pic>
        <p:nvPicPr>
          <p:cNvPr id="3" name="Picture 2"/>
          <p:cNvPicPr>
            <a:picLocks noChangeAspect="1"/>
          </p:cNvPicPr>
          <p:nvPr/>
        </p:nvPicPr>
        <p:blipFill>
          <a:blip r:embed="rId2"/>
          <a:stretch>
            <a:fillRect/>
          </a:stretch>
        </p:blipFill>
        <p:spPr>
          <a:xfrm>
            <a:off x="204716" y="2170499"/>
            <a:ext cx="11533453" cy="2698777"/>
          </a:xfrm>
          <a:prstGeom prst="rect">
            <a:avLst/>
          </a:prstGeom>
        </p:spPr>
      </p:pic>
      <p:sp>
        <p:nvSpPr>
          <p:cNvPr id="4" name="TextBox 3"/>
          <p:cNvSpPr txBox="1"/>
          <p:nvPr/>
        </p:nvSpPr>
        <p:spPr>
          <a:xfrm>
            <a:off x="1471851" y="5134574"/>
            <a:ext cx="9421552"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We move every digit one place to the left.</a:t>
            </a:r>
          </a:p>
        </p:txBody>
      </p:sp>
      <p:sp>
        <p:nvSpPr>
          <p:cNvPr id="7" name="TextBox 6">
            <a:extLst>
              <a:ext uri="{FF2B5EF4-FFF2-40B4-BE49-F238E27FC236}">
                <a16:creationId xmlns:a16="http://schemas.microsoft.com/office/drawing/2014/main" id="{4CFDED23-146D-494C-8D20-CD42ADCB0421}"/>
              </a:ext>
            </a:extLst>
          </p:cNvPr>
          <p:cNvSpPr txBox="1"/>
          <p:nvPr/>
        </p:nvSpPr>
        <p:spPr>
          <a:xfrm>
            <a:off x="1471851" y="5984647"/>
            <a:ext cx="9421552" cy="707886"/>
          </a:xfrm>
          <a:prstGeom prst="rect">
            <a:avLst/>
          </a:prstGeom>
          <a:noFill/>
        </p:spPr>
        <p:txBody>
          <a:bodyPr wrap="square" rtlCol="0">
            <a:spAutoFit/>
          </a:bodyPr>
          <a:lstStyle/>
          <a:p>
            <a:r>
              <a:rPr lang="en-US" sz="4000" b="1" dirty="0">
                <a:latin typeface="Comic Sans MS" panose="030F0702030302020204" pitchFamily="66" charset="0"/>
              </a:rPr>
              <a:t>54.2 x 10 =</a:t>
            </a:r>
          </a:p>
        </p:txBody>
      </p:sp>
    </p:spTree>
    <p:extLst>
      <p:ext uri="{BB962C8B-B14F-4D97-AF65-F5344CB8AC3E}">
        <p14:creationId xmlns:p14="http://schemas.microsoft.com/office/powerpoint/2010/main" val="1462278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728795"/>
            <a:ext cx="10515600" cy="1325563"/>
          </a:xfrm>
        </p:spPr>
        <p:txBody>
          <a:bodyPr/>
          <a:lstStyle/>
          <a:p>
            <a:r>
              <a:rPr lang="en-US" dirty="0">
                <a:latin typeface="Comic Sans MS" panose="030F0702030302020204" pitchFamily="66" charset="0"/>
              </a:rPr>
              <a:t>How do we multiply by 100?</a:t>
            </a:r>
          </a:p>
        </p:txBody>
      </p:sp>
      <p:sp>
        <p:nvSpPr>
          <p:cNvPr id="6" name="Subtitle 2"/>
          <p:cNvSpPr txBox="1">
            <a:spLocks/>
          </p:cNvSpPr>
          <p:nvPr/>
        </p:nvSpPr>
        <p:spPr>
          <a:xfrm>
            <a:off x="204716" y="267511"/>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pic>
        <p:nvPicPr>
          <p:cNvPr id="3" name="Picture 2"/>
          <p:cNvPicPr>
            <a:picLocks noChangeAspect="1"/>
          </p:cNvPicPr>
          <p:nvPr/>
        </p:nvPicPr>
        <p:blipFill>
          <a:blip r:embed="rId2"/>
          <a:stretch>
            <a:fillRect/>
          </a:stretch>
        </p:blipFill>
        <p:spPr>
          <a:xfrm>
            <a:off x="329273" y="2079611"/>
            <a:ext cx="11533453" cy="2698777"/>
          </a:xfrm>
          <a:prstGeom prst="rect">
            <a:avLst/>
          </a:prstGeom>
        </p:spPr>
      </p:pic>
      <p:sp>
        <p:nvSpPr>
          <p:cNvPr id="4" name="TextBox 3"/>
          <p:cNvSpPr txBox="1"/>
          <p:nvPr/>
        </p:nvSpPr>
        <p:spPr>
          <a:xfrm>
            <a:off x="1796117" y="4951694"/>
            <a:ext cx="9638695"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We move every digit two places to the left.</a:t>
            </a:r>
          </a:p>
        </p:txBody>
      </p:sp>
      <p:sp>
        <p:nvSpPr>
          <p:cNvPr id="7" name="TextBox 6">
            <a:extLst>
              <a:ext uri="{FF2B5EF4-FFF2-40B4-BE49-F238E27FC236}">
                <a16:creationId xmlns:a16="http://schemas.microsoft.com/office/drawing/2014/main" id="{E421106C-A731-4F4B-A2FD-208391316182}"/>
              </a:ext>
            </a:extLst>
          </p:cNvPr>
          <p:cNvSpPr txBox="1"/>
          <p:nvPr/>
        </p:nvSpPr>
        <p:spPr>
          <a:xfrm>
            <a:off x="1796117" y="5882603"/>
            <a:ext cx="9421552" cy="707886"/>
          </a:xfrm>
          <a:prstGeom prst="rect">
            <a:avLst/>
          </a:prstGeom>
          <a:noFill/>
        </p:spPr>
        <p:txBody>
          <a:bodyPr wrap="square" rtlCol="0">
            <a:spAutoFit/>
          </a:bodyPr>
          <a:lstStyle/>
          <a:p>
            <a:r>
              <a:rPr lang="en-US" sz="4000" b="1" dirty="0">
                <a:latin typeface="Comic Sans MS" panose="030F0702030302020204" pitchFamily="66" charset="0"/>
              </a:rPr>
              <a:t>54.2 x 100 =</a:t>
            </a:r>
          </a:p>
        </p:txBody>
      </p:sp>
    </p:spTree>
    <p:extLst>
      <p:ext uri="{BB962C8B-B14F-4D97-AF65-F5344CB8AC3E}">
        <p14:creationId xmlns:p14="http://schemas.microsoft.com/office/powerpoint/2010/main" val="3379384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47" y="638575"/>
            <a:ext cx="10515600" cy="1325563"/>
          </a:xfrm>
        </p:spPr>
        <p:txBody>
          <a:bodyPr/>
          <a:lstStyle/>
          <a:p>
            <a:r>
              <a:rPr lang="en-US" dirty="0">
                <a:latin typeface="Comic Sans MS" panose="030F0702030302020204" pitchFamily="66" charset="0"/>
              </a:rPr>
              <a:t>How do we multiply by 1,000?</a:t>
            </a:r>
          </a:p>
        </p:txBody>
      </p:sp>
      <p:sp>
        <p:nvSpPr>
          <p:cNvPr id="6"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pic>
        <p:nvPicPr>
          <p:cNvPr id="3" name="Picture 2"/>
          <p:cNvPicPr>
            <a:picLocks noChangeAspect="1"/>
          </p:cNvPicPr>
          <p:nvPr/>
        </p:nvPicPr>
        <p:blipFill>
          <a:blip r:embed="rId2"/>
          <a:stretch>
            <a:fillRect/>
          </a:stretch>
        </p:blipFill>
        <p:spPr>
          <a:xfrm>
            <a:off x="239482" y="2195086"/>
            <a:ext cx="11533453" cy="2698777"/>
          </a:xfrm>
          <a:prstGeom prst="rect">
            <a:avLst/>
          </a:prstGeom>
        </p:spPr>
      </p:pic>
      <p:sp>
        <p:nvSpPr>
          <p:cNvPr id="4" name="TextBox 3"/>
          <p:cNvSpPr txBox="1"/>
          <p:nvPr/>
        </p:nvSpPr>
        <p:spPr>
          <a:xfrm>
            <a:off x="1481476" y="5220763"/>
            <a:ext cx="9633309"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We move every digit three places to the left.</a:t>
            </a:r>
          </a:p>
        </p:txBody>
      </p:sp>
      <p:sp>
        <p:nvSpPr>
          <p:cNvPr id="7" name="TextBox 6">
            <a:extLst>
              <a:ext uri="{FF2B5EF4-FFF2-40B4-BE49-F238E27FC236}">
                <a16:creationId xmlns:a16="http://schemas.microsoft.com/office/drawing/2014/main" id="{ACCFABC4-2641-4838-9395-84FB420FD04D}"/>
              </a:ext>
            </a:extLst>
          </p:cNvPr>
          <p:cNvSpPr txBox="1"/>
          <p:nvPr/>
        </p:nvSpPr>
        <p:spPr>
          <a:xfrm>
            <a:off x="1471851" y="5984647"/>
            <a:ext cx="9421552" cy="707886"/>
          </a:xfrm>
          <a:prstGeom prst="rect">
            <a:avLst/>
          </a:prstGeom>
          <a:noFill/>
        </p:spPr>
        <p:txBody>
          <a:bodyPr wrap="square" rtlCol="0">
            <a:spAutoFit/>
          </a:bodyPr>
          <a:lstStyle/>
          <a:p>
            <a:r>
              <a:rPr lang="en-US" sz="4000" b="1" dirty="0">
                <a:latin typeface="Comic Sans MS" panose="030F0702030302020204" pitchFamily="66" charset="0"/>
              </a:rPr>
              <a:t>54.2 x 1,000 =</a:t>
            </a:r>
          </a:p>
        </p:txBody>
      </p:sp>
    </p:spTree>
    <p:extLst>
      <p:ext uri="{BB962C8B-B14F-4D97-AF65-F5344CB8AC3E}">
        <p14:creationId xmlns:p14="http://schemas.microsoft.com/office/powerpoint/2010/main" val="51060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5" y="423515"/>
            <a:ext cx="10515600" cy="880897"/>
          </a:xfrm>
        </p:spPr>
        <p:txBody>
          <a:bodyPr>
            <a:normAutofit/>
          </a:bodyPr>
          <a:lstStyle/>
          <a:p>
            <a:r>
              <a:rPr lang="en-US" sz="3200" b="1" dirty="0">
                <a:latin typeface="Comic Sans MS" panose="030F0702030302020204" pitchFamily="66" charset="0"/>
              </a:rPr>
              <a:t>Check your understanding</a:t>
            </a:r>
          </a:p>
        </p:txBody>
      </p:sp>
      <p:sp>
        <p:nvSpPr>
          <p:cNvPr id="3" name="Content Placeholder 2"/>
          <p:cNvSpPr>
            <a:spLocks noGrp="1"/>
          </p:cNvSpPr>
          <p:nvPr>
            <p:ph idx="1"/>
          </p:nvPr>
        </p:nvSpPr>
        <p:spPr>
          <a:xfrm>
            <a:off x="204715" y="1324495"/>
            <a:ext cx="11532360" cy="4817659"/>
          </a:xfrm>
        </p:spPr>
        <p:txBody>
          <a:bodyPr>
            <a:normAutofit/>
          </a:bodyPr>
          <a:lstStyle/>
          <a:p>
            <a:pPr marL="0" indent="0">
              <a:buNone/>
            </a:pPr>
            <a:r>
              <a:rPr lang="en-US" sz="3200" dirty="0">
                <a:latin typeface="Comic Sans MS" panose="030F0702030302020204" pitchFamily="66" charset="0"/>
              </a:rPr>
              <a:t>On your place value grids complete these calculations.</a:t>
            </a:r>
          </a:p>
          <a:p>
            <a:pPr marL="514350" indent="-514350">
              <a:lnSpc>
                <a:spcPct val="160000"/>
              </a:lnSpc>
              <a:buAutoNum type="alphaLcParenR"/>
            </a:pPr>
            <a:r>
              <a:rPr lang="en-US" sz="3200" dirty="0">
                <a:latin typeface="Comic Sans MS" panose="030F0702030302020204" pitchFamily="66" charset="0"/>
              </a:rPr>
              <a:t>36 x 100 =</a:t>
            </a:r>
          </a:p>
          <a:p>
            <a:pPr marL="514350" indent="-514350">
              <a:lnSpc>
                <a:spcPct val="160000"/>
              </a:lnSpc>
              <a:buAutoNum type="alphaLcParenR"/>
            </a:pPr>
            <a:r>
              <a:rPr lang="en-US" sz="3200" dirty="0">
                <a:latin typeface="Comic Sans MS" panose="030F0702030302020204" pitchFamily="66" charset="0"/>
              </a:rPr>
              <a:t>0.43 x</a:t>
            </a:r>
            <a:r>
              <a:rPr lang="en-US" sz="3200" b="1" dirty="0">
                <a:latin typeface="Comic Sans MS" panose="030F0702030302020204" pitchFamily="66" charset="0"/>
              </a:rPr>
              <a:t> </a:t>
            </a:r>
            <a:r>
              <a:rPr lang="en-US" sz="3200" dirty="0">
                <a:latin typeface="Comic Sans MS" panose="030F0702030302020204" pitchFamily="66" charset="0"/>
              </a:rPr>
              <a:t>10 =</a:t>
            </a:r>
          </a:p>
          <a:p>
            <a:pPr marL="514350" indent="-514350">
              <a:lnSpc>
                <a:spcPct val="160000"/>
              </a:lnSpc>
              <a:buAutoNum type="alphaLcParenR"/>
            </a:pPr>
            <a:r>
              <a:rPr lang="en-US" sz="3200" dirty="0">
                <a:latin typeface="Comic Sans MS" panose="030F0702030302020204" pitchFamily="66" charset="0"/>
              </a:rPr>
              <a:t>5.921 x 1,000 =</a:t>
            </a:r>
          </a:p>
          <a:p>
            <a:pPr marL="514350" indent="-514350">
              <a:lnSpc>
                <a:spcPct val="160000"/>
              </a:lnSpc>
              <a:buAutoNum type="alphaLcParenR"/>
            </a:pPr>
            <a:r>
              <a:rPr lang="en-US" sz="3200" dirty="0">
                <a:latin typeface="Comic Sans MS" panose="030F0702030302020204" pitchFamily="66" charset="0"/>
              </a:rPr>
              <a:t>22.32 x</a:t>
            </a:r>
            <a:r>
              <a:rPr lang="en-US" sz="3200" b="1" dirty="0">
                <a:latin typeface="Comic Sans MS" panose="030F0702030302020204" pitchFamily="66" charset="0"/>
              </a:rPr>
              <a:t> </a:t>
            </a:r>
            <a:r>
              <a:rPr lang="en-US" sz="3200" dirty="0">
                <a:latin typeface="Comic Sans MS" panose="030F0702030302020204" pitchFamily="66" charset="0"/>
              </a:rPr>
              <a:t>1,000 x 10 = </a:t>
            </a:r>
          </a:p>
        </p:txBody>
      </p:sp>
      <p:sp>
        <p:nvSpPr>
          <p:cNvPr id="4"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pic>
        <p:nvPicPr>
          <p:cNvPr id="5" name="Picture 4"/>
          <p:cNvPicPr>
            <a:picLocks noChangeAspect="1"/>
          </p:cNvPicPr>
          <p:nvPr/>
        </p:nvPicPr>
        <p:blipFill>
          <a:blip r:embed="rId2"/>
          <a:stretch>
            <a:fillRect/>
          </a:stretch>
        </p:blipFill>
        <p:spPr>
          <a:xfrm>
            <a:off x="5053024" y="2205559"/>
            <a:ext cx="6969822" cy="1630907"/>
          </a:xfrm>
          <a:prstGeom prst="rect">
            <a:avLst/>
          </a:prstGeom>
        </p:spPr>
      </p:pic>
      <p:sp>
        <p:nvSpPr>
          <p:cNvPr id="6" name="TextBox 5"/>
          <p:cNvSpPr txBox="1"/>
          <p:nvPr/>
        </p:nvSpPr>
        <p:spPr>
          <a:xfrm>
            <a:off x="2983113" y="2219845"/>
            <a:ext cx="2069911"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3,600</a:t>
            </a:r>
          </a:p>
        </p:txBody>
      </p:sp>
      <p:sp>
        <p:nvSpPr>
          <p:cNvPr id="7" name="TextBox 6"/>
          <p:cNvSpPr txBox="1"/>
          <p:nvPr/>
        </p:nvSpPr>
        <p:spPr>
          <a:xfrm>
            <a:off x="3076613" y="3100597"/>
            <a:ext cx="162408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4.3</a:t>
            </a:r>
          </a:p>
        </p:txBody>
      </p:sp>
      <p:sp>
        <p:nvSpPr>
          <p:cNvPr id="8" name="TextBox 7"/>
          <p:cNvSpPr txBox="1"/>
          <p:nvPr/>
        </p:nvSpPr>
        <p:spPr>
          <a:xfrm>
            <a:off x="3888655" y="3850789"/>
            <a:ext cx="1933158"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5,921</a:t>
            </a:r>
          </a:p>
        </p:txBody>
      </p:sp>
      <p:sp>
        <p:nvSpPr>
          <p:cNvPr id="9" name="TextBox 8"/>
          <p:cNvSpPr txBox="1"/>
          <p:nvPr/>
        </p:nvSpPr>
        <p:spPr>
          <a:xfrm>
            <a:off x="4817200" y="4735791"/>
            <a:ext cx="2757882"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223,200</a:t>
            </a:r>
          </a:p>
        </p:txBody>
      </p:sp>
    </p:spTree>
    <p:extLst>
      <p:ext uri="{BB962C8B-B14F-4D97-AF65-F5344CB8AC3E}">
        <p14:creationId xmlns:p14="http://schemas.microsoft.com/office/powerpoint/2010/main" val="3643280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1670" y="836763"/>
            <a:ext cx="10515600" cy="1325563"/>
          </a:xfrm>
        </p:spPr>
        <p:txBody>
          <a:bodyPr/>
          <a:lstStyle/>
          <a:p>
            <a:r>
              <a:rPr lang="en-US" dirty="0">
                <a:latin typeface="Comic Sans MS" panose="030F0702030302020204" pitchFamily="66" charset="0"/>
              </a:rPr>
              <a:t>How do we divide by 10?</a:t>
            </a:r>
          </a:p>
        </p:txBody>
      </p:sp>
      <p:sp>
        <p:nvSpPr>
          <p:cNvPr id="6"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Comic Sans MS" panose="030F0702030302020204" pitchFamily="66" charset="0"/>
              </a:rPr>
              <a:t>WALT: Use knowledge of place value to multiply and divide whole numbers by 10, 100 and 1,000.</a:t>
            </a:r>
          </a:p>
        </p:txBody>
      </p:sp>
      <p:pic>
        <p:nvPicPr>
          <p:cNvPr id="3" name="Picture 2"/>
          <p:cNvPicPr>
            <a:picLocks noChangeAspect="1"/>
          </p:cNvPicPr>
          <p:nvPr/>
        </p:nvPicPr>
        <p:blipFill>
          <a:blip r:embed="rId2"/>
          <a:stretch>
            <a:fillRect/>
          </a:stretch>
        </p:blipFill>
        <p:spPr>
          <a:xfrm>
            <a:off x="190521" y="2162326"/>
            <a:ext cx="11533453" cy="2698777"/>
          </a:xfrm>
          <a:prstGeom prst="rect">
            <a:avLst/>
          </a:prstGeom>
        </p:spPr>
      </p:pic>
      <p:sp>
        <p:nvSpPr>
          <p:cNvPr id="4" name="TextBox 3"/>
          <p:cNvSpPr txBox="1"/>
          <p:nvPr/>
        </p:nvSpPr>
        <p:spPr>
          <a:xfrm>
            <a:off x="1801504" y="5201951"/>
            <a:ext cx="9065418"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We move every digit one place to the right.</a:t>
            </a:r>
          </a:p>
        </p:txBody>
      </p:sp>
      <p:sp>
        <p:nvSpPr>
          <p:cNvPr id="7" name="TextBox 6">
            <a:extLst>
              <a:ext uri="{FF2B5EF4-FFF2-40B4-BE49-F238E27FC236}">
                <a16:creationId xmlns:a16="http://schemas.microsoft.com/office/drawing/2014/main" id="{AC0E4F25-29AA-4637-A783-AA7A79961A16}"/>
              </a:ext>
            </a:extLst>
          </p:cNvPr>
          <p:cNvSpPr txBox="1"/>
          <p:nvPr/>
        </p:nvSpPr>
        <p:spPr>
          <a:xfrm>
            <a:off x="1885737" y="5964552"/>
            <a:ext cx="9421552" cy="707886"/>
          </a:xfrm>
          <a:prstGeom prst="rect">
            <a:avLst/>
          </a:prstGeom>
          <a:noFill/>
        </p:spPr>
        <p:txBody>
          <a:bodyPr wrap="square" rtlCol="0">
            <a:spAutoFit/>
          </a:bodyPr>
          <a:lstStyle/>
          <a:p>
            <a:r>
              <a:rPr lang="en-US" sz="4000" b="1" dirty="0">
                <a:latin typeface="Comic Sans MS" panose="030F0702030302020204" pitchFamily="66" charset="0"/>
              </a:rPr>
              <a:t>46,321 ÷ 10 =</a:t>
            </a:r>
          </a:p>
        </p:txBody>
      </p:sp>
    </p:spTree>
    <p:extLst>
      <p:ext uri="{BB962C8B-B14F-4D97-AF65-F5344CB8AC3E}">
        <p14:creationId xmlns:p14="http://schemas.microsoft.com/office/powerpoint/2010/main" val="48837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9540" y="756600"/>
            <a:ext cx="10515600" cy="1325563"/>
          </a:xfrm>
        </p:spPr>
        <p:txBody>
          <a:bodyPr/>
          <a:lstStyle/>
          <a:p>
            <a:r>
              <a:rPr lang="en-US" dirty="0">
                <a:latin typeface="Comic Sans MS" panose="030F0702030302020204" pitchFamily="66" charset="0"/>
              </a:rPr>
              <a:t>How do we divide by 100?</a:t>
            </a:r>
          </a:p>
        </p:txBody>
      </p:sp>
      <p:sp>
        <p:nvSpPr>
          <p:cNvPr id="6"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pic>
        <p:nvPicPr>
          <p:cNvPr id="3" name="Picture 2"/>
          <p:cNvPicPr>
            <a:picLocks noChangeAspect="1"/>
          </p:cNvPicPr>
          <p:nvPr/>
        </p:nvPicPr>
        <p:blipFill>
          <a:blip r:embed="rId2"/>
          <a:stretch>
            <a:fillRect/>
          </a:stretch>
        </p:blipFill>
        <p:spPr>
          <a:xfrm>
            <a:off x="329273" y="2077061"/>
            <a:ext cx="11533453" cy="2698777"/>
          </a:xfrm>
          <a:prstGeom prst="rect">
            <a:avLst/>
          </a:prstGeom>
        </p:spPr>
      </p:pic>
      <p:sp>
        <p:nvSpPr>
          <p:cNvPr id="4" name="TextBox 3"/>
          <p:cNvSpPr txBox="1"/>
          <p:nvPr/>
        </p:nvSpPr>
        <p:spPr>
          <a:xfrm>
            <a:off x="1517175" y="5019081"/>
            <a:ext cx="9696257"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We move every digit two places to the right.</a:t>
            </a:r>
          </a:p>
        </p:txBody>
      </p:sp>
      <p:sp>
        <p:nvSpPr>
          <p:cNvPr id="7" name="TextBox 6">
            <a:extLst>
              <a:ext uri="{FF2B5EF4-FFF2-40B4-BE49-F238E27FC236}">
                <a16:creationId xmlns:a16="http://schemas.microsoft.com/office/drawing/2014/main" id="{4E9E0EFE-E748-4748-B154-9D00F693334C}"/>
              </a:ext>
            </a:extLst>
          </p:cNvPr>
          <p:cNvSpPr txBox="1"/>
          <p:nvPr/>
        </p:nvSpPr>
        <p:spPr>
          <a:xfrm>
            <a:off x="1885737" y="5964552"/>
            <a:ext cx="9421552" cy="707886"/>
          </a:xfrm>
          <a:prstGeom prst="rect">
            <a:avLst/>
          </a:prstGeom>
          <a:noFill/>
        </p:spPr>
        <p:txBody>
          <a:bodyPr wrap="square" rtlCol="0">
            <a:spAutoFit/>
          </a:bodyPr>
          <a:lstStyle/>
          <a:p>
            <a:r>
              <a:rPr lang="en-US" sz="4000" b="1" dirty="0">
                <a:latin typeface="Comic Sans MS" panose="030F0702030302020204" pitchFamily="66" charset="0"/>
              </a:rPr>
              <a:t>46,321 ÷ 100 =</a:t>
            </a:r>
          </a:p>
        </p:txBody>
      </p:sp>
    </p:spTree>
    <p:extLst>
      <p:ext uri="{BB962C8B-B14F-4D97-AF65-F5344CB8AC3E}">
        <p14:creationId xmlns:p14="http://schemas.microsoft.com/office/powerpoint/2010/main" val="657753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7291" y="792253"/>
            <a:ext cx="10515600" cy="1325563"/>
          </a:xfrm>
        </p:spPr>
        <p:txBody>
          <a:bodyPr/>
          <a:lstStyle/>
          <a:p>
            <a:r>
              <a:rPr lang="en-US" dirty="0">
                <a:latin typeface="Comic Sans MS" panose="030F0702030302020204" pitchFamily="66" charset="0"/>
              </a:rPr>
              <a:t>How do we divide by 1,000?</a:t>
            </a:r>
          </a:p>
        </p:txBody>
      </p:sp>
      <p:sp>
        <p:nvSpPr>
          <p:cNvPr id="6"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pic>
        <p:nvPicPr>
          <p:cNvPr id="3" name="Picture 2"/>
          <p:cNvPicPr>
            <a:picLocks noChangeAspect="1"/>
          </p:cNvPicPr>
          <p:nvPr/>
        </p:nvPicPr>
        <p:blipFill>
          <a:blip r:embed="rId2"/>
          <a:stretch>
            <a:fillRect/>
          </a:stretch>
        </p:blipFill>
        <p:spPr>
          <a:xfrm>
            <a:off x="204716" y="1918533"/>
            <a:ext cx="11533453" cy="2698777"/>
          </a:xfrm>
          <a:prstGeom prst="rect">
            <a:avLst/>
          </a:prstGeom>
        </p:spPr>
      </p:pic>
      <p:sp>
        <p:nvSpPr>
          <p:cNvPr id="4" name="TextBox 3"/>
          <p:cNvSpPr txBox="1"/>
          <p:nvPr/>
        </p:nvSpPr>
        <p:spPr>
          <a:xfrm>
            <a:off x="1427555" y="5131770"/>
            <a:ext cx="9699248" cy="584775"/>
          </a:xfrm>
          <a:prstGeom prst="rect">
            <a:avLst/>
          </a:prstGeom>
          <a:noFill/>
        </p:spPr>
        <p:txBody>
          <a:bodyPr wrap="square" rtlCol="0">
            <a:spAutoFit/>
          </a:bodyPr>
          <a:lstStyle/>
          <a:p>
            <a:r>
              <a:rPr lang="en-US" sz="3200" b="1" dirty="0">
                <a:solidFill>
                  <a:srgbClr val="FF0000"/>
                </a:solidFill>
                <a:latin typeface="Comic Sans MS" panose="030F0702030302020204" pitchFamily="66" charset="0"/>
              </a:rPr>
              <a:t>We move every digit three places to the right.</a:t>
            </a:r>
          </a:p>
        </p:txBody>
      </p:sp>
      <p:sp>
        <p:nvSpPr>
          <p:cNvPr id="7" name="TextBox 6">
            <a:extLst>
              <a:ext uri="{FF2B5EF4-FFF2-40B4-BE49-F238E27FC236}">
                <a16:creationId xmlns:a16="http://schemas.microsoft.com/office/drawing/2014/main" id="{8EC0286B-93EF-4D20-890F-D67EF43DB2D5}"/>
              </a:ext>
            </a:extLst>
          </p:cNvPr>
          <p:cNvSpPr txBox="1"/>
          <p:nvPr/>
        </p:nvSpPr>
        <p:spPr>
          <a:xfrm>
            <a:off x="1885737" y="5964552"/>
            <a:ext cx="9421552" cy="707886"/>
          </a:xfrm>
          <a:prstGeom prst="rect">
            <a:avLst/>
          </a:prstGeom>
          <a:noFill/>
        </p:spPr>
        <p:txBody>
          <a:bodyPr wrap="square" rtlCol="0">
            <a:spAutoFit/>
          </a:bodyPr>
          <a:lstStyle/>
          <a:p>
            <a:r>
              <a:rPr lang="en-US" sz="4000" b="1" dirty="0">
                <a:latin typeface="Comic Sans MS" panose="030F0702030302020204" pitchFamily="66" charset="0"/>
              </a:rPr>
              <a:t>46,321 ÷ 1,000 =</a:t>
            </a:r>
          </a:p>
        </p:txBody>
      </p:sp>
    </p:spTree>
    <p:extLst>
      <p:ext uri="{BB962C8B-B14F-4D97-AF65-F5344CB8AC3E}">
        <p14:creationId xmlns:p14="http://schemas.microsoft.com/office/powerpoint/2010/main" val="2158476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5" y="304979"/>
            <a:ext cx="10515600" cy="1325563"/>
          </a:xfrm>
        </p:spPr>
        <p:txBody>
          <a:bodyPr/>
          <a:lstStyle/>
          <a:p>
            <a:r>
              <a:rPr lang="en-US" b="1" dirty="0">
                <a:latin typeface="Comic Sans MS" panose="030F0702030302020204" pitchFamily="66" charset="0"/>
              </a:rPr>
              <a:t>Check your understanding</a:t>
            </a:r>
          </a:p>
        </p:txBody>
      </p:sp>
      <p:sp>
        <p:nvSpPr>
          <p:cNvPr id="3" name="Content Placeholder 2"/>
          <p:cNvSpPr>
            <a:spLocks noGrp="1"/>
          </p:cNvSpPr>
          <p:nvPr>
            <p:ph idx="1"/>
          </p:nvPr>
        </p:nvSpPr>
        <p:spPr>
          <a:xfrm>
            <a:off x="204715" y="1459338"/>
            <a:ext cx="11532360" cy="4817659"/>
          </a:xfrm>
        </p:spPr>
        <p:txBody>
          <a:bodyPr>
            <a:normAutofit/>
          </a:bodyPr>
          <a:lstStyle/>
          <a:p>
            <a:pPr marL="0" indent="0">
              <a:buNone/>
            </a:pPr>
            <a:r>
              <a:rPr lang="en-US" sz="3200" dirty="0">
                <a:latin typeface="Comic Sans MS" panose="030F0702030302020204" pitchFamily="66" charset="0"/>
              </a:rPr>
              <a:t>On your place value grids complete these calculations.</a:t>
            </a:r>
          </a:p>
          <a:p>
            <a:pPr marL="514350" indent="-514350">
              <a:lnSpc>
                <a:spcPct val="160000"/>
              </a:lnSpc>
              <a:buAutoNum type="alphaLcParenR"/>
            </a:pPr>
            <a:r>
              <a:rPr lang="en-US" sz="3200" dirty="0">
                <a:latin typeface="Comic Sans MS" panose="030F0702030302020204" pitchFamily="66" charset="0"/>
              </a:rPr>
              <a:t>56,221.3 </a:t>
            </a:r>
            <a:r>
              <a:rPr lang="en-US" sz="3200" b="1" dirty="0">
                <a:latin typeface="Comic Sans MS" panose="030F0702030302020204" pitchFamily="66" charset="0"/>
              </a:rPr>
              <a:t>÷</a:t>
            </a:r>
            <a:r>
              <a:rPr lang="en-US" sz="3200" dirty="0">
                <a:latin typeface="Comic Sans MS" panose="030F0702030302020204" pitchFamily="66" charset="0"/>
              </a:rPr>
              <a:t> 100 =</a:t>
            </a:r>
          </a:p>
          <a:p>
            <a:pPr marL="514350" indent="-514350">
              <a:lnSpc>
                <a:spcPct val="160000"/>
              </a:lnSpc>
              <a:buAutoNum type="alphaLcParenR"/>
            </a:pPr>
            <a:r>
              <a:rPr lang="en-US" sz="3200" dirty="0">
                <a:latin typeface="Comic Sans MS" panose="030F0702030302020204" pitchFamily="66" charset="0"/>
              </a:rPr>
              <a:t>56 </a:t>
            </a:r>
            <a:r>
              <a:rPr lang="en-US" sz="3200" b="1" dirty="0">
                <a:latin typeface="Comic Sans MS" panose="030F0702030302020204" pitchFamily="66" charset="0"/>
              </a:rPr>
              <a:t>÷ </a:t>
            </a:r>
            <a:r>
              <a:rPr lang="en-US" sz="3200" dirty="0">
                <a:latin typeface="Comic Sans MS" panose="030F0702030302020204" pitchFamily="66" charset="0"/>
              </a:rPr>
              <a:t>10 =</a:t>
            </a:r>
          </a:p>
          <a:p>
            <a:pPr marL="514350" indent="-514350">
              <a:lnSpc>
                <a:spcPct val="160000"/>
              </a:lnSpc>
              <a:buAutoNum type="alphaLcParenR"/>
            </a:pPr>
            <a:r>
              <a:rPr lang="en-US" sz="3200" dirty="0">
                <a:latin typeface="Comic Sans MS" panose="030F0702030302020204" pitchFamily="66" charset="0"/>
              </a:rPr>
              <a:t>1,092 </a:t>
            </a:r>
            <a:r>
              <a:rPr lang="en-US" sz="3200" b="1" dirty="0">
                <a:latin typeface="Comic Sans MS" panose="030F0702030302020204" pitchFamily="66" charset="0"/>
              </a:rPr>
              <a:t>÷</a:t>
            </a:r>
            <a:r>
              <a:rPr lang="en-US" sz="3200" dirty="0">
                <a:latin typeface="Comic Sans MS" panose="030F0702030302020204" pitchFamily="66" charset="0"/>
              </a:rPr>
              <a:t> 1,000 =</a:t>
            </a:r>
          </a:p>
          <a:p>
            <a:pPr marL="514350" indent="-514350">
              <a:lnSpc>
                <a:spcPct val="160000"/>
              </a:lnSpc>
              <a:buAutoNum type="alphaLcParenR"/>
            </a:pPr>
            <a:r>
              <a:rPr lang="en-US" sz="3200" dirty="0">
                <a:latin typeface="Comic Sans MS" panose="030F0702030302020204" pitchFamily="66" charset="0"/>
              </a:rPr>
              <a:t>2,345 </a:t>
            </a:r>
            <a:r>
              <a:rPr lang="en-US" sz="3200" b="1" dirty="0">
                <a:latin typeface="Comic Sans MS" panose="030F0702030302020204" pitchFamily="66" charset="0"/>
              </a:rPr>
              <a:t>÷ </a:t>
            </a:r>
            <a:r>
              <a:rPr lang="en-US" sz="3200" dirty="0">
                <a:latin typeface="Comic Sans MS" panose="030F0702030302020204" pitchFamily="66" charset="0"/>
              </a:rPr>
              <a:t>1,000 X 100 = </a:t>
            </a:r>
          </a:p>
        </p:txBody>
      </p:sp>
      <p:sp>
        <p:nvSpPr>
          <p:cNvPr id="4"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latin typeface="Comic Sans MS" panose="030F0702030302020204" pitchFamily="66" charset="0"/>
              </a:rPr>
              <a:t>WALT: Use knowledge of place value to multiply and divide whole numbers by 10, 100 and 1,000.</a:t>
            </a:r>
          </a:p>
        </p:txBody>
      </p:sp>
      <p:pic>
        <p:nvPicPr>
          <p:cNvPr id="5" name="Picture 4"/>
          <p:cNvPicPr>
            <a:picLocks noChangeAspect="1"/>
          </p:cNvPicPr>
          <p:nvPr/>
        </p:nvPicPr>
        <p:blipFill>
          <a:blip r:embed="rId2"/>
          <a:stretch>
            <a:fillRect/>
          </a:stretch>
        </p:blipFill>
        <p:spPr>
          <a:xfrm>
            <a:off x="6442533" y="5453769"/>
            <a:ext cx="5636743" cy="1318973"/>
          </a:xfrm>
          <a:prstGeom prst="rect">
            <a:avLst/>
          </a:prstGeom>
        </p:spPr>
      </p:pic>
      <p:sp>
        <p:nvSpPr>
          <p:cNvPr id="6" name="TextBox 5"/>
          <p:cNvSpPr txBox="1"/>
          <p:nvPr/>
        </p:nvSpPr>
        <p:spPr>
          <a:xfrm>
            <a:off x="4026089" y="2152556"/>
            <a:ext cx="3060511"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562.213</a:t>
            </a:r>
          </a:p>
        </p:txBody>
      </p:sp>
      <p:sp>
        <p:nvSpPr>
          <p:cNvPr id="7" name="TextBox 6"/>
          <p:cNvSpPr txBox="1"/>
          <p:nvPr/>
        </p:nvSpPr>
        <p:spPr>
          <a:xfrm>
            <a:off x="2653102" y="3028513"/>
            <a:ext cx="162408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5.6</a:t>
            </a:r>
          </a:p>
        </p:txBody>
      </p:sp>
      <p:sp>
        <p:nvSpPr>
          <p:cNvPr id="8" name="TextBox 7"/>
          <p:cNvSpPr txBox="1"/>
          <p:nvPr/>
        </p:nvSpPr>
        <p:spPr>
          <a:xfrm>
            <a:off x="3670026" y="3930103"/>
            <a:ext cx="2177953"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1.092</a:t>
            </a:r>
          </a:p>
        </p:txBody>
      </p:sp>
      <p:sp>
        <p:nvSpPr>
          <p:cNvPr id="9" name="TextBox 8"/>
          <p:cNvSpPr txBox="1"/>
          <p:nvPr/>
        </p:nvSpPr>
        <p:spPr>
          <a:xfrm>
            <a:off x="5130027" y="4831693"/>
            <a:ext cx="2177954"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234.5</a:t>
            </a:r>
          </a:p>
        </p:txBody>
      </p:sp>
    </p:spTree>
    <p:extLst>
      <p:ext uri="{BB962C8B-B14F-4D97-AF65-F5344CB8AC3E}">
        <p14:creationId xmlns:p14="http://schemas.microsoft.com/office/powerpoint/2010/main" val="398110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694" y="2779994"/>
            <a:ext cx="5349922" cy="3621367"/>
          </a:xfrm>
        </p:spPr>
        <p:txBody>
          <a:bodyPr>
            <a:noAutofit/>
          </a:bodyPr>
          <a:lstStyle/>
          <a:p>
            <a:pPr marL="0" indent="0">
              <a:buNone/>
            </a:pPr>
            <a:r>
              <a:rPr lang="en-US" dirty="0">
                <a:latin typeface="Comic Sans MS" panose="030F0702030302020204" pitchFamily="66" charset="0"/>
              </a:rPr>
              <a:t>Find the missing numbers.</a:t>
            </a:r>
          </a:p>
          <a:p>
            <a:pPr marL="514350" indent="-514350">
              <a:buAutoNum type="alphaLcParenR"/>
            </a:pPr>
            <a:r>
              <a:rPr lang="en-US" dirty="0">
                <a:latin typeface="Comic Sans MS" panose="030F0702030302020204" pitchFamily="66" charset="0"/>
              </a:rPr>
              <a:t>56.602 x 1,000 =</a:t>
            </a:r>
          </a:p>
          <a:p>
            <a:pPr marL="514350" indent="-514350">
              <a:buAutoNum type="alphaLcParenR"/>
            </a:pPr>
            <a:r>
              <a:rPr lang="en-US" dirty="0">
                <a:latin typeface="Comic Sans MS" panose="030F0702030302020204" pitchFamily="66" charset="0"/>
              </a:rPr>
              <a:t>789 </a:t>
            </a:r>
            <a:r>
              <a:rPr lang="en-US" b="1" dirty="0">
                <a:latin typeface="Comic Sans MS" panose="030F0702030302020204" pitchFamily="66" charset="0"/>
              </a:rPr>
              <a:t>÷ </a:t>
            </a:r>
            <a:r>
              <a:rPr lang="en-US" dirty="0">
                <a:latin typeface="Comic Sans MS" panose="030F0702030302020204" pitchFamily="66" charset="0"/>
              </a:rPr>
              <a:t>100 =</a:t>
            </a:r>
          </a:p>
          <a:p>
            <a:pPr marL="514350" indent="-514350">
              <a:buAutoNum type="alphaLcParenR"/>
            </a:pPr>
            <a:r>
              <a:rPr lang="en-US" dirty="0">
                <a:latin typeface="Comic Sans MS" panose="030F0702030302020204" pitchFamily="66" charset="0"/>
              </a:rPr>
              <a:t>0.078 x 10 =</a:t>
            </a:r>
          </a:p>
          <a:p>
            <a:pPr marL="514350" indent="-514350">
              <a:buAutoNum type="alphaLcParenR"/>
            </a:pPr>
            <a:r>
              <a:rPr lang="en-US" dirty="0">
                <a:latin typeface="Comic Sans MS" panose="030F0702030302020204" pitchFamily="66" charset="0"/>
              </a:rPr>
              <a:t>0.95 </a:t>
            </a:r>
            <a:r>
              <a:rPr lang="en-US" b="1" dirty="0">
                <a:latin typeface="Comic Sans MS" panose="030F0702030302020204" pitchFamily="66" charset="0"/>
              </a:rPr>
              <a:t>÷ </a:t>
            </a:r>
            <a:r>
              <a:rPr lang="en-US" dirty="0">
                <a:latin typeface="Comic Sans MS" panose="030F0702030302020204" pitchFamily="66" charset="0"/>
              </a:rPr>
              <a:t>100 =</a:t>
            </a:r>
          </a:p>
          <a:p>
            <a:pPr marL="514350" indent="-514350">
              <a:buAutoNum type="alphaLcParenR"/>
            </a:pPr>
            <a:r>
              <a:rPr lang="en-US" dirty="0">
                <a:latin typeface="Comic Sans MS" panose="030F0702030302020204" pitchFamily="66" charset="0"/>
              </a:rPr>
              <a:t>8.345 X 100 </a:t>
            </a:r>
            <a:r>
              <a:rPr lang="en-US" b="1" dirty="0">
                <a:latin typeface="Comic Sans MS" panose="030F0702030302020204" pitchFamily="66" charset="0"/>
              </a:rPr>
              <a:t>÷ </a:t>
            </a:r>
            <a:r>
              <a:rPr lang="en-US" dirty="0">
                <a:latin typeface="Comic Sans MS" panose="030F0702030302020204" pitchFamily="66" charset="0"/>
              </a:rPr>
              <a:t>1,000</a:t>
            </a:r>
            <a:r>
              <a:rPr lang="en-US" b="1" dirty="0">
                <a:latin typeface="Comic Sans MS" panose="030F0702030302020204" pitchFamily="66" charset="0"/>
              </a:rPr>
              <a:t> =</a:t>
            </a:r>
            <a:endParaRPr lang="en-US" dirty="0">
              <a:latin typeface="Comic Sans MS" panose="030F0702030302020204" pitchFamily="66" charset="0"/>
            </a:endParaRPr>
          </a:p>
        </p:txBody>
      </p:sp>
      <p:sp>
        <p:nvSpPr>
          <p:cNvPr id="4"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Comic Sans MS" panose="030F0702030302020204" pitchFamily="66" charset="0"/>
              </a:rPr>
              <a:t>WALT: Use knowledge of place value to multiply and divide whole numbers by 10, 100 and 1,000.</a:t>
            </a:r>
          </a:p>
        </p:txBody>
      </p:sp>
      <p:sp>
        <p:nvSpPr>
          <p:cNvPr id="7" name="TextBox 6"/>
          <p:cNvSpPr txBox="1"/>
          <p:nvPr/>
        </p:nvSpPr>
        <p:spPr>
          <a:xfrm>
            <a:off x="1503804" y="1323328"/>
            <a:ext cx="1368765" cy="707886"/>
          </a:xfrm>
          <a:prstGeom prst="rect">
            <a:avLst/>
          </a:prstGeom>
          <a:noFill/>
        </p:spPr>
        <p:txBody>
          <a:bodyPr wrap="square" rtlCol="0">
            <a:spAutoFit/>
          </a:bodyPr>
          <a:lstStyle/>
          <a:p>
            <a:r>
              <a:rPr lang="en-US" sz="2000" dirty="0">
                <a:latin typeface="Comic Sans MS" panose="030F0702030302020204" pitchFamily="66" charset="0"/>
              </a:rPr>
              <a:t>Work with me.</a:t>
            </a:r>
          </a:p>
        </p:txBody>
      </p:sp>
      <p:sp>
        <p:nvSpPr>
          <p:cNvPr id="8" name="TextBox 7"/>
          <p:cNvSpPr txBox="1"/>
          <p:nvPr/>
        </p:nvSpPr>
        <p:spPr>
          <a:xfrm>
            <a:off x="4422487" y="1330345"/>
            <a:ext cx="2492257" cy="707886"/>
          </a:xfrm>
          <a:prstGeom prst="rect">
            <a:avLst/>
          </a:prstGeom>
          <a:noFill/>
        </p:spPr>
        <p:txBody>
          <a:bodyPr wrap="square" rtlCol="0">
            <a:spAutoFit/>
          </a:bodyPr>
          <a:lstStyle/>
          <a:p>
            <a:r>
              <a:rPr lang="en-US" sz="2000" dirty="0">
                <a:latin typeface="Comic Sans MS" panose="030F0702030302020204" pitchFamily="66" charset="0"/>
              </a:rPr>
              <a:t>Work independently.</a:t>
            </a:r>
          </a:p>
        </p:txBody>
      </p:sp>
      <p:sp>
        <p:nvSpPr>
          <p:cNvPr id="10" name="TextBox 9"/>
          <p:cNvSpPr txBox="1"/>
          <p:nvPr/>
        </p:nvSpPr>
        <p:spPr>
          <a:xfrm>
            <a:off x="6995115" y="2010857"/>
            <a:ext cx="4951560" cy="923330"/>
          </a:xfrm>
          <a:prstGeom prst="rect">
            <a:avLst/>
          </a:prstGeom>
          <a:noFill/>
        </p:spPr>
        <p:txBody>
          <a:bodyPr wrap="square" rtlCol="0">
            <a:spAutoFit/>
          </a:bodyPr>
          <a:lstStyle/>
          <a:p>
            <a:r>
              <a:rPr lang="en-US" dirty="0">
                <a:latin typeface="Comic Sans MS" panose="030F0702030302020204" pitchFamily="66" charset="0"/>
              </a:rPr>
              <a:t>Look at these number cards. Write the correct letter of the card next to the correct sentence.</a:t>
            </a:r>
          </a:p>
        </p:txBody>
      </p:sp>
      <p:sp>
        <p:nvSpPr>
          <p:cNvPr id="11" name="Rounded Rectangle 10"/>
          <p:cNvSpPr/>
          <p:nvPr/>
        </p:nvSpPr>
        <p:spPr>
          <a:xfrm>
            <a:off x="6914744" y="3389722"/>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Comic Sans MS" panose="030F0702030302020204" pitchFamily="66" charset="0"/>
            </a:endParaRPr>
          </a:p>
        </p:txBody>
      </p:sp>
      <p:sp>
        <p:nvSpPr>
          <p:cNvPr id="12" name="TextBox 11"/>
          <p:cNvSpPr txBox="1"/>
          <p:nvPr/>
        </p:nvSpPr>
        <p:spPr>
          <a:xfrm>
            <a:off x="7044043" y="3663475"/>
            <a:ext cx="702108" cy="400110"/>
          </a:xfrm>
          <a:prstGeom prst="rect">
            <a:avLst/>
          </a:prstGeom>
          <a:noFill/>
        </p:spPr>
        <p:txBody>
          <a:bodyPr wrap="square" rtlCol="0">
            <a:spAutoFit/>
          </a:bodyPr>
          <a:lstStyle/>
          <a:p>
            <a:r>
              <a:rPr lang="en-US" sz="2000" b="1" dirty="0">
                <a:latin typeface="Comic Sans MS" panose="030F0702030302020204" pitchFamily="66" charset="0"/>
              </a:rPr>
              <a:t>6.1</a:t>
            </a:r>
          </a:p>
        </p:txBody>
      </p:sp>
      <p:sp>
        <p:nvSpPr>
          <p:cNvPr id="13" name="Rounded Rectangle 12"/>
          <p:cNvSpPr/>
          <p:nvPr/>
        </p:nvSpPr>
        <p:spPr>
          <a:xfrm>
            <a:off x="8190990" y="3389722"/>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Comic Sans MS" panose="030F0702030302020204" pitchFamily="66" charset="0"/>
            </a:endParaRPr>
          </a:p>
        </p:txBody>
      </p:sp>
      <p:sp>
        <p:nvSpPr>
          <p:cNvPr id="14" name="TextBox 13"/>
          <p:cNvSpPr txBox="1"/>
          <p:nvPr/>
        </p:nvSpPr>
        <p:spPr>
          <a:xfrm>
            <a:off x="8465793" y="3636561"/>
            <a:ext cx="600501" cy="400110"/>
          </a:xfrm>
          <a:prstGeom prst="rect">
            <a:avLst/>
          </a:prstGeom>
          <a:noFill/>
        </p:spPr>
        <p:txBody>
          <a:bodyPr wrap="square" rtlCol="0">
            <a:spAutoFit/>
          </a:bodyPr>
          <a:lstStyle/>
          <a:p>
            <a:r>
              <a:rPr lang="en-US" sz="2000" b="1" dirty="0">
                <a:latin typeface="Comic Sans MS" panose="030F0702030302020204" pitchFamily="66" charset="0"/>
              </a:rPr>
              <a:t>61</a:t>
            </a:r>
          </a:p>
        </p:txBody>
      </p:sp>
      <p:sp>
        <p:nvSpPr>
          <p:cNvPr id="15" name="Rounded Rectangle 14"/>
          <p:cNvSpPr/>
          <p:nvPr/>
        </p:nvSpPr>
        <p:spPr>
          <a:xfrm>
            <a:off x="9480398" y="3377217"/>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Comic Sans MS" panose="030F0702030302020204" pitchFamily="66" charset="0"/>
            </a:endParaRPr>
          </a:p>
        </p:txBody>
      </p:sp>
      <p:sp>
        <p:nvSpPr>
          <p:cNvPr id="16" name="TextBox 15"/>
          <p:cNvSpPr txBox="1"/>
          <p:nvPr/>
        </p:nvSpPr>
        <p:spPr>
          <a:xfrm>
            <a:off x="9617799" y="3624056"/>
            <a:ext cx="739802" cy="400110"/>
          </a:xfrm>
          <a:prstGeom prst="rect">
            <a:avLst/>
          </a:prstGeom>
          <a:noFill/>
        </p:spPr>
        <p:txBody>
          <a:bodyPr wrap="square" rtlCol="0">
            <a:spAutoFit/>
          </a:bodyPr>
          <a:lstStyle/>
          <a:p>
            <a:r>
              <a:rPr lang="en-US" sz="2000" b="1" dirty="0">
                <a:latin typeface="Comic Sans MS" panose="030F0702030302020204" pitchFamily="66" charset="0"/>
              </a:rPr>
              <a:t>610</a:t>
            </a:r>
          </a:p>
        </p:txBody>
      </p:sp>
      <p:sp>
        <p:nvSpPr>
          <p:cNvPr id="17" name="Rounded Rectangle 16"/>
          <p:cNvSpPr/>
          <p:nvPr/>
        </p:nvSpPr>
        <p:spPr>
          <a:xfrm>
            <a:off x="10802826" y="3389722"/>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Comic Sans MS" panose="030F0702030302020204" pitchFamily="66" charset="0"/>
            </a:endParaRPr>
          </a:p>
        </p:txBody>
      </p:sp>
      <p:sp>
        <p:nvSpPr>
          <p:cNvPr id="18" name="TextBox 17"/>
          <p:cNvSpPr txBox="1"/>
          <p:nvPr/>
        </p:nvSpPr>
        <p:spPr>
          <a:xfrm>
            <a:off x="10890875" y="3636561"/>
            <a:ext cx="877204" cy="400110"/>
          </a:xfrm>
          <a:prstGeom prst="rect">
            <a:avLst/>
          </a:prstGeom>
          <a:noFill/>
        </p:spPr>
        <p:txBody>
          <a:bodyPr wrap="square" rtlCol="0">
            <a:spAutoFit/>
          </a:bodyPr>
          <a:lstStyle/>
          <a:p>
            <a:r>
              <a:rPr lang="en-US" sz="2000" b="1" dirty="0">
                <a:latin typeface="Comic Sans MS" panose="030F0702030302020204" pitchFamily="66" charset="0"/>
              </a:rPr>
              <a:t>0.61</a:t>
            </a:r>
          </a:p>
        </p:txBody>
      </p:sp>
      <p:sp>
        <p:nvSpPr>
          <p:cNvPr id="19" name="Content Placeholder 2"/>
          <p:cNvSpPr txBox="1">
            <a:spLocks/>
          </p:cNvSpPr>
          <p:nvPr/>
        </p:nvSpPr>
        <p:spPr>
          <a:xfrm>
            <a:off x="5906177" y="4708268"/>
            <a:ext cx="6278061" cy="36213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lphaLcParenR"/>
            </a:pPr>
            <a:r>
              <a:rPr lang="en-US" sz="2000" dirty="0">
                <a:latin typeface="Comic Sans MS" panose="030F0702030302020204" pitchFamily="66" charset="0"/>
              </a:rPr>
              <a:t>One hundredth of 61</a:t>
            </a:r>
          </a:p>
          <a:p>
            <a:pPr marL="514350" indent="-514350">
              <a:buFont typeface="Arial" panose="020B0604020202020204" pitchFamily="34" charset="0"/>
              <a:buAutoNum type="alphaLcParenR"/>
            </a:pPr>
            <a:r>
              <a:rPr lang="en-US" sz="2000" dirty="0">
                <a:latin typeface="Comic Sans MS" panose="030F0702030302020204" pitchFamily="66" charset="0"/>
              </a:rPr>
              <a:t>One thousand times bigger than 0.061</a:t>
            </a:r>
          </a:p>
          <a:p>
            <a:pPr marL="514350" indent="-514350">
              <a:buFont typeface="Arial" panose="020B0604020202020204" pitchFamily="34" charset="0"/>
              <a:buAutoNum type="alphaLcParenR"/>
            </a:pPr>
            <a:r>
              <a:rPr lang="en-US" sz="2000" dirty="0">
                <a:latin typeface="Comic Sans MS" panose="030F0702030302020204" pitchFamily="66" charset="0"/>
              </a:rPr>
              <a:t>The number one hundred times smaller than 610.</a:t>
            </a:r>
          </a:p>
          <a:p>
            <a:pPr marL="0" indent="0">
              <a:buNone/>
            </a:pPr>
            <a:r>
              <a:rPr lang="en-US" sz="2000" dirty="0">
                <a:latin typeface="Comic Sans MS" panose="030F0702030302020204" pitchFamily="66" charset="0"/>
              </a:rPr>
              <a:t>d) Write your own sentence for the card that is left.</a:t>
            </a:r>
          </a:p>
        </p:txBody>
      </p:sp>
      <p:sp>
        <p:nvSpPr>
          <p:cNvPr id="20" name="TextBox 19"/>
          <p:cNvSpPr txBox="1"/>
          <p:nvPr/>
        </p:nvSpPr>
        <p:spPr>
          <a:xfrm>
            <a:off x="7219665" y="3007885"/>
            <a:ext cx="448039" cy="400110"/>
          </a:xfrm>
          <a:prstGeom prst="rect">
            <a:avLst/>
          </a:prstGeom>
          <a:noFill/>
        </p:spPr>
        <p:txBody>
          <a:bodyPr wrap="square" rtlCol="0">
            <a:spAutoFit/>
          </a:bodyPr>
          <a:lstStyle/>
          <a:p>
            <a:r>
              <a:rPr lang="en-US" sz="2000" b="1" dirty="0">
                <a:solidFill>
                  <a:srgbClr val="FF0000"/>
                </a:solidFill>
                <a:latin typeface="Comic Sans MS" panose="030F0702030302020204" pitchFamily="66" charset="0"/>
              </a:rPr>
              <a:t>A</a:t>
            </a:r>
          </a:p>
        </p:txBody>
      </p:sp>
      <p:sp>
        <p:nvSpPr>
          <p:cNvPr id="22" name="TextBox 21"/>
          <p:cNvSpPr txBox="1"/>
          <p:nvPr/>
        </p:nvSpPr>
        <p:spPr>
          <a:xfrm>
            <a:off x="8503945" y="3007885"/>
            <a:ext cx="448039" cy="400110"/>
          </a:xfrm>
          <a:prstGeom prst="rect">
            <a:avLst/>
          </a:prstGeom>
          <a:noFill/>
        </p:spPr>
        <p:txBody>
          <a:bodyPr wrap="square" rtlCol="0">
            <a:spAutoFit/>
          </a:bodyPr>
          <a:lstStyle/>
          <a:p>
            <a:r>
              <a:rPr lang="en-US" sz="2000" b="1" dirty="0">
                <a:solidFill>
                  <a:srgbClr val="FF0000"/>
                </a:solidFill>
                <a:latin typeface="Comic Sans MS" panose="030F0702030302020204" pitchFamily="66" charset="0"/>
              </a:rPr>
              <a:t>B</a:t>
            </a:r>
          </a:p>
        </p:txBody>
      </p:sp>
      <p:sp>
        <p:nvSpPr>
          <p:cNvPr id="23" name="TextBox 22"/>
          <p:cNvSpPr txBox="1"/>
          <p:nvPr/>
        </p:nvSpPr>
        <p:spPr>
          <a:xfrm>
            <a:off x="9788225" y="3007885"/>
            <a:ext cx="448039" cy="400110"/>
          </a:xfrm>
          <a:prstGeom prst="rect">
            <a:avLst/>
          </a:prstGeom>
          <a:noFill/>
        </p:spPr>
        <p:txBody>
          <a:bodyPr wrap="square" rtlCol="0">
            <a:spAutoFit/>
          </a:bodyPr>
          <a:lstStyle/>
          <a:p>
            <a:r>
              <a:rPr lang="en-US" sz="2000" b="1" dirty="0">
                <a:solidFill>
                  <a:srgbClr val="FF0000"/>
                </a:solidFill>
                <a:latin typeface="Comic Sans MS" panose="030F0702030302020204" pitchFamily="66" charset="0"/>
              </a:rPr>
              <a:t>C</a:t>
            </a:r>
          </a:p>
        </p:txBody>
      </p:sp>
      <p:sp>
        <p:nvSpPr>
          <p:cNvPr id="24" name="TextBox 23"/>
          <p:cNvSpPr txBox="1"/>
          <p:nvPr/>
        </p:nvSpPr>
        <p:spPr>
          <a:xfrm>
            <a:off x="11114724" y="2985907"/>
            <a:ext cx="448039" cy="400110"/>
          </a:xfrm>
          <a:prstGeom prst="rect">
            <a:avLst/>
          </a:prstGeom>
          <a:noFill/>
        </p:spPr>
        <p:txBody>
          <a:bodyPr wrap="square" rtlCol="0">
            <a:spAutoFit/>
          </a:bodyPr>
          <a:lstStyle/>
          <a:p>
            <a:r>
              <a:rPr lang="en-US" sz="2000" b="1" dirty="0">
                <a:solidFill>
                  <a:srgbClr val="FF0000"/>
                </a:solidFill>
                <a:latin typeface="Comic Sans MS" panose="030F0702030302020204" pitchFamily="66" charset="0"/>
              </a:rPr>
              <a:t>D</a:t>
            </a:r>
          </a:p>
        </p:txBody>
      </p:sp>
      <p:pic>
        <p:nvPicPr>
          <p:cNvPr id="25" name="Picture 24">
            <a:extLst>
              <a:ext uri="{FF2B5EF4-FFF2-40B4-BE49-F238E27FC236}">
                <a16:creationId xmlns:a16="http://schemas.microsoft.com/office/drawing/2014/main" id="{0585A9E5-C1CE-437E-BD57-223D74AE58C1}"/>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512949" y="1011907"/>
            <a:ext cx="758669" cy="1460615"/>
          </a:xfrm>
          <a:prstGeom prst="rect">
            <a:avLst/>
          </a:prstGeom>
        </p:spPr>
      </p:pic>
      <p:pic>
        <p:nvPicPr>
          <p:cNvPr id="26" name="Picture 25">
            <a:extLst>
              <a:ext uri="{FF2B5EF4-FFF2-40B4-BE49-F238E27FC236}">
                <a16:creationId xmlns:a16="http://schemas.microsoft.com/office/drawing/2014/main" id="{682F0234-7333-4317-A4F7-55DECB947CC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3491859" y="949318"/>
            <a:ext cx="758669" cy="1585791"/>
          </a:xfrm>
          <a:prstGeom prst="rect">
            <a:avLst/>
          </a:prstGeom>
        </p:spPr>
      </p:pic>
      <p:pic>
        <p:nvPicPr>
          <p:cNvPr id="27" name="Picture 26">
            <a:extLst>
              <a:ext uri="{FF2B5EF4-FFF2-40B4-BE49-F238E27FC236}">
                <a16:creationId xmlns:a16="http://schemas.microsoft.com/office/drawing/2014/main" id="{84867560-1F55-4583-968A-9A10C9DDBB07}"/>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11468000" y="818923"/>
            <a:ext cx="559046" cy="1265437"/>
          </a:xfrm>
          <a:prstGeom prst="rect">
            <a:avLst/>
          </a:prstGeom>
        </p:spPr>
      </p:pic>
    </p:spTree>
    <p:extLst>
      <p:ext uri="{BB962C8B-B14F-4D97-AF65-F5344CB8AC3E}">
        <p14:creationId xmlns:p14="http://schemas.microsoft.com/office/powerpoint/2010/main" val="3020368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8694" y="2779994"/>
            <a:ext cx="5349922" cy="3621367"/>
          </a:xfrm>
        </p:spPr>
        <p:txBody>
          <a:bodyPr>
            <a:noAutofit/>
          </a:bodyPr>
          <a:lstStyle/>
          <a:p>
            <a:pPr marL="0" indent="0">
              <a:buNone/>
            </a:pPr>
            <a:r>
              <a:rPr lang="en-US" sz="3200" dirty="0">
                <a:latin typeface="Comic Sans MS" panose="030F0702030302020204" pitchFamily="66" charset="0"/>
              </a:rPr>
              <a:t>Find the missing numbers.</a:t>
            </a:r>
          </a:p>
          <a:p>
            <a:pPr marL="514350" indent="-514350">
              <a:lnSpc>
                <a:spcPct val="100000"/>
              </a:lnSpc>
              <a:buAutoNum type="alphaLcParenR"/>
            </a:pPr>
            <a:r>
              <a:rPr lang="en-US" sz="3200" dirty="0">
                <a:latin typeface="Comic Sans MS" panose="030F0702030302020204" pitchFamily="66" charset="0"/>
              </a:rPr>
              <a:t>56.602 x 1,000 =</a:t>
            </a:r>
          </a:p>
          <a:p>
            <a:pPr marL="514350" indent="-514350">
              <a:lnSpc>
                <a:spcPct val="100000"/>
              </a:lnSpc>
              <a:buAutoNum type="alphaLcParenR"/>
            </a:pPr>
            <a:r>
              <a:rPr lang="en-US" sz="3200" dirty="0">
                <a:latin typeface="Comic Sans MS" panose="030F0702030302020204" pitchFamily="66" charset="0"/>
              </a:rPr>
              <a:t>789 </a:t>
            </a:r>
            <a:r>
              <a:rPr lang="en-US" sz="3200" b="1" dirty="0">
                <a:latin typeface="Comic Sans MS" panose="030F0702030302020204" pitchFamily="66" charset="0"/>
              </a:rPr>
              <a:t>÷ </a:t>
            </a:r>
            <a:r>
              <a:rPr lang="en-US" sz="3200" dirty="0">
                <a:latin typeface="Comic Sans MS" panose="030F0702030302020204" pitchFamily="66" charset="0"/>
              </a:rPr>
              <a:t>100 =</a:t>
            </a:r>
          </a:p>
          <a:p>
            <a:pPr marL="514350" indent="-514350">
              <a:lnSpc>
                <a:spcPct val="100000"/>
              </a:lnSpc>
              <a:buAutoNum type="alphaLcParenR"/>
            </a:pPr>
            <a:r>
              <a:rPr lang="en-US" sz="3200" dirty="0">
                <a:latin typeface="Comic Sans MS" panose="030F0702030302020204" pitchFamily="66" charset="0"/>
              </a:rPr>
              <a:t>0.078 X 10 =</a:t>
            </a:r>
          </a:p>
          <a:p>
            <a:pPr marL="514350" indent="-514350">
              <a:lnSpc>
                <a:spcPct val="100000"/>
              </a:lnSpc>
              <a:buAutoNum type="alphaLcParenR"/>
            </a:pPr>
            <a:r>
              <a:rPr lang="en-US" sz="3200" dirty="0">
                <a:latin typeface="Comic Sans MS" panose="030F0702030302020204" pitchFamily="66" charset="0"/>
              </a:rPr>
              <a:t>0.95 </a:t>
            </a:r>
            <a:r>
              <a:rPr lang="en-US" sz="3200" b="1" dirty="0">
                <a:latin typeface="Comic Sans MS" panose="030F0702030302020204" pitchFamily="66" charset="0"/>
              </a:rPr>
              <a:t>÷ </a:t>
            </a:r>
            <a:r>
              <a:rPr lang="en-US" sz="3200" dirty="0">
                <a:latin typeface="Comic Sans MS" panose="030F0702030302020204" pitchFamily="66" charset="0"/>
              </a:rPr>
              <a:t>100 =</a:t>
            </a:r>
          </a:p>
          <a:p>
            <a:pPr marL="514350" indent="-514350">
              <a:lnSpc>
                <a:spcPct val="100000"/>
              </a:lnSpc>
              <a:buAutoNum type="alphaLcParenR"/>
            </a:pPr>
            <a:r>
              <a:rPr lang="en-US" sz="3200" dirty="0">
                <a:latin typeface="Comic Sans MS" panose="030F0702030302020204" pitchFamily="66" charset="0"/>
              </a:rPr>
              <a:t>8.345 X 100 </a:t>
            </a:r>
            <a:r>
              <a:rPr lang="en-US" sz="3200" b="1" dirty="0">
                <a:latin typeface="Comic Sans MS" panose="030F0702030302020204" pitchFamily="66" charset="0"/>
              </a:rPr>
              <a:t>÷ </a:t>
            </a:r>
            <a:r>
              <a:rPr lang="en-US" sz="3200" dirty="0">
                <a:latin typeface="Comic Sans MS" panose="030F0702030302020204" pitchFamily="66" charset="0"/>
              </a:rPr>
              <a:t>1,000</a:t>
            </a:r>
            <a:r>
              <a:rPr lang="en-US" sz="3200" b="1" dirty="0">
                <a:latin typeface="Comic Sans MS" panose="030F0702030302020204" pitchFamily="66" charset="0"/>
              </a:rPr>
              <a:t> =</a:t>
            </a:r>
            <a:endParaRPr lang="en-US" sz="3200" dirty="0">
              <a:latin typeface="Comic Sans MS" panose="030F0702030302020204" pitchFamily="66" charset="0"/>
            </a:endParaRPr>
          </a:p>
        </p:txBody>
      </p:sp>
      <p:sp>
        <p:nvSpPr>
          <p:cNvPr id="4"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Comic Sans MS" panose="030F0702030302020204" pitchFamily="66" charset="0"/>
              </a:rPr>
              <a:t>WALT: Use knowledge of place value to multiply and divide whole numbers by 10, 100 and 1,000.</a:t>
            </a:r>
          </a:p>
        </p:txBody>
      </p:sp>
      <p:sp>
        <p:nvSpPr>
          <p:cNvPr id="7" name="TextBox 6"/>
          <p:cNvSpPr txBox="1"/>
          <p:nvPr/>
        </p:nvSpPr>
        <p:spPr>
          <a:xfrm>
            <a:off x="1503804" y="1323328"/>
            <a:ext cx="1368765" cy="830997"/>
          </a:xfrm>
          <a:prstGeom prst="rect">
            <a:avLst/>
          </a:prstGeom>
          <a:noFill/>
        </p:spPr>
        <p:txBody>
          <a:bodyPr wrap="square" rtlCol="0">
            <a:spAutoFit/>
          </a:bodyPr>
          <a:lstStyle/>
          <a:p>
            <a:r>
              <a:rPr lang="en-US" sz="2400" dirty="0">
                <a:latin typeface="Comic Sans MS" panose="030F0702030302020204" pitchFamily="66" charset="0"/>
              </a:rPr>
              <a:t>Work with me.</a:t>
            </a:r>
          </a:p>
        </p:txBody>
      </p:sp>
      <p:sp>
        <p:nvSpPr>
          <p:cNvPr id="8" name="TextBox 7"/>
          <p:cNvSpPr txBox="1"/>
          <p:nvPr/>
        </p:nvSpPr>
        <p:spPr>
          <a:xfrm>
            <a:off x="4422487" y="1330345"/>
            <a:ext cx="2492257" cy="830997"/>
          </a:xfrm>
          <a:prstGeom prst="rect">
            <a:avLst/>
          </a:prstGeom>
          <a:noFill/>
        </p:spPr>
        <p:txBody>
          <a:bodyPr wrap="square" rtlCol="0">
            <a:spAutoFit/>
          </a:bodyPr>
          <a:lstStyle/>
          <a:p>
            <a:r>
              <a:rPr lang="en-US" sz="2400" dirty="0">
                <a:latin typeface="Comic Sans MS" panose="030F0702030302020204" pitchFamily="66" charset="0"/>
              </a:rPr>
              <a:t>Work independently.</a:t>
            </a:r>
          </a:p>
        </p:txBody>
      </p:sp>
      <p:sp>
        <p:nvSpPr>
          <p:cNvPr id="2" name="TextBox 1"/>
          <p:cNvSpPr txBox="1"/>
          <p:nvPr/>
        </p:nvSpPr>
        <p:spPr>
          <a:xfrm>
            <a:off x="4123943" y="3284323"/>
            <a:ext cx="2135686"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56,602</a:t>
            </a:r>
          </a:p>
        </p:txBody>
      </p:sp>
      <p:sp>
        <p:nvSpPr>
          <p:cNvPr id="25" name="TextBox 24"/>
          <p:cNvSpPr txBox="1"/>
          <p:nvPr/>
        </p:nvSpPr>
        <p:spPr>
          <a:xfrm>
            <a:off x="3129032" y="3898938"/>
            <a:ext cx="2135686"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7.89</a:t>
            </a:r>
          </a:p>
        </p:txBody>
      </p:sp>
      <p:sp>
        <p:nvSpPr>
          <p:cNvPr id="26" name="TextBox 25"/>
          <p:cNvSpPr txBox="1"/>
          <p:nvPr/>
        </p:nvSpPr>
        <p:spPr>
          <a:xfrm>
            <a:off x="3354644" y="4541346"/>
            <a:ext cx="2135686"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0.78</a:t>
            </a:r>
          </a:p>
        </p:txBody>
      </p:sp>
      <p:sp>
        <p:nvSpPr>
          <p:cNvPr id="27" name="TextBox 26"/>
          <p:cNvSpPr txBox="1"/>
          <p:nvPr/>
        </p:nvSpPr>
        <p:spPr>
          <a:xfrm>
            <a:off x="3354644" y="5144338"/>
            <a:ext cx="2135686"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0.0095</a:t>
            </a:r>
          </a:p>
        </p:txBody>
      </p:sp>
      <p:sp>
        <p:nvSpPr>
          <p:cNvPr id="28" name="TextBox 27"/>
          <p:cNvSpPr txBox="1"/>
          <p:nvPr/>
        </p:nvSpPr>
        <p:spPr>
          <a:xfrm>
            <a:off x="5264718" y="5786746"/>
            <a:ext cx="2135686" cy="646331"/>
          </a:xfrm>
          <a:prstGeom prst="rect">
            <a:avLst/>
          </a:prstGeom>
          <a:noFill/>
        </p:spPr>
        <p:txBody>
          <a:bodyPr wrap="square" rtlCol="0">
            <a:spAutoFit/>
          </a:bodyPr>
          <a:lstStyle/>
          <a:p>
            <a:r>
              <a:rPr lang="en-US" sz="3600" b="1" dirty="0">
                <a:solidFill>
                  <a:srgbClr val="FF0000"/>
                </a:solidFill>
                <a:latin typeface="Comic Sans MS" panose="030F0702030302020204" pitchFamily="66" charset="0"/>
              </a:rPr>
              <a:t>0.8345</a:t>
            </a:r>
          </a:p>
        </p:txBody>
      </p:sp>
      <p:pic>
        <p:nvPicPr>
          <p:cNvPr id="13" name="Picture 12">
            <a:extLst>
              <a:ext uri="{FF2B5EF4-FFF2-40B4-BE49-F238E27FC236}">
                <a16:creationId xmlns:a16="http://schemas.microsoft.com/office/drawing/2014/main" id="{B5A4FB18-27D4-4C36-AC1C-90670814809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339096" y="1059700"/>
            <a:ext cx="779499" cy="1500718"/>
          </a:xfrm>
          <a:prstGeom prst="rect">
            <a:avLst/>
          </a:prstGeom>
        </p:spPr>
      </p:pic>
      <p:pic>
        <p:nvPicPr>
          <p:cNvPr id="14" name="Picture 13">
            <a:extLst>
              <a:ext uri="{FF2B5EF4-FFF2-40B4-BE49-F238E27FC236}">
                <a16:creationId xmlns:a16="http://schemas.microsoft.com/office/drawing/2014/main" id="{5B10247E-D7B8-4B86-817C-96925D460B9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3642987" y="995393"/>
            <a:ext cx="779500" cy="1629331"/>
          </a:xfrm>
          <a:prstGeom prst="rect">
            <a:avLst/>
          </a:prstGeom>
        </p:spPr>
      </p:pic>
    </p:spTree>
    <p:extLst>
      <p:ext uri="{BB962C8B-B14F-4D97-AF65-F5344CB8AC3E}">
        <p14:creationId xmlns:p14="http://schemas.microsoft.com/office/powerpoint/2010/main" val="56134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5" grpId="0"/>
      <p:bldP spid="26" grpId="0"/>
      <p:bldP spid="27" grpId="0"/>
      <p:bldP spid="2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Comic Sans MS" panose="030F0702030302020204" pitchFamily="66" charset="0"/>
              </a:rPr>
              <a:t>WALT: Use knowledge of place value to multiply and divide whole numbers by 10, 100 and 1,000.</a:t>
            </a:r>
          </a:p>
        </p:txBody>
      </p:sp>
      <p:sp>
        <p:nvSpPr>
          <p:cNvPr id="10" name="TextBox 9"/>
          <p:cNvSpPr txBox="1"/>
          <p:nvPr/>
        </p:nvSpPr>
        <p:spPr>
          <a:xfrm>
            <a:off x="1604249" y="2147335"/>
            <a:ext cx="4951560" cy="1015663"/>
          </a:xfrm>
          <a:prstGeom prst="rect">
            <a:avLst/>
          </a:prstGeom>
          <a:noFill/>
        </p:spPr>
        <p:txBody>
          <a:bodyPr wrap="square" rtlCol="0">
            <a:spAutoFit/>
          </a:bodyPr>
          <a:lstStyle/>
          <a:p>
            <a:r>
              <a:rPr lang="en-US" sz="2000" dirty="0">
                <a:latin typeface="Comic Sans MS" panose="030F0702030302020204" pitchFamily="66" charset="0"/>
              </a:rPr>
              <a:t>Look at these number cards. Write the correct letter of the card next to the correct sentence.</a:t>
            </a:r>
          </a:p>
        </p:txBody>
      </p:sp>
      <p:sp>
        <p:nvSpPr>
          <p:cNvPr id="11" name="Rounded Rectangle 10"/>
          <p:cNvSpPr/>
          <p:nvPr/>
        </p:nvSpPr>
        <p:spPr>
          <a:xfrm>
            <a:off x="1523878" y="3526200"/>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Comic Sans MS" panose="030F0702030302020204" pitchFamily="66" charset="0"/>
            </a:endParaRPr>
          </a:p>
        </p:txBody>
      </p:sp>
      <p:sp>
        <p:nvSpPr>
          <p:cNvPr id="12" name="TextBox 11"/>
          <p:cNvSpPr txBox="1"/>
          <p:nvPr/>
        </p:nvSpPr>
        <p:spPr>
          <a:xfrm>
            <a:off x="1604249" y="3679811"/>
            <a:ext cx="921072" cy="461665"/>
          </a:xfrm>
          <a:prstGeom prst="rect">
            <a:avLst/>
          </a:prstGeom>
          <a:noFill/>
        </p:spPr>
        <p:txBody>
          <a:bodyPr wrap="square" rtlCol="0">
            <a:spAutoFit/>
          </a:bodyPr>
          <a:lstStyle/>
          <a:p>
            <a:r>
              <a:rPr lang="en-US" sz="2400" b="1" dirty="0">
                <a:latin typeface="Comic Sans MS" panose="030F0702030302020204" pitchFamily="66" charset="0"/>
              </a:rPr>
              <a:t>6.1</a:t>
            </a:r>
          </a:p>
        </p:txBody>
      </p:sp>
      <p:sp>
        <p:nvSpPr>
          <p:cNvPr id="13" name="Rounded Rectangle 12"/>
          <p:cNvSpPr/>
          <p:nvPr/>
        </p:nvSpPr>
        <p:spPr>
          <a:xfrm>
            <a:off x="2800124" y="3526200"/>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Comic Sans MS" panose="030F0702030302020204" pitchFamily="66" charset="0"/>
            </a:endParaRPr>
          </a:p>
        </p:txBody>
      </p:sp>
      <p:sp>
        <p:nvSpPr>
          <p:cNvPr id="14" name="TextBox 13"/>
          <p:cNvSpPr txBox="1"/>
          <p:nvPr/>
        </p:nvSpPr>
        <p:spPr>
          <a:xfrm>
            <a:off x="3074927" y="3773039"/>
            <a:ext cx="600501" cy="461665"/>
          </a:xfrm>
          <a:prstGeom prst="rect">
            <a:avLst/>
          </a:prstGeom>
          <a:noFill/>
        </p:spPr>
        <p:txBody>
          <a:bodyPr wrap="square" rtlCol="0">
            <a:spAutoFit/>
          </a:bodyPr>
          <a:lstStyle/>
          <a:p>
            <a:r>
              <a:rPr lang="en-US" sz="2400" b="1" dirty="0">
                <a:latin typeface="Comic Sans MS" panose="030F0702030302020204" pitchFamily="66" charset="0"/>
              </a:rPr>
              <a:t>61</a:t>
            </a:r>
          </a:p>
        </p:txBody>
      </p:sp>
      <p:sp>
        <p:nvSpPr>
          <p:cNvPr id="15" name="Rounded Rectangle 14"/>
          <p:cNvSpPr/>
          <p:nvPr/>
        </p:nvSpPr>
        <p:spPr>
          <a:xfrm>
            <a:off x="4089532" y="3513695"/>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Comic Sans MS" panose="030F0702030302020204" pitchFamily="66" charset="0"/>
            </a:endParaRPr>
          </a:p>
        </p:txBody>
      </p:sp>
      <p:sp>
        <p:nvSpPr>
          <p:cNvPr id="16" name="TextBox 15"/>
          <p:cNvSpPr txBox="1"/>
          <p:nvPr/>
        </p:nvSpPr>
        <p:spPr>
          <a:xfrm>
            <a:off x="4226933" y="3760534"/>
            <a:ext cx="877204" cy="461665"/>
          </a:xfrm>
          <a:prstGeom prst="rect">
            <a:avLst/>
          </a:prstGeom>
          <a:noFill/>
        </p:spPr>
        <p:txBody>
          <a:bodyPr wrap="square" rtlCol="0">
            <a:spAutoFit/>
          </a:bodyPr>
          <a:lstStyle/>
          <a:p>
            <a:r>
              <a:rPr lang="en-US" sz="2400" b="1" dirty="0">
                <a:latin typeface="Comic Sans MS" panose="030F0702030302020204" pitchFamily="66" charset="0"/>
              </a:rPr>
              <a:t>610</a:t>
            </a:r>
          </a:p>
        </p:txBody>
      </p:sp>
      <p:sp>
        <p:nvSpPr>
          <p:cNvPr id="17" name="Rounded Rectangle 16"/>
          <p:cNvSpPr/>
          <p:nvPr/>
        </p:nvSpPr>
        <p:spPr>
          <a:xfrm>
            <a:off x="5411960" y="3526200"/>
            <a:ext cx="1014605" cy="9553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latin typeface="Comic Sans MS" panose="030F0702030302020204" pitchFamily="66" charset="0"/>
            </a:endParaRPr>
          </a:p>
        </p:txBody>
      </p:sp>
      <p:sp>
        <p:nvSpPr>
          <p:cNvPr id="18" name="TextBox 17"/>
          <p:cNvSpPr txBox="1"/>
          <p:nvPr/>
        </p:nvSpPr>
        <p:spPr>
          <a:xfrm>
            <a:off x="5500009" y="3773039"/>
            <a:ext cx="877204" cy="461665"/>
          </a:xfrm>
          <a:prstGeom prst="rect">
            <a:avLst/>
          </a:prstGeom>
          <a:noFill/>
        </p:spPr>
        <p:txBody>
          <a:bodyPr wrap="square" rtlCol="0">
            <a:spAutoFit/>
          </a:bodyPr>
          <a:lstStyle/>
          <a:p>
            <a:r>
              <a:rPr lang="en-US" sz="2400" b="1" dirty="0">
                <a:latin typeface="Comic Sans MS" panose="030F0702030302020204" pitchFamily="66" charset="0"/>
              </a:rPr>
              <a:t>0.61</a:t>
            </a:r>
          </a:p>
        </p:txBody>
      </p:sp>
      <p:sp>
        <p:nvSpPr>
          <p:cNvPr id="19" name="Content Placeholder 2"/>
          <p:cNvSpPr txBox="1">
            <a:spLocks/>
          </p:cNvSpPr>
          <p:nvPr/>
        </p:nvSpPr>
        <p:spPr>
          <a:xfrm>
            <a:off x="506921" y="4648555"/>
            <a:ext cx="6278061" cy="362136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Arial" panose="020B0604020202020204" pitchFamily="34" charset="0"/>
              <a:buAutoNum type="alphaLcParenR"/>
            </a:pPr>
            <a:r>
              <a:rPr lang="en-US" sz="2000" dirty="0">
                <a:latin typeface="Comic Sans MS" panose="030F0702030302020204" pitchFamily="66" charset="0"/>
              </a:rPr>
              <a:t>One hundredth of 61</a:t>
            </a:r>
          </a:p>
          <a:p>
            <a:pPr marL="514350" indent="-514350">
              <a:buFont typeface="Arial" panose="020B0604020202020204" pitchFamily="34" charset="0"/>
              <a:buAutoNum type="alphaLcParenR"/>
            </a:pPr>
            <a:r>
              <a:rPr lang="en-US" sz="2000" dirty="0">
                <a:latin typeface="Comic Sans MS" panose="030F0702030302020204" pitchFamily="66" charset="0"/>
              </a:rPr>
              <a:t>One thousand times bigger than 0.061</a:t>
            </a:r>
          </a:p>
          <a:p>
            <a:pPr marL="514350" indent="-514350">
              <a:buFont typeface="Arial" panose="020B0604020202020204" pitchFamily="34" charset="0"/>
              <a:buAutoNum type="alphaLcParenR"/>
            </a:pPr>
            <a:r>
              <a:rPr lang="en-US" sz="2000" dirty="0">
                <a:latin typeface="Comic Sans MS" panose="030F0702030302020204" pitchFamily="66" charset="0"/>
              </a:rPr>
              <a:t>The number one hundred times smaller than 610.</a:t>
            </a:r>
          </a:p>
          <a:p>
            <a:pPr marL="0" indent="0">
              <a:buNone/>
            </a:pPr>
            <a:r>
              <a:rPr lang="en-US" sz="2000" dirty="0">
                <a:latin typeface="Comic Sans MS" panose="030F0702030302020204" pitchFamily="66" charset="0"/>
              </a:rPr>
              <a:t>d) Write your own sentence for the card that is left.</a:t>
            </a:r>
          </a:p>
        </p:txBody>
      </p:sp>
      <p:sp>
        <p:nvSpPr>
          <p:cNvPr id="20" name="TextBox 19"/>
          <p:cNvSpPr txBox="1"/>
          <p:nvPr/>
        </p:nvSpPr>
        <p:spPr>
          <a:xfrm>
            <a:off x="1828799" y="3144363"/>
            <a:ext cx="448039" cy="46166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A</a:t>
            </a:r>
          </a:p>
        </p:txBody>
      </p:sp>
      <p:sp>
        <p:nvSpPr>
          <p:cNvPr id="22" name="TextBox 21"/>
          <p:cNvSpPr txBox="1"/>
          <p:nvPr/>
        </p:nvSpPr>
        <p:spPr>
          <a:xfrm>
            <a:off x="3113079" y="3144363"/>
            <a:ext cx="448039" cy="46166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B</a:t>
            </a:r>
          </a:p>
        </p:txBody>
      </p:sp>
      <p:sp>
        <p:nvSpPr>
          <p:cNvPr id="23" name="TextBox 22"/>
          <p:cNvSpPr txBox="1"/>
          <p:nvPr/>
        </p:nvSpPr>
        <p:spPr>
          <a:xfrm>
            <a:off x="4397359" y="3144363"/>
            <a:ext cx="448039" cy="46166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C</a:t>
            </a:r>
          </a:p>
        </p:txBody>
      </p:sp>
      <p:sp>
        <p:nvSpPr>
          <p:cNvPr id="24" name="TextBox 23"/>
          <p:cNvSpPr txBox="1"/>
          <p:nvPr/>
        </p:nvSpPr>
        <p:spPr>
          <a:xfrm>
            <a:off x="5723858" y="3122385"/>
            <a:ext cx="448039" cy="46166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D</a:t>
            </a:r>
          </a:p>
        </p:txBody>
      </p:sp>
      <p:sp>
        <p:nvSpPr>
          <p:cNvPr id="27" name="TextBox 26"/>
          <p:cNvSpPr txBox="1"/>
          <p:nvPr/>
        </p:nvSpPr>
        <p:spPr>
          <a:xfrm>
            <a:off x="3814729" y="4588903"/>
            <a:ext cx="448039" cy="46166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D</a:t>
            </a:r>
          </a:p>
        </p:txBody>
      </p:sp>
      <p:sp>
        <p:nvSpPr>
          <p:cNvPr id="28" name="TextBox 27"/>
          <p:cNvSpPr txBox="1"/>
          <p:nvPr/>
        </p:nvSpPr>
        <p:spPr>
          <a:xfrm>
            <a:off x="5647961" y="5001647"/>
            <a:ext cx="448039" cy="46166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B</a:t>
            </a:r>
          </a:p>
        </p:txBody>
      </p:sp>
      <p:sp>
        <p:nvSpPr>
          <p:cNvPr id="29" name="TextBox 28"/>
          <p:cNvSpPr txBox="1"/>
          <p:nvPr/>
        </p:nvSpPr>
        <p:spPr>
          <a:xfrm>
            <a:off x="1933850" y="5667646"/>
            <a:ext cx="456860" cy="461665"/>
          </a:xfrm>
          <a:prstGeom prst="rect">
            <a:avLst/>
          </a:prstGeom>
          <a:noFill/>
        </p:spPr>
        <p:txBody>
          <a:bodyPr wrap="square" rtlCol="0">
            <a:spAutoFit/>
          </a:bodyPr>
          <a:lstStyle/>
          <a:p>
            <a:r>
              <a:rPr lang="en-US" sz="2400" b="1" dirty="0">
                <a:solidFill>
                  <a:srgbClr val="FF0000"/>
                </a:solidFill>
                <a:latin typeface="Comic Sans MS" panose="030F0702030302020204" pitchFamily="66" charset="0"/>
              </a:rPr>
              <a:t>A</a:t>
            </a:r>
          </a:p>
        </p:txBody>
      </p:sp>
      <p:pic>
        <p:nvPicPr>
          <p:cNvPr id="21" name="Picture 20">
            <a:extLst>
              <a:ext uri="{FF2B5EF4-FFF2-40B4-BE49-F238E27FC236}">
                <a16:creationId xmlns:a16="http://schemas.microsoft.com/office/drawing/2014/main" id="{0C4C168F-0009-4B5F-9398-454C43A6963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232533" y="1085418"/>
            <a:ext cx="899893" cy="2036967"/>
          </a:xfrm>
          <a:prstGeom prst="rect">
            <a:avLst/>
          </a:prstGeom>
        </p:spPr>
      </p:pic>
    </p:spTree>
    <p:extLst>
      <p:ext uri="{BB962C8B-B14F-4D97-AF65-F5344CB8AC3E}">
        <p14:creationId xmlns:p14="http://schemas.microsoft.com/office/powerpoint/2010/main" val="86383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500"/>
                                        <p:tgtEl>
                                          <p:spTgt spid="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xEl>
                                              <p:pRg st="0" end="0"/>
                                            </p:txEl>
                                          </p:spTgt>
                                        </p:tgtEl>
                                        <p:attrNameLst>
                                          <p:attrName>style.visibility</p:attrName>
                                        </p:attrNameLst>
                                      </p:cBhvr>
                                      <p:to>
                                        <p:strVal val="visible"/>
                                      </p:to>
                                    </p:set>
                                    <p:animEffect transition="in" filter="fade">
                                      <p:cBhvr>
                                        <p:cTn id="12" dur="500"/>
                                        <p:tgtEl>
                                          <p:spTgt spid="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xEl>
                                              <p:pRg st="0" end="0"/>
                                            </p:txEl>
                                          </p:spTgt>
                                        </p:tgtEl>
                                        <p:attrNameLst>
                                          <p:attrName>style.visibility</p:attrName>
                                        </p:attrNameLst>
                                      </p:cBhvr>
                                      <p:to>
                                        <p:strVal val="visible"/>
                                      </p:to>
                                    </p:set>
                                    <p:animEffect transition="in" filter="fade">
                                      <p:cBhvr>
                                        <p:cTn id="17"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04716" y="23475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u="sng" dirty="0">
                <a:latin typeface="Comic Sans MS" panose="030F0702030302020204" pitchFamily="66" charset="0"/>
              </a:rPr>
              <a:t>WALT: Use knowledge of place value to multiply and divide whole numbers by 10, 100 and 1,000.</a:t>
            </a:r>
          </a:p>
        </p:txBody>
      </p:sp>
      <p:sp>
        <p:nvSpPr>
          <p:cNvPr id="7" name="Rectangle 6"/>
          <p:cNvSpPr/>
          <p:nvPr/>
        </p:nvSpPr>
        <p:spPr>
          <a:xfrm>
            <a:off x="352697" y="3526971"/>
            <a:ext cx="3435532" cy="2155372"/>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Comic Sans MS" panose="030F0702030302020204" pitchFamily="66" charset="0"/>
              </a:rPr>
              <a:t>With support, I can multiply and divide decimal and whole numbers by 10, 100 and 1,000.</a:t>
            </a:r>
          </a:p>
        </p:txBody>
      </p:sp>
      <p:sp>
        <p:nvSpPr>
          <p:cNvPr id="8" name="Rectangle 7"/>
          <p:cNvSpPr/>
          <p:nvPr/>
        </p:nvSpPr>
        <p:spPr>
          <a:xfrm>
            <a:off x="4480560" y="3526971"/>
            <a:ext cx="3396343" cy="215537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Comic Sans MS" panose="030F0702030302020204" pitchFamily="66" charset="0"/>
              </a:rPr>
              <a:t>Independently, I can multiply and divide decimal and whole numbers by 10, 100 and 1,000.</a:t>
            </a:r>
          </a:p>
        </p:txBody>
      </p:sp>
      <p:sp>
        <p:nvSpPr>
          <p:cNvPr id="14" name="Rectangle 13"/>
          <p:cNvSpPr/>
          <p:nvPr/>
        </p:nvSpPr>
        <p:spPr>
          <a:xfrm>
            <a:off x="8524049" y="3526971"/>
            <a:ext cx="3396343" cy="2155372"/>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Comic Sans MS" panose="030F0702030302020204" pitchFamily="66" charset="0"/>
              </a:rPr>
              <a:t>I can write my own question when given the answer.</a:t>
            </a:r>
          </a:p>
        </p:txBody>
      </p:sp>
      <p:sp>
        <p:nvSpPr>
          <p:cNvPr id="11" name="TextBox 10"/>
          <p:cNvSpPr txBox="1"/>
          <p:nvPr/>
        </p:nvSpPr>
        <p:spPr>
          <a:xfrm>
            <a:off x="8611686" y="3659760"/>
            <a:ext cx="3221068" cy="461665"/>
          </a:xfrm>
          <a:prstGeom prst="rect">
            <a:avLst/>
          </a:prstGeom>
          <a:noFill/>
        </p:spPr>
        <p:txBody>
          <a:bodyPr wrap="square" rtlCol="0">
            <a:spAutoFit/>
          </a:bodyPr>
          <a:lstStyle/>
          <a:p>
            <a:endParaRPr lang="en-US" sz="2400" b="1" dirty="0">
              <a:latin typeface="Comic Sans MS" panose="030F0702030302020204" pitchFamily="66" charset="0"/>
            </a:endParaRPr>
          </a:p>
        </p:txBody>
      </p:sp>
      <p:pic>
        <p:nvPicPr>
          <p:cNvPr id="10" name="Picture 9">
            <a:extLst>
              <a:ext uri="{FF2B5EF4-FFF2-40B4-BE49-F238E27FC236}">
                <a16:creationId xmlns:a16="http://schemas.microsoft.com/office/drawing/2014/main" id="{8D210CF2-E590-4AEE-BDA5-B348319AFD1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709" b="92718" l="9346" r="89720">
                        <a14:foregroundMark x1="44860" y1="92718" x2="44860" y2="92718"/>
                      </a14:backgroundRemoval>
                    </a14:imgEffect>
                  </a14:imgLayer>
                </a14:imgProps>
              </a:ext>
            </a:extLst>
          </a:blip>
          <a:stretch>
            <a:fillRect/>
          </a:stretch>
        </p:blipFill>
        <p:spPr>
          <a:xfrm>
            <a:off x="1320662" y="1319379"/>
            <a:ext cx="1102890" cy="2123320"/>
          </a:xfrm>
          <a:prstGeom prst="rect">
            <a:avLst/>
          </a:prstGeom>
        </p:spPr>
      </p:pic>
      <p:pic>
        <p:nvPicPr>
          <p:cNvPr id="12" name="Picture 11">
            <a:extLst>
              <a:ext uri="{FF2B5EF4-FFF2-40B4-BE49-F238E27FC236}">
                <a16:creationId xmlns:a16="http://schemas.microsoft.com/office/drawing/2014/main" id="{2B072FBE-BB7D-471A-AA6A-8152596267B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7914" b="93885" l="9023" r="89474">
                        <a14:foregroundMark x1="31579" y1="8273" x2="31579" y2="8273"/>
                        <a14:foregroundMark x1="34586" y1="15108" x2="34586" y2="15108"/>
                        <a14:foregroundMark x1="33083" y1="12950" x2="33083" y2="12950"/>
                        <a14:foregroundMark x1="53383" y1="16906" x2="53383" y2="16906"/>
                        <a14:foregroundMark x1="66165" y1="24460" x2="66165" y2="24460"/>
                        <a14:foregroundMark x1="44361" y1="20504" x2="44361" y2="20504"/>
                        <a14:foregroundMark x1="48120" y1="18705" x2="48120" y2="18705"/>
                        <a14:foregroundMark x1="57895" y1="27338" x2="57895" y2="27338"/>
                        <a14:foregroundMark x1="54887" y1="93885" x2="54887" y2="93885"/>
                      </a14:backgroundRemoval>
                    </a14:imgEffect>
                  </a14:imgLayer>
                </a14:imgProps>
              </a:ext>
              <a:ext uri="{28A0092B-C50C-407E-A947-70E740481C1C}">
                <a14:useLocalDpi xmlns:a14="http://schemas.microsoft.com/office/drawing/2010/main" val="0"/>
              </a:ext>
            </a:extLst>
          </a:blip>
          <a:stretch>
            <a:fillRect/>
          </a:stretch>
        </p:blipFill>
        <p:spPr>
          <a:xfrm>
            <a:off x="5544555" y="1059700"/>
            <a:ext cx="1102890" cy="2305290"/>
          </a:xfrm>
          <a:prstGeom prst="rect">
            <a:avLst/>
          </a:prstGeom>
        </p:spPr>
      </p:pic>
      <p:pic>
        <p:nvPicPr>
          <p:cNvPr id="13" name="Picture 12">
            <a:extLst>
              <a:ext uri="{FF2B5EF4-FFF2-40B4-BE49-F238E27FC236}">
                <a16:creationId xmlns:a16="http://schemas.microsoft.com/office/drawing/2014/main" id="{ABF22869-84F4-4B45-A394-FDD353F27BA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904" b="97603" l="8527" r="89147">
                        <a14:foregroundMark x1="54264" y1="17808" x2="54264" y2="17808"/>
                        <a14:foregroundMark x1="66667" y1="25685" x2="66667" y2="25685"/>
                        <a14:foregroundMark x1="66667" y1="97945" x2="66667" y2="97945"/>
                        <a14:foregroundMark x1="33333" y1="8904" x2="33333" y2="8904"/>
                        <a14:foregroundMark x1="35659" y1="15068" x2="35659" y2="15068"/>
                        <a14:foregroundMark x1="35659" y1="11986" x2="35659" y2="11986"/>
                        <a14:foregroundMark x1="58140" y1="19178" x2="58140" y2="19178"/>
                        <a14:foregroundMark x1="46512" y1="19863" x2="46512" y2="19863"/>
                        <a14:foregroundMark x1="72868" y1="25342" x2="72868" y2="25342"/>
                        <a14:foregroundMark x1="68992" y1="21575" x2="68992" y2="21575"/>
                        <a14:foregroundMark x1="52713" y1="17808" x2="52713" y2="17808"/>
                        <a14:foregroundMark x1="53488" y1="16096" x2="53488" y2="16096"/>
                        <a14:foregroundMark x1="33333" y1="9247" x2="33333" y2="9247"/>
                        <a14:foregroundMark x1="24031" y1="9247" x2="24031" y2="9247"/>
                        <a14:foregroundMark x1="36434" y1="34589" x2="36434" y2="34589"/>
                        <a14:foregroundMark x1="38760" y1="32192" x2="38760" y2="32192"/>
                      </a14:backgroundRemoval>
                    </a14:imgEffect>
                  </a14:imgLayer>
                </a14:imgProps>
              </a:ext>
              <a:ext uri="{28A0092B-C50C-407E-A947-70E740481C1C}">
                <a14:useLocalDpi xmlns:a14="http://schemas.microsoft.com/office/drawing/2010/main" val="0"/>
              </a:ext>
            </a:extLst>
          </a:blip>
          <a:stretch>
            <a:fillRect/>
          </a:stretch>
        </p:blipFill>
        <p:spPr>
          <a:xfrm>
            <a:off x="9793850" y="946235"/>
            <a:ext cx="1102890" cy="2496464"/>
          </a:xfrm>
          <a:prstGeom prst="rect">
            <a:avLst/>
          </a:prstGeom>
        </p:spPr>
      </p:pic>
    </p:spTree>
    <p:extLst>
      <p:ext uri="{BB962C8B-B14F-4D97-AF65-F5344CB8AC3E}">
        <p14:creationId xmlns:p14="http://schemas.microsoft.com/office/powerpoint/2010/main" val="955331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940" y="903734"/>
            <a:ext cx="10881871" cy="5729078"/>
          </a:xfrm>
        </p:spPr>
        <p:txBody>
          <a:bodyPr>
            <a:normAutofit/>
          </a:bodyPr>
          <a:lstStyle/>
          <a:p>
            <a:r>
              <a:rPr lang="en-US" sz="3200" b="1" dirty="0">
                <a:latin typeface="Comic Sans MS" panose="030F0702030302020204" pitchFamily="66" charset="0"/>
              </a:rPr>
              <a:t>Plenary – </a:t>
            </a:r>
            <a:br>
              <a:rPr lang="en-US" sz="3200" b="1" dirty="0">
                <a:latin typeface="Comic Sans MS" panose="030F0702030302020204" pitchFamily="66" charset="0"/>
              </a:rPr>
            </a:br>
            <a:br>
              <a:rPr lang="en-US" b="1" dirty="0">
                <a:latin typeface="Comic Sans MS" panose="030F0702030302020204" pitchFamily="66" charset="0"/>
              </a:rPr>
            </a:br>
            <a:r>
              <a:rPr lang="en-US" sz="3600" dirty="0">
                <a:latin typeface="Comic Sans MS" panose="030F0702030302020204" pitchFamily="66" charset="0"/>
              </a:rPr>
              <a:t>There are ten buses in the carpark.</a:t>
            </a:r>
            <a:br>
              <a:rPr lang="en-US" sz="3600" dirty="0">
                <a:latin typeface="Comic Sans MS" panose="030F0702030302020204" pitchFamily="66" charset="0"/>
              </a:rPr>
            </a:br>
            <a:r>
              <a:rPr lang="en-US" sz="3600" dirty="0">
                <a:latin typeface="Comic Sans MS" panose="030F0702030302020204" pitchFamily="66" charset="0"/>
              </a:rPr>
              <a:t>Each bus has ten people on it.</a:t>
            </a:r>
            <a:br>
              <a:rPr lang="en-US" sz="3600" dirty="0">
                <a:latin typeface="Comic Sans MS" panose="030F0702030302020204" pitchFamily="66" charset="0"/>
              </a:rPr>
            </a:br>
            <a:r>
              <a:rPr lang="en-US" sz="3600" dirty="0">
                <a:latin typeface="Comic Sans MS" panose="030F0702030302020204" pitchFamily="66" charset="0"/>
              </a:rPr>
              <a:t>Each person has ten fingers.</a:t>
            </a:r>
            <a:br>
              <a:rPr lang="en-US" sz="3600" dirty="0">
                <a:latin typeface="Comic Sans MS" panose="030F0702030302020204" pitchFamily="66" charset="0"/>
              </a:rPr>
            </a:br>
            <a:br>
              <a:rPr lang="en-US" sz="3600" dirty="0">
                <a:latin typeface="Comic Sans MS" panose="030F0702030302020204" pitchFamily="66" charset="0"/>
              </a:rPr>
            </a:br>
            <a:r>
              <a:rPr lang="en-US" sz="3600" dirty="0">
                <a:latin typeface="Comic Sans MS" panose="030F0702030302020204" pitchFamily="66" charset="0"/>
              </a:rPr>
              <a:t>One bus drives away. One person gets off one of the remaining buses and leaves the carpark.</a:t>
            </a:r>
            <a:br>
              <a:rPr lang="en-US" sz="3600" dirty="0">
                <a:latin typeface="Comic Sans MS" panose="030F0702030302020204" pitchFamily="66" charset="0"/>
              </a:rPr>
            </a:br>
            <a:br>
              <a:rPr lang="en-US" sz="3600" dirty="0">
                <a:latin typeface="Comic Sans MS" panose="030F0702030302020204" pitchFamily="66" charset="0"/>
              </a:rPr>
            </a:br>
            <a:r>
              <a:rPr lang="en-US" sz="3600" dirty="0">
                <a:latin typeface="Comic Sans MS" panose="030F0702030302020204" pitchFamily="66" charset="0"/>
              </a:rPr>
              <a:t>How many fingers are left in the car park?</a:t>
            </a:r>
            <a:br>
              <a:rPr lang="en-US" b="1" dirty="0">
                <a:latin typeface="Comic Sans MS" panose="030F0702030302020204" pitchFamily="66" charset="0"/>
              </a:rPr>
            </a:br>
            <a:r>
              <a:rPr lang="en-US" b="1" dirty="0">
                <a:latin typeface="Comic Sans MS" panose="030F0702030302020204" pitchFamily="66" charset="0"/>
              </a:rPr>
              <a:t> </a:t>
            </a:r>
            <a:endParaRPr lang="en-US" dirty="0">
              <a:latin typeface="Comic Sans MS" panose="030F0702030302020204" pitchFamily="66" charset="0"/>
            </a:endParaRPr>
          </a:p>
        </p:txBody>
      </p:sp>
      <p:sp>
        <p:nvSpPr>
          <p:cNvPr id="6" name="TextBox 5"/>
          <p:cNvSpPr txBox="1"/>
          <p:nvPr/>
        </p:nvSpPr>
        <p:spPr>
          <a:xfrm>
            <a:off x="8434315" y="5924926"/>
            <a:ext cx="3439235" cy="707886"/>
          </a:xfrm>
          <a:prstGeom prst="rect">
            <a:avLst/>
          </a:prstGeom>
          <a:noFill/>
        </p:spPr>
        <p:txBody>
          <a:bodyPr wrap="square" rtlCol="0">
            <a:spAutoFit/>
          </a:bodyPr>
          <a:lstStyle/>
          <a:p>
            <a:r>
              <a:rPr lang="en-US" sz="4000" b="1" dirty="0">
                <a:solidFill>
                  <a:srgbClr val="FF0000"/>
                </a:solidFill>
                <a:latin typeface="Comic Sans MS" panose="030F0702030302020204" pitchFamily="66" charset="0"/>
              </a:rPr>
              <a:t>890 fingers</a:t>
            </a:r>
          </a:p>
        </p:txBody>
      </p:sp>
      <p:sp>
        <p:nvSpPr>
          <p:cNvPr id="10" name="Subtitle 2"/>
          <p:cNvSpPr txBox="1">
            <a:spLocks/>
          </p:cNvSpPr>
          <p:nvPr/>
        </p:nvSpPr>
        <p:spPr>
          <a:xfrm>
            <a:off x="322940" y="248642"/>
            <a:ext cx="11402922" cy="807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latin typeface="Comic Sans MS" panose="030F0702030302020204" pitchFamily="66" charset="0"/>
              </a:rPr>
              <a:t>WALT: Use knowledge of place value to multiply and divide whole numbers by 10, 100 and 1,000.</a:t>
            </a:r>
          </a:p>
        </p:txBody>
      </p:sp>
    </p:spTree>
    <p:extLst>
      <p:ext uri="{BB962C8B-B14F-4D97-AF65-F5344CB8AC3E}">
        <p14:creationId xmlns:p14="http://schemas.microsoft.com/office/powerpoint/2010/main" val="37328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6564</TotalTime>
  <Words>1060</Words>
  <Application>Microsoft Office PowerPoint</Application>
  <PresentationFormat>Widescreen</PresentationFormat>
  <Paragraphs>160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Comic Sans MS</vt:lpstr>
      <vt:lpstr>Office Theme</vt:lpstr>
      <vt:lpstr>Maths </vt:lpstr>
      <vt:lpstr>PowerPoint Presentation</vt:lpstr>
      <vt:lpstr>Homework</vt:lpstr>
      <vt:lpstr>Retrieval Practice – </vt:lpstr>
      <vt:lpstr>Starter – Match the equivalent calculations. </vt:lpstr>
      <vt:lpstr>How do we multiply by 10?</vt:lpstr>
      <vt:lpstr>How do we multiply by 100?</vt:lpstr>
      <vt:lpstr>How do we multiply by 1,000?</vt:lpstr>
      <vt:lpstr>Check your understanding</vt:lpstr>
      <vt:lpstr>How do we divide by 10?</vt:lpstr>
      <vt:lpstr>How do we divide by 100?</vt:lpstr>
      <vt:lpstr>How do we divide by 1,000?</vt:lpstr>
      <vt:lpstr>Check your understanding</vt:lpstr>
      <vt:lpstr>PowerPoint Presentation</vt:lpstr>
      <vt:lpstr>PowerPoint Presentation</vt:lpstr>
      <vt:lpstr>PowerPoint Presentation</vt:lpstr>
      <vt:lpstr>PowerPoint Presentation</vt:lpstr>
      <vt:lpstr>Plenary –   There are ten buses in the carpark. Each bus has ten people on it. Each person has ten fingers.  One bus drives away. One person gets off one of the remaining buses and leaves the carpark.  How many fingers are left in the car park?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Maths</dc:title>
  <dc:creator>Jonathan Michael Holliday (VSC-KTiH-MB)</dc:creator>
  <cp:lastModifiedBy>Colette Aisling Meade (VSC-KTiH-MB)</cp:lastModifiedBy>
  <cp:revision>62</cp:revision>
  <cp:lastPrinted>2026-08-20T00:15:11Z</cp:lastPrinted>
  <dcterms:created xsi:type="dcterms:W3CDTF">2022-08-15T06:38:27Z</dcterms:created>
  <dcterms:modified xsi:type="dcterms:W3CDTF">2026-08-20T05:08:06Z</dcterms:modified>
</cp:coreProperties>
</file>
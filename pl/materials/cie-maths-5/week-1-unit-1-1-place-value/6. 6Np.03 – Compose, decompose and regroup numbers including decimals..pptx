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4" r:id="rId5"/>
    <p:sldId id="294" r:id="rId6"/>
    <p:sldId id="304" r:id="rId7"/>
    <p:sldId id="295" r:id="rId8"/>
    <p:sldId id="296" r:id="rId9"/>
    <p:sldId id="298" r:id="rId10"/>
    <p:sldId id="299" r:id="rId11"/>
    <p:sldId id="301" r:id="rId12"/>
    <p:sldId id="302" r:id="rId13"/>
    <p:sldId id="303" r:id="rId14"/>
    <p:sldId id="300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11" autoAdjust="0"/>
    <p:restoredTop sz="94660"/>
  </p:normalViewPr>
  <p:slideViewPr>
    <p:cSldViewPr snapToGrid="0">
      <p:cViewPr varScale="1">
        <p:scale>
          <a:sx n="66" d="100"/>
          <a:sy n="66" d="100"/>
        </p:scale>
        <p:origin x="3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5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3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9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4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7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55409-3F01-417C-95F5-A887D11611B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3166712"/>
            <a:ext cx="10588079" cy="2463380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Compose, decompose and regroup numbers including decimals.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Unit 1.1 – Place Value </a:t>
            </a:r>
          </a:p>
        </p:txBody>
      </p:sp>
    </p:spTree>
    <p:extLst>
      <p:ext uri="{BB962C8B-B14F-4D97-AF65-F5344CB8AC3E}">
        <p14:creationId xmlns:p14="http://schemas.microsoft.com/office/powerpoint/2010/main" val="425447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compose and decompose decimal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regrouping to solve missing number questions involving decimals.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regrouping to decompose a number in multiple ways.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6297C2-53BB-4E30-8EC9-0EF9FBB94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1052" y="1305680"/>
            <a:ext cx="1102890" cy="2123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CBD7CB-FD6A-4CFE-8AD2-3383549BE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945" y="1046001"/>
            <a:ext cx="1102890" cy="23052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3431E5-837E-4FC1-8055-226B368E1A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240" y="932536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36" y="62126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Retrieval Practice – 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4832" y="2257462"/>
            <a:ext cx="727255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Ms. Colette says “5,807 divided by 1,000 is 5.87”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Is she correct?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What mistake has she made?</a:t>
            </a:r>
          </a:p>
        </p:txBody>
      </p:sp>
      <p:pic>
        <p:nvPicPr>
          <p:cNvPr id="1028" name="Picture 4" descr="How to Tell Your Partner About Your Mental Illness | HealthyPl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384" y="2508615"/>
            <a:ext cx="3549784" cy="306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659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75" y="102111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 – What do the following words mean? 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92791" y="40249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omic Sans MS" panose="030F0702030302020204" pitchFamily="66" charset="0"/>
              </a:rPr>
              <a:t>Compose</a:t>
            </a:r>
          </a:p>
          <a:p>
            <a:endParaRPr lang="en-US" b="1" dirty="0"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Decompose</a:t>
            </a:r>
          </a:p>
          <a:p>
            <a:endParaRPr lang="en-US" b="1" dirty="0"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Regroup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36024" y="3033283"/>
            <a:ext cx="504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Put together.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6024" y="4312556"/>
            <a:ext cx="57866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Break down into parts.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6024" y="5398207"/>
            <a:ext cx="6919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Change the way a number is written.</a:t>
            </a:r>
          </a:p>
        </p:txBody>
      </p:sp>
    </p:spTree>
    <p:extLst>
      <p:ext uri="{BB962C8B-B14F-4D97-AF65-F5344CB8AC3E}">
        <p14:creationId xmlns:p14="http://schemas.microsoft.com/office/powerpoint/2010/main" val="216535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859454"/>
            <a:ext cx="12149844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We can use our knowledge of place value to </a:t>
            </a:r>
            <a:r>
              <a:rPr lang="en-US" sz="2800" b="1" u="sng" dirty="0">
                <a:latin typeface="Comic Sans MS" panose="030F0702030302020204" pitchFamily="66" charset="0"/>
              </a:rPr>
              <a:t>decompose</a:t>
            </a:r>
            <a:r>
              <a:rPr lang="en-US" sz="2800" u="sng" dirty="0">
                <a:latin typeface="Comic Sans MS" panose="030F0702030302020204" pitchFamily="66" charset="0"/>
              </a:rPr>
              <a:t> </a:t>
            </a:r>
            <a:r>
              <a:rPr lang="en-US" sz="2800" dirty="0">
                <a:latin typeface="Comic Sans MS" panose="030F0702030302020204" pitchFamily="66" charset="0"/>
              </a:rPr>
              <a:t>decimal numbers.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676101" y="1810237"/>
            <a:ext cx="118053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34.832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8397" y="3222327"/>
            <a:ext cx="1501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3966" y="3179033"/>
            <a:ext cx="1690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443" y="3222327"/>
            <a:ext cx="2533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4951" y="3222327"/>
            <a:ext cx="3164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+0.03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778" y="3222328"/>
            <a:ext cx="3532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+0.002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D21DD9-88E9-482F-9722-E28DF4956B57}"/>
              </a:ext>
            </a:extLst>
          </p:cNvPr>
          <p:cNvSpPr txBox="1">
            <a:spLocks/>
          </p:cNvSpPr>
          <p:nvPr/>
        </p:nvSpPr>
        <p:spPr>
          <a:xfrm>
            <a:off x="204716" y="4710596"/>
            <a:ext cx="89494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Comic Sans MS" panose="030F0702030302020204" pitchFamily="66" charset="0"/>
              </a:rPr>
              <a:t>How have we decomposed this number?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E4C5518-E50A-4A27-AD57-54F5F9B60FE6}"/>
              </a:ext>
            </a:extLst>
          </p:cNvPr>
          <p:cNvSpPr txBox="1">
            <a:spLocks/>
          </p:cNvSpPr>
          <p:nvPr/>
        </p:nvSpPr>
        <p:spPr>
          <a:xfrm>
            <a:off x="204716" y="5532437"/>
            <a:ext cx="108290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Comic Sans MS" panose="030F0702030302020204" pitchFamily="66" charset="0"/>
              </a:rPr>
              <a:t>It has been decomposed into its place value.</a:t>
            </a:r>
          </a:p>
        </p:txBody>
      </p:sp>
    </p:spTree>
    <p:extLst>
      <p:ext uri="{BB962C8B-B14F-4D97-AF65-F5344CB8AC3E}">
        <p14:creationId xmlns:p14="http://schemas.microsoft.com/office/powerpoint/2010/main" val="83299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859454"/>
            <a:ext cx="12149844" cy="807647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We can use our knowledge of place value to </a:t>
            </a:r>
            <a:r>
              <a:rPr lang="en-US" sz="3600" b="1" u="sng" dirty="0">
                <a:latin typeface="Comic Sans MS" panose="030F0702030302020204" pitchFamily="66" charset="0"/>
              </a:rPr>
              <a:t>decompose</a:t>
            </a:r>
            <a:r>
              <a:rPr lang="en-US" sz="3600" u="sng" dirty="0">
                <a:latin typeface="Comic Sans MS" panose="030F0702030302020204" pitchFamily="66" charset="0"/>
              </a:rPr>
              <a:t> </a:t>
            </a:r>
            <a:r>
              <a:rPr lang="en-US" sz="3600" dirty="0">
                <a:latin typeface="Comic Sans MS" panose="030F0702030302020204" pitchFamily="66" charset="0"/>
              </a:rPr>
              <a:t>decimal numbers.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584814" y="1508703"/>
            <a:ext cx="118053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34.832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557" y="2883350"/>
            <a:ext cx="1501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126" y="2840056"/>
            <a:ext cx="1690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1603" y="2883350"/>
            <a:ext cx="2533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5111" y="2883350"/>
            <a:ext cx="3164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+0.03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3938" y="2883351"/>
            <a:ext cx="3532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+0.002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5814F18-26BD-45E6-BF0E-EC37338CDBDF}"/>
              </a:ext>
            </a:extLst>
          </p:cNvPr>
          <p:cNvSpPr txBox="1">
            <a:spLocks/>
          </p:cNvSpPr>
          <p:nvPr/>
        </p:nvSpPr>
        <p:spPr>
          <a:xfrm>
            <a:off x="251543" y="4455801"/>
            <a:ext cx="12149844" cy="807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Comic Sans MS" panose="030F0702030302020204" pitchFamily="66" charset="0"/>
              </a:rPr>
              <a:t>Is this the only way to decompose the number?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C51654D-F886-4615-BF11-5DF2E1060FF0}"/>
              </a:ext>
            </a:extLst>
          </p:cNvPr>
          <p:cNvSpPr txBox="1">
            <a:spLocks/>
          </p:cNvSpPr>
          <p:nvPr/>
        </p:nvSpPr>
        <p:spPr>
          <a:xfrm>
            <a:off x="251543" y="5349297"/>
            <a:ext cx="11356095" cy="807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No, but we call this regrouping which we will look at later.</a:t>
            </a:r>
          </a:p>
        </p:txBody>
      </p:sp>
    </p:spTree>
    <p:extLst>
      <p:ext uri="{BB962C8B-B14F-4D97-AF65-F5344CB8AC3E}">
        <p14:creationId xmlns:p14="http://schemas.microsoft.com/office/powerpoint/2010/main" val="367429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5" y="821685"/>
            <a:ext cx="11829602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We can use our knowledge of place value to </a:t>
            </a:r>
            <a:r>
              <a:rPr lang="en-US" sz="3200" b="1" u="sng" dirty="0">
                <a:latin typeface="Comic Sans MS" panose="030F0702030302020204" pitchFamily="66" charset="0"/>
              </a:rPr>
              <a:t>compose</a:t>
            </a:r>
            <a:r>
              <a:rPr lang="en-US" sz="3200" dirty="0">
                <a:latin typeface="Comic Sans MS" panose="030F0702030302020204" pitchFamily="66" charset="0"/>
              </a:rPr>
              <a:t> decimal numbers.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5" y="234752"/>
            <a:ext cx="11426383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1315" y="2226349"/>
            <a:ext cx="11433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400 + 30 + 2 + 0.9 + 0.01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2055" y="4550709"/>
            <a:ext cx="11409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432.91</a:t>
            </a:r>
          </a:p>
        </p:txBody>
      </p:sp>
    </p:spTree>
    <p:extLst>
      <p:ext uri="{BB962C8B-B14F-4D97-AF65-F5344CB8AC3E}">
        <p14:creationId xmlns:p14="http://schemas.microsoft.com/office/powerpoint/2010/main" val="4885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042398"/>
            <a:ext cx="11805313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Check your understanding.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16" y="2321795"/>
            <a:ext cx="9314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Compose a number using these parts.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16" y="3798273"/>
            <a:ext cx="9314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Decompose this number into it’s parts.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716" y="2973272"/>
            <a:ext cx="6687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500 + 8 + 0.05 + 0.009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16" y="4572860"/>
            <a:ext cx="6687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650.403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9209" y="2874943"/>
            <a:ext cx="6687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508.059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8417" y="5046161"/>
            <a:ext cx="8830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600 + 50 + 0.4 + 0.003</a:t>
            </a:r>
          </a:p>
        </p:txBody>
      </p:sp>
    </p:spTree>
    <p:extLst>
      <p:ext uri="{BB962C8B-B14F-4D97-AF65-F5344CB8AC3E}">
        <p14:creationId xmlns:p14="http://schemas.microsoft.com/office/powerpoint/2010/main" val="56067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835957"/>
            <a:ext cx="11805313" cy="132556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latin typeface="Comic Sans MS" panose="030F0702030302020204" pitchFamily="66" charset="0"/>
              </a:rPr>
              <a:t>Regrouping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dirty="0">
                <a:latin typeface="Comic Sans MS" panose="030F0702030302020204" pitchFamily="66" charset="0"/>
              </a:rPr>
              <a:t>is when we exchange different amounts between different place values.</a:t>
            </a:r>
            <a:endParaRPr lang="en-US" sz="3200" b="1" dirty="0">
              <a:latin typeface="Comic Sans MS" panose="030F0702030302020204" pitchFamily="66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635" y="2529104"/>
            <a:ext cx="8898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42.329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637" y="3463094"/>
            <a:ext cx="8898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40+2+0.3+0.02+0.009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636" y="4308085"/>
            <a:ext cx="8898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30+12+0.3+0.02+0.009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635" y="5131383"/>
            <a:ext cx="8898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42+0.1+0.22+0.009</a:t>
            </a:r>
          </a:p>
        </p:txBody>
      </p:sp>
    </p:spTree>
    <p:extLst>
      <p:ext uri="{BB962C8B-B14F-4D97-AF65-F5344CB8AC3E}">
        <p14:creationId xmlns:p14="http://schemas.microsoft.com/office/powerpoint/2010/main" val="88844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16" y="2160209"/>
            <a:ext cx="370458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Compose these parts to make a number.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AutoNum type="alphaLcParenR"/>
            </a:pPr>
            <a:r>
              <a:rPr lang="en-US" sz="2000" dirty="0">
                <a:latin typeface="Comic Sans MS" panose="030F0702030302020204" pitchFamily="66" charset="0"/>
              </a:rPr>
              <a:t>90 + 7 + 0.1 + 0.05</a:t>
            </a:r>
          </a:p>
          <a:p>
            <a:pPr marL="342900" indent="-342900">
              <a:buAutoNum type="alphaLcParenR"/>
            </a:pPr>
            <a:r>
              <a:rPr lang="en-US" sz="2000" dirty="0">
                <a:latin typeface="Comic Sans MS" panose="030F0702030302020204" pitchFamily="66" charset="0"/>
              </a:rPr>
              <a:t>500 + 3 + 0.04 + 0.003</a:t>
            </a:r>
          </a:p>
          <a:p>
            <a:pPr marL="342900" indent="-342900">
              <a:buAutoNum type="alphaLcParenR"/>
            </a:pPr>
            <a:r>
              <a:rPr lang="en-US" sz="2000" dirty="0">
                <a:latin typeface="Comic Sans MS" panose="030F0702030302020204" pitchFamily="66" charset="0"/>
              </a:rPr>
              <a:t>3,000 + 20 + 0.4 + 0.001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b="1" dirty="0">
                <a:latin typeface="Comic Sans MS" panose="030F0702030302020204" pitchFamily="66" charset="0"/>
              </a:rPr>
              <a:t>Decompose these numbers into their parts.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d) 425.25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e) 92.086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g) 210.064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1723" y="2160209"/>
            <a:ext cx="533297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Use your knowledge of regrouping to find the missing numbers.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200" dirty="0">
              <a:solidFill>
                <a:srgbClr val="000000"/>
              </a:solidFill>
              <a:effectLst/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e) 773.23 = 700 + 70 + _____+ 0.2 + 0.03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f) 0.582 = ______ +  _____ + 0.002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g) 2.405 = 2 + 0.4 +  ______  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h) 0.934 = _______ + _____ + 0.004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 err="1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57.12 = 40 + _____ + 7 + 0.1 + _______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j) 219.901 = 100 + ______ + 9 + ______ + 0.001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000" b="1" dirty="0">
              <a:latin typeface="Comic Sans MS" panose="030F0702030302020204" pitchFamily="66" charset="0"/>
            </a:endParaRPr>
          </a:p>
          <a:p>
            <a:endParaRPr lang="en-US" sz="2000" b="1" dirty="0">
              <a:latin typeface="Comic Sans MS" panose="030F0702030302020204" pitchFamily="66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50413" y="2160209"/>
            <a:ext cx="31383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k) Conject: How many different ways can you regroup this number?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latin typeface="Comic Sans MS" panose="030F0702030302020204" pitchFamily="66" charset="0"/>
              </a:rPr>
              <a:t>782.493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Now write as many different ways as you can.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Compare your answers with someone else. Was your conjecture correct?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80EEBD-E373-49E0-89FC-32C549269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8619" y="1090392"/>
            <a:ext cx="583527" cy="11234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C3A008-BF80-482E-960D-3157DFA0E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512" y="830713"/>
            <a:ext cx="583527" cy="12197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5C970B-49A9-4146-A15E-7CA292DBE6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807" y="717248"/>
            <a:ext cx="583527" cy="13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4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716" y="2160209"/>
            <a:ext cx="70850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Compose these parts to make a number.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AutoNum type="alphaLcParenR"/>
            </a:pPr>
            <a:r>
              <a:rPr lang="en-US" sz="2000" dirty="0">
                <a:latin typeface="Comic Sans MS" panose="030F0702030302020204" pitchFamily="66" charset="0"/>
              </a:rPr>
              <a:t>90 + 7 + 0.1 + 0.05</a:t>
            </a:r>
          </a:p>
          <a:p>
            <a:pPr marL="342900" indent="-342900">
              <a:buAutoNum type="alphaLcParenR"/>
            </a:pPr>
            <a:r>
              <a:rPr lang="en-US" sz="2000" dirty="0">
                <a:latin typeface="Comic Sans MS" panose="030F0702030302020204" pitchFamily="66" charset="0"/>
              </a:rPr>
              <a:t>500 + 3 + 0.04 + 0.003</a:t>
            </a:r>
          </a:p>
          <a:p>
            <a:pPr marL="342900" indent="-342900">
              <a:buAutoNum type="alphaLcParenR"/>
            </a:pPr>
            <a:r>
              <a:rPr lang="en-US" sz="2000" dirty="0">
                <a:latin typeface="Comic Sans MS" panose="030F0702030302020204" pitchFamily="66" charset="0"/>
              </a:rPr>
              <a:t>3,000 + 20 + 0.4 + 0.001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b="1" dirty="0">
                <a:latin typeface="Comic Sans MS" panose="030F0702030302020204" pitchFamily="66" charset="0"/>
              </a:rPr>
              <a:t>Decompose these numbers into their parts.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d) 425.25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e) 92.086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g) 210.064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05600" y="1618489"/>
            <a:ext cx="4445000" cy="4561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a)97.105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b) 503.043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c) 3,020.401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d) 400+20+5+0.2+0.05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e) 90+2+0.08+0.006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g) 200+10+0.06+0.004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39437F-99E6-4945-A178-512A4418E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0600" y="142418"/>
            <a:ext cx="832991" cy="16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4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1" y="1836208"/>
            <a:ext cx="821159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Use your knowledge of regrouping to find the missing numbers.</a:t>
            </a:r>
          </a:p>
          <a:p>
            <a:endParaRPr lang="en-US" sz="2800" b="1" dirty="0">
              <a:latin typeface="Comic Sans MS" panose="030F0702030302020204" pitchFamily="66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e) 773.23 = 700 + 70 +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+0.2 + 0.03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f) 0.582 =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0.08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+ 0.002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g) 2.405 = 2 + 0.4 + 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0.005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h) 0.934 =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0.03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+ 0.004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 err="1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57.12 = 40 +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+ 7 + 0.1 +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0.02</a:t>
            </a:r>
            <a:endParaRPr lang="en-US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j) 219.901 = 100 +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+ 9 + </a:t>
            </a:r>
            <a:r>
              <a:rPr lang="en-US" sz="1800" kern="1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+ 0.001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3FF9FD-1225-4B3B-AF72-5525446A9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814" y="234752"/>
            <a:ext cx="841647" cy="17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55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31564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1" y="2592009"/>
            <a:ext cx="112395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mic Sans MS" panose="030F0702030302020204" pitchFamily="66" charset="0"/>
              </a:rPr>
              <a:t>i</a:t>
            </a:r>
            <a:r>
              <a:rPr lang="en-US" sz="2800" dirty="0">
                <a:latin typeface="Comic Sans MS" panose="030F0702030302020204" pitchFamily="66" charset="0"/>
              </a:rPr>
              <a:t>) Conject: How many different ways can you regroup this number?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3600" b="1" dirty="0">
                <a:latin typeface="Comic Sans MS" panose="030F0702030302020204" pitchFamily="66" charset="0"/>
              </a:rPr>
              <a:t>782.493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Now write as many different ways as you can.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Compare your answers with someone else. Was your conjecture correct?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660E8-8A1E-419C-BA38-55F887D3B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448" y="84824"/>
            <a:ext cx="846075" cy="19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88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compose and decompose decimal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regrouping to solve missing number questions involving decimals.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regrouping to decompose a number in multiple ways.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515F1A-DD8C-4300-AB97-71AC22183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85418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132995-62DC-4858-B6FC-9F6802530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25739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F26E61-840F-4FE8-8B0F-2B3B03D463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12274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4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940" y="1634317"/>
            <a:ext cx="10881871" cy="29845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Plenary – Two stars and a wish.</a:t>
            </a:r>
            <a:br>
              <a:rPr lang="en-US" sz="3600" b="1" dirty="0">
                <a:latin typeface="Comic Sans MS" panose="030F0702030302020204" pitchFamily="66" charset="0"/>
              </a:rPr>
            </a:br>
            <a:r>
              <a:rPr lang="en-US" sz="3600" dirty="0">
                <a:latin typeface="Comic Sans MS" panose="030F0702030302020204" pitchFamily="66" charset="0"/>
              </a:rPr>
              <a:t>Tell your partner two things that went well and one thing that you want to do in the future regarding today’s lesson.</a:t>
            </a:r>
            <a:br>
              <a:rPr lang="en-US" sz="3600" dirty="0">
                <a:latin typeface="Comic Sans MS" panose="030F0702030302020204" pitchFamily="66" charset="0"/>
              </a:rPr>
            </a:br>
            <a:br>
              <a:rPr lang="en-US" b="1" dirty="0">
                <a:latin typeface="Comic Sans MS" panose="030F0702030302020204" pitchFamily="66" charset="0"/>
              </a:rPr>
            </a:br>
            <a:r>
              <a:rPr lang="en-US" b="1" dirty="0">
                <a:latin typeface="Comic Sans MS" panose="030F0702030302020204" pitchFamily="66" charset="0"/>
              </a:rPr>
              <a:t> </a:t>
            </a:r>
            <a:br>
              <a:rPr lang="en-US" b="1" dirty="0">
                <a:latin typeface="Comic Sans MS" panose="030F0702030302020204" pitchFamily="66" charset="0"/>
              </a:rPr>
            </a:br>
            <a:br>
              <a:rPr lang="en-US" b="1" dirty="0">
                <a:latin typeface="Comic Sans MS" panose="030F0702030302020204" pitchFamily="66" charset="0"/>
              </a:rPr>
            </a:br>
            <a:r>
              <a:rPr lang="en-US" b="1" dirty="0">
                <a:latin typeface="Comic Sans MS" panose="030F0702030302020204" pitchFamily="66" charset="0"/>
              </a:rPr>
              <a:t> 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322940" y="189957"/>
            <a:ext cx="11402922" cy="807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Compose, decompose and regroup numbers including decimals.</a:t>
            </a:r>
          </a:p>
        </p:txBody>
      </p:sp>
      <p:pic>
        <p:nvPicPr>
          <p:cNvPr id="2050" name="Picture 2" descr="Star PNG Images, Download 360000+ Star PNG Resources with Transparent 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67" b="99750" l="2500" r="951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62" y="3126567"/>
            <a:ext cx="1076721" cy="107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tar PNG Images, Download 360000+ Star PNG Resources with Transparent 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67" b="99750" l="2500" r="951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84" y="4412446"/>
            <a:ext cx="1076721" cy="107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62" y="5626516"/>
            <a:ext cx="1076721" cy="109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7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7505</TotalTime>
  <Words>823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Comic Sans MS</vt:lpstr>
      <vt:lpstr>Times New Roman</vt:lpstr>
      <vt:lpstr>Office Theme</vt:lpstr>
      <vt:lpstr>Maths </vt:lpstr>
      <vt:lpstr>PowerPoint Presentation</vt:lpstr>
      <vt:lpstr>Retrieval Practice – </vt:lpstr>
      <vt:lpstr>Starter – What do the following words mean? </vt:lpstr>
      <vt:lpstr>We can use our knowledge of place value to decompose decimal numbers.</vt:lpstr>
      <vt:lpstr>We can use our knowledge of place value to decompose decimal numbers.</vt:lpstr>
      <vt:lpstr>We can use our knowledge of place value to compose decimal numbers.</vt:lpstr>
      <vt:lpstr>Check your understanding.</vt:lpstr>
      <vt:lpstr>Regrouping is when we exchange different amounts between different place values.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Two stars and a wish. Tell your partner two things that went well and one thing that you want to do in the future regarding today’s lesson.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69</cp:revision>
  <dcterms:created xsi:type="dcterms:W3CDTF">2022-08-15T06:38:27Z</dcterms:created>
  <dcterms:modified xsi:type="dcterms:W3CDTF">2026-08-06T04:08:50Z</dcterms:modified>
</cp:coreProperties>
</file>
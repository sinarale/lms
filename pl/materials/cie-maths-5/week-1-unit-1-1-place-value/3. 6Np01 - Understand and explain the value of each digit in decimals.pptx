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97" r:id="rId4"/>
    <p:sldId id="259" r:id="rId5"/>
    <p:sldId id="274" r:id="rId6"/>
    <p:sldId id="276" r:id="rId7"/>
    <p:sldId id="278" r:id="rId8"/>
    <p:sldId id="298" r:id="rId9"/>
    <p:sldId id="299" r:id="rId10"/>
    <p:sldId id="279" r:id="rId11"/>
    <p:sldId id="281" r:id="rId12"/>
    <p:sldId id="282" r:id="rId13"/>
    <p:sldId id="283" r:id="rId14"/>
    <p:sldId id="280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4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8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5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6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1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3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9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4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7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55409-3F01-417C-95F5-A887D11611B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8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u="sng" dirty="0" err="1">
                <a:latin typeface="Comic Sans MS" panose="030F0702030302020204" pitchFamily="66" charset="0"/>
              </a:rPr>
              <a:t>Maths</a:t>
            </a:r>
            <a:r>
              <a:rPr lang="en-US" sz="8800" u="sng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960" y="2662557"/>
            <a:ext cx="10588079" cy="309334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5400" dirty="0">
                <a:latin typeface="Comic Sans MS" panose="030F0702030302020204" pitchFamily="66" charset="0"/>
              </a:rPr>
              <a:t>18.08.2026</a:t>
            </a:r>
          </a:p>
          <a:p>
            <a:pPr algn="l"/>
            <a:endParaRPr lang="en-US" sz="5400" dirty="0">
              <a:latin typeface="Comic Sans MS" panose="030F0702030302020204" pitchFamily="66" charset="0"/>
            </a:endParaRPr>
          </a:p>
          <a:p>
            <a:pPr algn="l"/>
            <a:r>
              <a:rPr lang="en-US" sz="5400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Understand and explain the value of each digit in decimals.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1.1 – Place Value </a:t>
            </a:r>
          </a:p>
        </p:txBody>
      </p:sp>
    </p:spTree>
    <p:extLst>
      <p:ext uri="{BB962C8B-B14F-4D97-AF65-F5344CB8AC3E}">
        <p14:creationId xmlns:p14="http://schemas.microsoft.com/office/powerpoint/2010/main" val="425447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402922" cy="6222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Understand and explain the value of each digit in decimals.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Comic Sans MS" panose="030F0702030302020204" pitchFamily="66" charset="0"/>
              </a:rPr>
              <a:t>I can read numbers correctly to three decimal places.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identify the value of digits in a number correctly to three decimal places.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find and correct the mistakes in the work of others.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210CF2-E590-4AEE-BDA5-B348319AF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072FBE-BB7D-471A-AA6A-815259626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F22869-84F4-4B45-A394-FDD353F27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0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C1C1-0EDA-422D-964D-0F32F9C9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D4990-1D68-45C4-B409-66DA91FD9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Complete pages 9 – 13 in your Workbooks.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Due – Tuesday 25</a:t>
            </a:r>
            <a:r>
              <a:rPr lang="en-US" sz="4000" baseline="30000" dirty="0">
                <a:latin typeface="Comic Sans MS" panose="030F0702030302020204" pitchFamily="66" charset="0"/>
              </a:rPr>
              <a:t>th</a:t>
            </a:r>
            <a:r>
              <a:rPr lang="en-US" sz="4000" dirty="0">
                <a:latin typeface="Comic Sans MS" panose="030F0702030302020204" pitchFamily="66" charset="0"/>
              </a:rPr>
              <a:t> August 2026.</a:t>
            </a:r>
          </a:p>
        </p:txBody>
      </p:sp>
    </p:spTree>
    <p:extLst>
      <p:ext uri="{BB962C8B-B14F-4D97-AF65-F5344CB8AC3E}">
        <p14:creationId xmlns:p14="http://schemas.microsoft.com/office/powerpoint/2010/main" val="376640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Retrieval Practice – 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2 Minutes&quot; Images – Browse 102 Stock Photos, Vectors, and Video | Adobe  Stoc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4444" y1="49722" x2="47222" y2="48889"/>
                        <a14:foregroundMark x1="46111" y1="48889" x2="54722" y2="41111"/>
                        <a14:foregroundMark x1="38333" y1="60278" x2="58611" y2="60278"/>
                        <a14:foregroundMark x1="59444" y1="58889" x2="44444" y2="48333"/>
                        <a14:foregroundMark x1="43611" y1="48056" x2="51667" y2="30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947" y="903734"/>
            <a:ext cx="4635096" cy="463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1068" y="1842783"/>
            <a:ext cx="89529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Talk to your partner.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What did you learn to do in maths in grade 4?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What did you find the most challenging?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9491" y="5425650"/>
            <a:ext cx="8352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Now swap</a:t>
            </a:r>
          </a:p>
        </p:txBody>
      </p:sp>
    </p:spTree>
    <p:extLst>
      <p:ext uri="{BB962C8B-B14F-4D97-AF65-F5344CB8AC3E}">
        <p14:creationId xmlns:p14="http://schemas.microsoft.com/office/powerpoint/2010/main" val="404665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Starter – 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1567858"/>
            <a:ext cx="10515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What does these words mean?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39FE2-8642-4A23-A7B5-F24924B2F313}"/>
              </a:ext>
            </a:extLst>
          </p:cNvPr>
          <p:cNvSpPr txBox="1"/>
          <p:nvPr/>
        </p:nvSpPr>
        <p:spPr>
          <a:xfrm>
            <a:off x="635000" y="3429000"/>
            <a:ext cx="111379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Decimal                                               </a:t>
            </a:r>
            <a:r>
              <a:rPr lang="en-US" sz="28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Decimal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point</a:t>
            </a:r>
          </a:p>
          <a:p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                         Decimal place</a:t>
            </a:r>
          </a:p>
          <a:p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Place value</a:t>
            </a:r>
          </a:p>
        </p:txBody>
      </p:sp>
    </p:spTree>
    <p:extLst>
      <p:ext uri="{BB962C8B-B14F-4D97-AF65-F5344CB8AC3E}">
        <p14:creationId xmlns:p14="http://schemas.microsoft.com/office/powerpoint/2010/main" val="216535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702" y="1006570"/>
            <a:ext cx="1051560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How would you say this number?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245892" y="29877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solidFill>
                  <a:srgbClr val="FF0000"/>
                </a:solidFill>
                <a:latin typeface="Twinkl" panose="02000000000000000000" pitchFamily="2" charset="0"/>
              </a:rPr>
              <a:t>5,972.593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580741" y="4027274"/>
            <a:ext cx="628991" cy="9416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6933063" y="4027274"/>
            <a:ext cx="38669" cy="13160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7772402" y="3947800"/>
            <a:ext cx="881416" cy="8396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03069" y="4685322"/>
            <a:ext cx="70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502" y="5289964"/>
            <a:ext cx="70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0504" y="4458967"/>
            <a:ext cx="70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808" y="4310355"/>
            <a:ext cx="41461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What is the </a:t>
            </a:r>
            <a:r>
              <a:rPr lang="en-US" sz="2800" b="1" dirty="0">
                <a:latin typeface="Comic Sans MS" panose="030F0702030302020204" pitchFamily="66" charset="0"/>
              </a:rPr>
              <a:t>value</a:t>
            </a:r>
            <a:r>
              <a:rPr lang="en-US" sz="2800" dirty="0">
                <a:latin typeface="Comic Sans MS" panose="030F0702030302020204" pitchFamily="66" charset="0"/>
              </a:rPr>
              <a:t> of each of these digits?</a:t>
            </a:r>
          </a:p>
        </p:txBody>
      </p:sp>
    </p:spTree>
    <p:extLst>
      <p:ext uri="{BB962C8B-B14F-4D97-AF65-F5344CB8AC3E}">
        <p14:creationId xmlns:p14="http://schemas.microsoft.com/office/powerpoint/2010/main" val="140401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388597" y="10088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solidFill>
                  <a:srgbClr val="FF0000"/>
                </a:solidFill>
                <a:latin typeface="Twinkl" panose="02000000000000000000" pitchFamily="2" charset="0"/>
              </a:rPr>
              <a:t>5,972.593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723446" y="2048348"/>
            <a:ext cx="628991" cy="9416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7075768" y="2048348"/>
            <a:ext cx="38669" cy="13160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7915107" y="1968874"/>
            <a:ext cx="881416" cy="8396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45774" y="2706396"/>
            <a:ext cx="70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207" y="3311038"/>
            <a:ext cx="70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3209" y="2480041"/>
            <a:ext cx="70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513" y="2331429"/>
            <a:ext cx="41461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What is the </a:t>
            </a:r>
            <a:r>
              <a:rPr lang="en-US" sz="2800" b="1" dirty="0">
                <a:latin typeface="Comic Sans MS" panose="030F0702030302020204" pitchFamily="66" charset="0"/>
              </a:rPr>
              <a:t>value</a:t>
            </a:r>
            <a:r>
              <a:rPr lang="en-US" sz="2800" dirty="0">
                <a:latin typeface="Comic Sans MS" panose="030F0702030302020204" pitchFamily="66" charset="0"/>
              </a:rPr>
              <a:t> of each of these digits?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513" y="3900235"/>
            <a:ext cx="3780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 = 5 tenths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512" y="4713231"/>
            <a:ext cx="5200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 = 9 hundredths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513" y="5526227"/>
            <a:ext cx="52009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 = 3 thousandths</a:t>
            </a:r>
          </a:p>
        </p:txBody>
      </p:sp>
    </p:spTree>
    <p:extLst>
      <p:ext uri="{BB962C8B-B14F-4D97-AF65-F5344CB8AC3E}">
        <p14:creationId xmlns:p14="http://schemas.microsoft.com/office/powerpoint/2010/main" val="331548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80141" y="9159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solidFill>
                  <a:srgbClr val="FF0000"/>
                </a:solidFill>
                <a:latin typeface="Twinkl" panose="02000000000000000000" pitchFamily="2" charset="0"/>
              </a:rPr>
              <a:t>89,324.328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513" y="2331429"/>
            <a:ext cx="97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What is the </a:t>
            </a:r>
            <a:r>
              <a:rPr lang="en-US" sz="2800" b="1" dirty="0">
                <a:latin typeface="Comic Sans MS" panose="030F0702030302020204" pitchFamily="66" charset="0"/>
              </a:rPr>
              <a:t>value</a:t>
            </a:r>
            <a:r>
              <a:rPr lang="en-US" sz="2800" dirty="0">
                <a:latin typeface="Comic Sans MS" panose="030F0702030302020204" pitchFamily="66" charset="0"/>
              </a:rPr>
              <a:t> of each digit after the decimal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512" y="3075057"/>
            <a:ext cx="538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 tenths  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512" y="3890047"/>
            <a:ext cx="5200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 hundredths  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512" y="4672029"/>
            <a:ext cx="5573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 thousandths  0.008</a:t>
            </a:r>
          </a:p>
        </p:txBody>
      </p:sp>
    </p:spTree>
    <p:extLst>
      <p:ext uri="{BB962C8B-B14F-4D97-AF65-F5344CB8AC3E}">
        <p14:creationId xmlns:p14="http://schemas.microsoft.com/office/powerpoint/2010/main" val="127934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80141" y="9159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solidFill>
                  <a:srgbClr val="FF0000"/>
                </a:solidFill>
                <a:latin typeface="Twinkl" panose="02000000000000000000" pitchFamily="2" charset="0"/>
              </a:rPr>
              <a:t>713.043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513" y="2331429"/>
            <a:ext cx="97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What is the </a:t>
            </a:r>
            <a:r>
              <a:rPr lang="en-US" sz="2800" b="1" dirty="0">
                <a:latin typeface="Comic Sans MS" panose="030F0702030302020204" pitchFamily="66" charset="0"/>
              </a:rPr>
              <a:t>place value </a:t>
            </a:r>
            <a:r>
              <a:rPr lang="en-US" sz="2800" dirty="0">
                <a:latin typeface="Comic Sans MS" panose="030F0702030302020204" pitchFamily="66" charset="0"/>
              </a:rPr>
              <a:t>of the 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512" y="3075057"/>
            <a:ext cx="538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hundredths</a:t>
            </a:r>
          </a:p>
        </p:txBody>
      </p:sp>
    </p:spTree>
    <p:extLst>
      <p:ext uri="{BB962C8B-B14F-4D97-AF65-F5344CB8AC3E}">
        <p14:creationId xmlns:p14="http://schemas.microsoft.com/office/powerpoint/2010/main" val="429323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2220" y="1835627"/>
            <a:ext cx="399934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Take it in turns to read the following numbers to your partner.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56,327.56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345.639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12.502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813,593.008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437.170</a:t>
            </a:r>
          </a:p>
          <a:p>
            <a:pPr marL="457200" indent="-457200">
              <a:buAutoNum type="alphaLcParenR"/>
            </a:pPr>
            <a:endParaRPr lang="en-US" sz="2000" b="1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endParaRPr lang="en-US" sz="2000" b="1" dirty="0">
              <a:latin typeface="Comic Sans MS" panose="030F0702030302020204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62569" y="1902090"/>
            <a:ext cx="38578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Write the value of </a:t>
            </a:r>
            <a:r>
              <a:rPr lang="en-US" sz="2000">
                <a:latin typeface="Comic Sans MS" panose="030F0702030302020204" pitchFamily="66" charset="0"/>
              </a:rPr>
              <a:t>the under-lined </a:t>
            </a:r>
            <a:r>
              <a:rPr lang="en-US" sz="2000" dirty="0">
                <a:latin typeface="Comic Sans MS" panose="030F0702030302020204" pitchFamily="66" charset="0"/>
              </a:rPr>
              <a:t>digit in each of the following numbers.</a:t>
            </a:r>
          </a:p>
          <a:p>
            <a:pPr marL="457200" indent="-457200">
              <a:buAutoNum type="alphaLcParenR"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62568" y="3307362"/>
            <a:ext cx="34392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f) 56,327.5</a:t>
            </a:r>
            <a:r>
              <a:rPr lang="en-US" sz="2400" b="1" u="sng" dirty="0">
                <a:latin typeface="Comic Sans MS" panose="030F0702030302020204" pitchFamily="66" charset="0"/>
              </a:rPr>
              <a:t>6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g) 345.</a:t>
            </a:r>
            <a:r>
              <a:rPr lang="en-US" sz="2400" b="1" u="sng" dirty="0">
                <a:latin typeface="Comic Sans MS" panose="030F0702030302020204" pitchFamily="66" charset="0"/>
              </a:rPr>
              <a:t>6</a:t>
            </a:r>
            <a:r>
              <a:rPr lang="en-US" sz="2400" dirty="0">
                <a:latin typeface="Comic Sans MS" panose="030F0702030302020204" pitchFamily="66" charset="0"/>
              </a:rPr>
              <a:t>39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h)  12.50</a:t>
            </a:r>
            <a:r>
              <a:rPr lang="en-US" sz="2400" b="1" u="sng" dirty="0">
                <a:latin typeface="Comic Sans MS" panose="030F0702030302020204" pitchFamily="66" charset="0"/>
              </a:rPr>
              <a:t>2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 err="1">
                <a:latin typeface="Comic Sans MS" panose="030F0702030302020204" pitchFamily="66" charset="0"/>
              </a:rPr>
              <a:t>i</a:t>
            </a:r>
            <a:r>
              <a:rPr lang="en-US" sz="2400" dirty="0">
                <a:latin typeface="Comic Sans MS" panose="030F0702030302020204" pitchFamily="66" charset="0"/>
              </a:rPr>
              <a:t>)  813,593.0</a:t>
            </a:r>
            <a:r>
              <a:rPr lang="en-US" sz="2400" b="1" u="sng" dirty="0">
                <a:latin typeface="Comic Sans MS" panose="030F0702030302020204" pitchFamily="66" charset="0"/>
              </a:rPr>
              <a:t>0</a:t>
            </a:r>
            <a:r>
              <a:rPr lang="en-US" sz="2400" dirty="0">
                <a:latin typeface="Comic Sans MS" panose="030F0702030302020204" pitchFamily="66" charset="0"/>
              </a:rPr>
              <a:t>8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j)  437.</a:t>
            </a:r>
            <a:r>
              <a:rPr lang="en-US" sz="2400" b="1" u="sng" dirty="0">
                <a:latin typeface="Comic Sans MS" panose="030F0702030302020204" pitchFamily="66" charset="0"/>
              </a:rPr>
              <a:t>1</a:t>
            </a:r>
            <a:r>
              <a:rPr lang="en-US" sz="2400" dirty="0">
                <a:latin typeface="Comic Sans MS" panose="030F0702030302020204" pitchFamily="66" charset="0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5325" y="3285478"/>
            <a:ext cx="45544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k) Ms. Colette reads the number 17.539 out loud. She says: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“The number is seventeen point five-hundred and nine. The three is worth hundredths.”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Is she correct? 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What mistake(s) has she made?</a:t>
            </a:r>
          </a:p>
          <a:p>
            <a:pPr marL="457200" indent="-457200">
              <a:buAutoNum type="alphaLcParenR"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845205-FFC0-4D9B-BD23-62235E0CE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261" y="533688"/>
            <a:ext cx="500770" cy="9640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276340-6CBD-4FA2-8664-EE903EEE75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753" y="458487"/>
            <a:ext cx="603947" cy="12623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21404D-03FA-4822-9072-A3272533DC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745" y="458487"/>
            <a:ext cx="769395" cy="174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223" y="2168256"/>
            <a:ext cx="1145102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Take it in turns to read the following numbers to your partner.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56,327.56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345.639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12.502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813,593.008</a:t>
            </a:r>
          </a:p>
          <a:p>
            <a:pPr marL="457200" indent="-457200">
              <a:buAutoNum type="alphaLcParenR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437.170</a:t>
            </a:r>
          </a:p>
          <a:p>
            <a:pPr marL="457200" indent="-457200">
              <a:buAutoNum type="alphaLcParenR"/>
            </a:pPr>
            <a:endParaRPr lang="en-US" sz="2000" b="1" dirty="0">
              <a:latin typeface="Comic Sans MS" panose="030F0702030302020204" pitchFamily="66" charset="0"/>
            </a:endParaRPr>
          </a:p>
          <a:p>
            <a:pPr marL="457200" indent="-457200">
              <a:buAutoNum type="alphaLcParenR"/>
            </a:pPr>
            <a:endParaRPr lang="en-US" sz="2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16A4C-01D6-4B9F-89AE-FF5ECA438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49669" y="44936"/>
            <a:ext cx="1102890" cy="212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92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2508" y="2121625"/>
            <a:ext cx="10027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Write the value of the bold digit in each of the following numbers.</a:t>
            </a:r>
          </a:p>
          <a:p>
            <a:pPr marL="457200" indent="-457200">
              <a:buAutoNum type="alphaLcParenR"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1875" y="3088998"/>
            <a:ext cx="224579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f) </a:t>
            </a:r>
            <a:r>
              <a:rPr lang="en-US" sz="2200" dirty="0">
                <a:latin typeface="Comic Sans MS" panose="030F0702030302020204" pitchFamily="66" charset="0"/>
              </a:rPr>
              <a:t>56,327.5</a:t>
            </a:r>
            <a:r>
              <a:rPr lang="en-US" sz="2200" b="1" dirty="0">
                <a:latin typeface="Comic Sans MS" panose="030F0702030302020204" pitchFamily="66" charset="0"/>
              </a:rPr>
              <a:t>6</a:t>
            </a:r>
          </a:p>
          <a:p>
            <a:pPr marL="457200" indent="-457200">
              <a:buAutoNum type="alphaLcParenR"/>
            </a:pPr>
            <a:endParaRPr lang="en-US" sz="2200" dirty="0">
              <a:latin typeface="Comic Sans MS" panose="030F0702030302020204" pitchFamily="66" charset="0"/>
            </a:endParaRPr>
          </a:p>
          <a:p>
            <a:r>
              <a:rPr lang="en-US" sz="2200" dirty="0">
                <a:latin typeface="Comic Sans MS" panose="030F0702030302020204" pitchFamily="66" charset="0"/>
              </a:rPr>
              <a:t>g) 345.</a:t>
            </a:r>
            <a:r>
              <a:rPr lang="en-US" sz="2200" b="1" dirty="0">
                <a:latin typeface="Comic Sans MS" panose="030F0702030302020204" pitchFamily="66" charset="0"/>
              </a:rPr>
              <a:t>6</a:t>
            </a:r>
            <a:r>
              <a:rPr lang="en-US" sz="2200" dirty="0">
                <a:latin typeface="Comic Sans MS" panose="030F0702030302020204" pitchFamily="66" charset="0"/>
              </a:rPr>
              <a:t>39</a:t>
            </a:r>
          </a:p>
          <a:p>
            <a:pPr marL="457200" indent="-457200">
              <a:buAutoNum type="alphaLcParenR"/>
            </a:pPr>
            <a:endParaRPr lang="en-US" sz="2200" dirty="0">
              <a:latin typeface="Comic Sans MS" panose="030F0702030302020204" pitchFamily="66" charset="0"/>
            </a:endParaRPr>
          </a:p>
          <a:p>
            <a:r>
              <a:rPr lang="en-US" sz="2200" dirty="0">
                <a:latin typeface="Comic Sans MS" panose="030F0702030302020204" pitchFamily="66" charset="0"/>
              </a:rPr>
              <a:t>h)  12.50</a:t>
            </a:r>
            <a:r>
              <a:rPr lang="en-US" sz="2200" b="1" dirty="0">
                <a:latin typeface="Comic Sans MS" panose="030F0702030302020204" pitchFamily="66" charset="0"/>
              </a:rPr>
              <a:t>2</a:t>
            </a:r>
          </a:p>
          <a:p>
            <a:pPr marL="457200" indent="-457200">
              <a:buAutoNum type="alphaLcParenR"/>
            </a:pPr>
            <a:endParaRPr lang="en-US" sz="2200" dirty="0">
              <a:latin typeface="Comic Sans MS" panose="030F0702030302020204" pitchFamily="66" charset="0"/>
            </a:endParaRPr>
          </a:p>
          <a:p>
            <a:r>
              <a:rPr lang="en-US" sz="2200" dirty="0" err="1">
                <a:latin typeface="Comic Sans MS" panose="030F0702030302020204" pitchFamily="66" charset="0"/>
              </a:rPr>
              <a:t>i</a:t>
            </a:r>
            <a:r>
              <a:rPr lang="en-US" sz="2200" dirty="0">
                <a:latin typeface="Comic Sans MS" panose="030F0702030302020204" pitchFamily="66" charset="0"/>
              </a:rPr>
              <a:t>)  813,593.0</a:t>
            </a:r>
            <a:r>
              <a:rPr lang="en-US" sz="2200" b="1" dirty="0">
                <a:latin typeface="Comic Sans MS" panose="030F0702030302020204" pitchFamily="66" charset="0"/>
              </a:rPr>
              <a:t>0</a:t>
            </a:r>
            <a:r>
              <a:rPr lang="en-US" sz="2200" dirty="0">
                <a:latin typeface="Comic Sans MS" panose="030F0702030302020204" pitchFamily="66" charset="0"/>
              </a:rPr>
              <a:t>8</a:t>
            </a:r>
          </a:p>
          <a:p>
            <a:pPr marL="457200" indent="-457200">
              <a:buAutoNum type="alphaLcParenR"/>
            </a:pPr>
            <a:endParaRPr lang="en-US" sz="2200" dirty="0">
              <a:latin typeface="Comic Sans MS" panose="030F0702030302020204" pitchFamily="66" charset="0"/>
            </a:endParaRPr>
          </a:p>
          <a:p>
            <a:r>
              <a:rPr lang="en-US" sz="2200" dirty="0">
                <a:latin typeface="Comic Sans MS" panose="030F0702030302020204" pitchFamily="66" charset="0"/>
              </a:rPr>
              <a:t>j)  437.</a:t>
            </a:r>
            <a:r>
              <a:rPr lang="en-US" sz="2200" b="1" dirty="0">
                <a:latin typeface="Comic Sans MS" panose="030F0702030302020204" pitchFamily="66" charset="0"/>
              </a:rPr>
              <a:t>1</a:t>
            </a:r>
            <a:r>
              <a:rPr lang="en-US" sz="2200" dirty="0">
                <a:latin typeface="Comic Sans MS" panose="030F0702030302020204" pitchFamily="66" charset="0"/>
              </a:rPr>
              <a:t>70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19428" y="3076529"/>
            <a:ext cx="4963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 hundredths     0.06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9427" y="3785212"/>
            <a:ext cx="2661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 tenths      0.6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9426" y="4493895"/>
            <a:ext cx="39048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 thousandths    0.002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9426" y="5202578"/>
            <a:ext cx="2661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 hundredths /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9425" y="5911261"/>
            <a:ext cx="2661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 tenth    0.1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285A36-C998-46A9-B183-DEAA7D5F2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970" y="195848"/>
            <a:ext cx="862955" cy="180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19803" y="1074541"/>
            <a:ext cx="874431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Ms. Colette reads the number 17.539 out loud. She says “The number is seventeen point five-hundred and nine. The three is worth hundredths.”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Is she correct? 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What mistake(s) has she made?</a:t>
            </a:r>
          </a:p>
          <a:p>
            <a:pPr marL="457200" indent="-457200">
              <a:buAutoNum type="alphaLcParenR"/>
            </a:pP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2512" y="4183084"/>
            <a:ext cx="1094160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She is not correct</a:t>
            </a:r>
          </a:p>
          <a:p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The number is “seventeen point five three nine”</a:t>
            </a:r>
          </a:p>
          <a:p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The three is worth 3 hundredths.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07645D-A17A-43AF-8673-DF22E0BA3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80" y="932536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4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402922" cy="6222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Understand and explain the value of each digit in decimals.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Comic Sans MS" panose="030F0702030302020204" pitchFamily="66" charset="0"/>
              </a:rPr>
              <a:t>I can read numbers correctly to three decimal places</a:t>
            </a:r>
            <a:r>
              <a:rPr lang="en-US" sz="3200" b="1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identify the value of digits in a number correctly to three decimal places.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find and correct the mistakes in the work of others.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210CF2-E590-4AEE-BDA5-B348319AF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85418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072FBE-BB7D-471A-AA6A-815259626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25739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F22869-84F4-4B45-A394-FDD353F27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12274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71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03734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Plenary – </a:t>
            </a:r>
            <a:r>
              <a:rPr lang="en-US" dirty="0">
                <a:latin typeface="Comic Sans MS" panose="030F0702030302020204" pitchFamily="66" charset="0"/>
              </a:rPr>
              <a:t>Which of the following is the odd one out? Why?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22513" y="195848"/>
            <a:ext cx="1011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and explain the value of each digit in decimals.</a:t>
            </a:r>
          </a:p>
          <a:p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83391" y="2811439"/>
            <a:ext cx="2429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5.628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3881" y="2949033"/>
            <a:ext cx="47107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5628 thousandths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4970" y="4739165"/>
            <a:ext cx="47710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56 tenths and 28 thousandths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3604" y="4739165"/>
            <a:ext cx="47710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56 hundredths and 28 tenths</a:t>
            </a:r>
          </a:p>
        </p:txBody>
      </p:sp>
      <p:sp>
        <p:nvSpPr>
          <p:cNvPr id="5" name="Oval 4"/>
          <p:cNvSpPr/>
          <p:nvPr/>
        </p:nvSpPr>
        <p:spPr>
          <a:xfrm>
            <a:off x="6550925" y="4217158"/>
            <a:ext cx="5104263" cy="2279176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8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6400</TotalTime>
  <Words>653</Words>
  <Application>Microsoft Office PowerPoint</Application>
  <PresentationFormat>Widescreen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Comic Sans MS</vt:lpstr>
      <vt:lpstr>Twinkl</vt:lpstr>
      <vt:lpstr>Office Theme</vt:lpstr>
      <vt:lpstr>Maths </vt:lpstr>
      <vt:lpstr>PowerPoint Presentation</vt:lpstr>
      <vt:lpstr>Homework</vt:lpstr>
      <vt:lpstr>Retrieval Practice – </vt:lpstr>
      <vt:lpstr>Starter – </vt:lpstr>
      <vt:lpstr>How would you say this number?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– Which of the following is the odd one out? Why?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43</cp:revision>
  <dcterms:created xsi:type="dcterms:W3CDTF">2022-08-15T06:38:27Z</dcterms:created>
  <dcterms:modified xsi:type="dcterms:W3CDTF">2026-08-18T02:10:25Z</dcterms:modified>
</cp:coreProperties>
</file>
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7" r:id="rId2"/>
    <p:sldId id="258" r:id="rId3"/>
    <p:sldId id="276" r:id="rId4"/>
    <p:sldId id="277" r:id="rId5"/>
    <p:sldId id="278" r:id="rId6"/>
    <p:sldId id="280" r:id="rId7"/>
    <p:sldId id="287" r:id="rId8"/>
    <p:sldId id="288" r:id="rId9"/>
    <p:sldId id="289" r:id="rId10"/>
    <p:sldId id="291" r:id="rId11"/>
    <p:sldId id="290" r:id="rId12"/>
    <p:sldId id="292" r:id="rId13"/>
    <p:sldId id="285" r:id="rId14"/>
    <p:sldId id="281" r:id="rId15"/>
    <p:sldId id="282" r:id="rId16"/>
    <p:sldId id="293" r:id="rId17"/>
    <p:sldId id="294" r:id="rId18"/>
    <p:sldId id="27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1" d="100"/>
          <a:sy n="61" d="100"/>
        </p:scale>
        <p:origin x="884" y="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A9D831-5A86-4FE0-8F48-7868F364A6F8}" type="datetimeFigureOut">
              <a:rPr lang="en-US" smtClean="0"/>
              <a:t>8/12/2026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7994E6-08DA-4E86-8886-B1659782C168}" type="slidenum">
              <a:rPr lang="en-US" smtClean="0"/>
              <a:t>‹#›</a:t>
            </a:fld>
            <a:endParaRPr lang="en-US"/>
          </a:p>
        </p:txBody>
      </p:sp>
    </p:spTree>
    <p:extLst>
      <p:ext uri="{BB962C8B-B14F-4D97-AF65-F5344CB8AC3E}">
        <p14:creationId xmlns:p14="http://schemas.microsoft.com/office/powerpoint/2010/main" val="1123761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Recently, I have felt overwhelmed with the amount of work I need to do.</a:t>
            </a:r>
          </a:p>
        </p:txBody>
      </p:sp>
      <p:sp>
        <p:nvSpPr>
          <p:cNvPr id="4" name="Slide Number Placeholder 3"/>
          <p:cNvSpPr>
            <a:spLocks noGrp="1"/>
          </p:cNvSpPr>
          <p:nvPr>
            <p:ph type="sldNum" sz="quarter" idx="5"/>
          </p:nvPr>
        </p:nvSpPr>
        <p:spPr/>
        <p:txBody>
          <a:bodyPr/>
          <a:lstStyle/>
          <a:p>
            <a:fld id="{207994E6-08DA-4E86-8886-B1659782C168}" type="slidenum">
              <a:rPr lang="en-US" smtClean="0"/>
              <a:t>8</a:t>
            </a:fld>
            <a:endParaRPr lang="en-US"/>
          </a:p>
        </p:txBody>
      </p:sp>
    </p:spTree>
    <p:extLst>
      <p:ext uri="{BB962C8B-B14F-4D97-AF65-F5344CB8AC3E}">
        <p14:creationId xmlns:p14="http://schemas.microsoft.com/office/powerpoint/2010/main" val="1317728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Recently, I have felt overwhelmed with the amount of work I need to do.</a:t>
            </a:r>
          </a:p>
        </p:txBody>
      </p:sp>
      <p:sp>
        <p:nvSpPr>
          <p:cNvPr id="4" name="Slide Number Placeholder 3"/>
          <p:cNvSpPr>
            <a:spLocks noGrp="1"/>
          </p:cNvSpPr>
          <p:nvPr>
            <p:ph type="sldNum" sz="quarter" idx="5"/>
          </p:nvPr>
        </p:nvSpPr>
        <p:spPr/>
        <p:txBody>
          <a:bodyPr/>
          <a:lstStyle/>
          <a:p>
            <a:fld id="{207994E6-08DA-4E86-8886-B1659782C168}" type="slidenum">
              <a:rPr lang="en-US" smtClean="0"/>
              <a:t>9</a:t>
            </a:fld>
            <a:endParaRPr lang="en-US"/>
          </a:p>
        </p:txBody>
      </p:sp>
    </p:spTree>
    <p:extLst>
      <p:ext uri="{BB962C8B-B14F-4D97-AF65-F5344CB8AC3E}">
        <p14:creationId xmlns:p14="http://schemas.microsoft.com/office/powerpoint/2010/main" val="3389704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Recently, I have felt overwhelmed with the amount of work I need to do.</a:t>
            </a:r>
          </a:p>
        </p:txBody>
      </p:sp>
      <p:sp>
        <p:nvSpPr>
          <p:cNvPr id="4" name="Slide Number Placeholder 3"/>
          <p:cNvSpPr>
            <a:spLocks noGrp="1"/>
          </p:cNvSpPr>
          <p:nvPr>
            <p:ph type="sldNum" sz="quarter" idx="5"/>
          </p:nvPr>
        </p:nvSpPr>
        <p:spPr/>
        <p:txBody>
          <a:bodyPr/>
          <a:lstStyle/>
          <a:p>
            <a:fld id="{207994E6-08DA-4E86-8886-B1659782C168}" type="slidenum">
              <a:rPr lang="en-US" smtClean="0"/>
              <a:t>10</a:t>
            </a:fld>
            <a:endParaRPr lang="en-US"/>
          </a:p>
        </p:txBody>
      </p:sp>
    </p:spTree>
    <p:extLst>
      <p:ext uri="{BB962C8B-B14F-4D97-AF65-F5344CB8AC3E}">
        <p14:creationId xmlns:p14="http://schemas.microsoft.com/office/powerpoint/2010/main" val="1884033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Recently, I have felt overwhelmed with the amount of work I need to do.</a:t>
            </a:r>
          </a:p>
        </p:txBody>
      </p:sp>
      <p:sp>
        <p:nvSpPr>
          <p:cNvPr id="4" name="Slide Number Placeholder 3"/>
          <p:cNvSpPr>
            <a:spLocks noGrp="1"/>
          </p:cNvSpPr>
          <p:nvPr>
            <p:ph type="sldNum" sz="quarter" idx="5"/>
          </p:nvPr>
        </p:nvSpPr>
        <p:spPr/>
        <p:txBody>
          <a:bodyPr/>
          <a:lstStyle/>
          <a:p>
            <a:fld id="{207994E6-08DA-4E86-8886-B1659782C168}" type="slidenum">
              <a:rPr lang="en-US" smtClean="0"/>
              <a:t>11</a:t>
            </a:fld>
            <a:endParaRPr lang="en-US"/>
          </a:p>
        </p:txBody>
      </p:sp>
    </p:spTree>
    <p:extLst>
      <p:ext uri="{BB962C8B-B14F-4D97-AF65-F5344CB8AC3E}">
        <p14:creationId xmlns:p14="http://schemas.microsoft.com/office/powerpoint/2010/main" val="10838891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Recently, I have felt overwhelmed with the amount of work I need to do.</a:t>
            </a:r>
          </a:p>
        </p:txBody>
      </p:sp>
      <p:sp>
        <p:nvSpPr>
          <p:cNvPr id="4" name="Slide Number Placeholder 3"/>
          <p:cNvSpPr>
            <a:spLocks noGrp="1"/>
          </p:cNvSpPr>
          <p:nvPr>
            <p:ph type="sldNum" sz="quarter" idx="5"/>
          </p:nvPr>
        </p:nvSpPr>
        <p:spPr/>
        <p:txBody>
          <a:bodyPr/>
          <a:lstStyle/>
          <a:p>
            <a:fld id="{207994E6-08DA-4E86-8886-B1659782C168}" type="slidenum">
              <a:rPr lang="en-US" smtClean="0"/>
              <a:t>12</a:t>
            </a:fld>
            <a:endParaRPr lang="en-US"/>
          </a:p>
        </p:txBody>
      </p:sp>
    </p:spTree>
    <p:extLst>
      <p:ext uri="{BB962C8B-B14F-4D97-AF65-F5344CB8AC3E}">
        <p14:creationId xmlns:p14="http://schemas.microsoft.com/office/powerpoint/2010/main" val="31780941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4A55409-3F01-417C-95F5-A887D11611B0}"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97AB4B-861B-4493-9205-C14018D9472D}" type="slidenum">
              <a:rPr lang="en-US" smtClean="0"/>
              <a:t>‹#›</a:t>
            </a:fld>
            <a:endParaRPr lang="en-US"/>
          </a:p>
        </p:txBody>
      </p:sp>
    </p:spTree>
    <p:extLst>
      <p:ext uri="{BB962C8B-B14F-4D97-AF65-F5344CB8AC3E}">
        <p14:creationId xmlns:p14="http://schemas.microsoft.com/office/powerpoint/2010/main" val="3073141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4A55409-3F01-417C-95F5-A887D11611B0}"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97AB4B-861B-4493-9205-C14018D9472D}" type="slidenum">
              <a:rPr lang="en-US" smtClean="0"/>
              <a:t>‹#›</a:t>
            </a:fld>
            <a:endParaRPr lang="en-US"/>
          </a:p>
        </p:txBody>
      </p:sp>
    </p:spTree>
    <p:extLst>
      <p:ext uri="{BB962C8B-B14F-4D97-AF65-F5344CB8AC3E}">
        <p14:creationId xmlns:p14="http://schemas.microsoft.com/office/powerpoint/2010/main" val="2227489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4A55409-3F01-417C-95F5-A887D11611B0}"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97AB4B-861B-4493-9205-C14018D9472D}" type="slidenum">
              <a:rPr lang="en-US" smtClean="0"/>
              <a:t>‹#›</a:t>
            </a:fld>
            <a:endParaRPr lang="en-US"/>
          </a:p>
        </p:txBody>
      </p:sp>
    </p:spTree>
    <p:extLst>
      <p:ext uri="{BB962C8B-B14F-4D97-AF65-F5344CB8AC3E}">
        <p14:creationId xmlns:p14="http://schemas.microsoft.com/office/powerpoint/2010/main" val="2876515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4A55409-3F01-417C-95F5-A887D11611B0}" type="datetimeFigureOut">
              <a:rPr lang="en-US" smtClean="0"/>
              <a:t>8/12/2026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97AB4B-861B-4493-9205-C14018D9472D}" type="slidenum">
              <a:rPr lang="en-US" smtClean="0"/>
              <a:t>‹#›</a:t>
            </a:fld>
            <a:endParaRPr lang="en-US"/>
          </a:p>
        </p:txBody>
      </p:sp>
    </p:spTree>
    <p:extLst>
      <p:ext uri="{BB962C8B-B14F-4D97-AF65-F5344CB8AC3E}">
        <p14:creationId xmlns:p14="http://schemas.microsoft.com/office/powerpoint/2010/main" val="3476831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4A55409-3F01-417C-95F5-A887D11611B0}" type="datetimeFigureOut">
              <a:rPr lang="en-US" smtClean="0"/>
              <a:t>8/12/2026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597AB4B-861B-4493-9205-C14018D9472D}" type="slidenum">
              <a:rPr lang="en-US" smtClean="0"/>
              <a:t>‹#›</a:t>
            </a:fld>
            <a:endParaRPr lang="en-US"/>
          </a:p>
        </p:txBody>
      </p:sp>
    </p:spTree>
    <p:extLst>
      <p:ext uri="{BB962C8B-B14F-4D97-AF65-F5344CB8AC3E}">
        <p14:creationId xmlns:p14="http://schemas.microsoft.com/office/powerpoint/2010/main" val="9784555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4A55409-3F01-417C-95F5-A887D11611B0}" type="datetimeFigureOut">
              <a:rPr lang="en-US" smtClean="0"/>
              <a:t>8/12/2026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597AB4B-861B-4493-9205-C14018D9472D}" type="slidenum">
              <a:rPr lang="en-US" smtClean="0"/>
              <a:t>‹#›</a:t>
            </a:fld>
            <a:endParaRPr lang="en-US"/>
          </a:p>
        </p:txBody>
      </p:sp>
    </p:spTree>
    <p:extLst>
      <p:ext uri="{BB962C8B-B14F-4D97-AF65-F5344CB8AC3E}">
        <p14:creationId xmlns:p14="http://schemas.microsoft.com/office/powerpoint/2010/main" val="2820360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A55409-3F01-417C-95F5-A887D11611B0}" type="datetimeFigureOut">
              <a:rPr lang="en-US" smtClean="0"/>
              <a:t>8/12/2026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597AB4B-861B-4493-9205-C14018D9472D}" type="slidenum">
              <a:rPr lang="en-US" smtClean="0"/>
              <a:t>‹#›</a:t>
            </a:fld>
            <a:endParaRPr lang="en-US"/>
          </a:p>
        </p:txBody>
      </p:sp>
    </p:spTree>
    <p:extLst>
      <p:ext uri="{BB962C8B-B14F-4D97-AF65-F5344CB8AC3E}">
        <p14:creationId xmlns:p14="http://schemas.microsoft.com/office/powerpoint/2010/main" val="3395619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4A55409-3F01-417C-95F5-A887D11611B0}" type="datetimeFigureOut">
              <a:rPr lang="en-US" smtClean="0"/>
              <a:t>8/12/2026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97AB4B-861B-4493-9205-C14018D9472D}" type="slidenum">
              <a:rPr lang="en-US" smtClean="0"/>
              <a:t>‹#›</a:t>
            </a:fld>
            <a:endParaRPr lang="en-US"/>
          </a:p>
        </p:txBody>
      </p:sp>
    </p:spTree>
    <p:extLst>
      <p:ext uri="{BB962C8B-B14F-4D97-AF65-F5344CB8AC3E}">
        <p14:creationId xmlns:p14="http://schemas.microsoft.com/office/powerpoint/2010/main" val="24211338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4A55409-3F01-417C-95F5-A887D11611B0}" type="datetimeFigureOut">
              <a:rPr lang="en-US" smtClean="0"/>
              <a:t>8/12/2026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97AB4B-861B-4493-9205-C14018D9472D}" type="slidenum">
              <a:rPr lang="en-US" smtClean="0"/>
              <a:t>‹#›</a:t>
            </a:fld>
            <a:endParaRPr lang="en-US"/>
          </a:p>
        </p:txBody>
      </p:sp>
    </p:spTree>
    <p:extLst>
      <p:ext uri="{BB962C8B-B14F-4D97-AF65-F5344CB8AC3E}">
        <p14:creationId xmlns:p14="http://schemas.microsoft.com/office/powerpoint/2010/main" val="876790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4A55409-3F01-417C-95F5-A887D11611B0}"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97AB4B-861B-4493-9205-C14018D9472D}" type="slidenum">
              <a:rPr lang="en-US" smtClean="0"/>
              <a:t>‹#›</a:t>
            </a:fld>
            <a:endParaRPr lang="en-US"/>
          </a:p>
        </p:txBody>
      </p:sp>
    </p:spTree>
    <p:extLst>
      <p:ext uri="{BB962C8B-B14F-4D97-AF65-F5344CB8AC3E}">
        <p14:creationId xmlns:p14="http://schemas.microsoft.com/office/powerpoint/2010/main" val="23371498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4A55409-3F01-417C-95F5-A887D11611B0}"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97AB4B-861B-4493-9205-C14018D9472D}" type="slidenum">
              <a:rPr lang="en-US" smtClean="0"/>
              <a:t>‹#›</a:t>
            </a:fld>
            <a:endParaRPr lang="en-US"/>
          </a:p>
        </p:txBody>
      </p:sp>
    </p:spTree>
    <p:extLst>
      <p:ext uri="{BB962C8B-B14F-4D97-AF65-F5344CB8AC3E}">
        <p14:creationId xmlns:p14="http://schemas.microsoft.com/office/powerpoint/2010/main" val="1456779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A55409-3F01-417C-95F5-A887D11611B0}" type="datetimeFigureOut">
              <a:rPr lang="en-US" smtClean="0"/>
              <a:t>8/12/2026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97AB4B-861B-4493-9205-C14018D9472D}" type="slidenum">
              <a:rPr lang="en-US" smtClean="0"/>
              <a:t>‹#›</a:t>
            </a:fld>
            <a:endParaRPr lang="en-US"/>
          </a:p>
        </p:txBody>
      </p:sp>
    </p:spTree>
    <p:extLst>
      <p:ext uri="{BB962C8B-B14F-4D97-AF65-F5344CB8AC3E}">
        <p14:creationId xmlns:p14="http://schemas.microsoft.com/office/powerpoint/2010/main" val="32964822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65230" y="-98475"/>
            <a:ext cx="5462954" cy="1667095"/>
          </a:xfrm>
        </p:spPr>
        <p:txBody>
          <a:bodyPr>
            <a:normAutofit/>
          </a:bodyPr>
          <a:lstStyle/>
          <a:p>
            <a:r>
              <a:rPr lang="en-US" sz="9600" dirty="0">
                <a:latin typeface="Comic Sans MS" panose="030F0702030302020204" pitchFamily="66" charset="0"/>
              </a:rPr>
              <a:t>English </a:t>
            </a:r>
          </a:p>
        </p:txBody>
      </p:sp>
      <p:sp>
        <p:nvSpPr>
          <p:cNvPr id="3" name="Subtitle 2"/>
          <p:cNvSpPr>
            <a:spLocks noGrp="1"/>
          </p:cNvSpPr>
          <p:nvPr>
            <p:ph type="subTitle" idx="1"/>
          </p:nvPr>
        </p:nvSpPr>
        <p:spPr>
          <a:xfrm>
            <a:off x="737418" y="1568620"/>
            <a:ext cx="10588079" cy="4061472"/>
          </a:xfrm>
        </p:spPr>
        <p:txBody>
          <a:bodyPr>
            <a:normAutofit fontScale="92500" lnSpcReduction="10000"/>
          </a:bodyPr>
          <a:lstStyle/>
          <a:p>
            <a:pPr algn="l"/>
            <a:endParaRPr lang="en-US" sz="4800" b="1" dirty="0">
              <a:latin typeface="Comic Sans MS" panose="030F0702030302020204" pitchFamily="66" charset="0"/>
            </a:endParaRPr>
          </a:p>
          <a:p>
            <a:pPr algn="l"/>
            <a:r>
              <a:rPr lang="en-US" sz="4800" b="1" dirty="0">
                <a:latin typeface="Comic Sans MS" panose="030F0702030302020204" pitchFamily="66" charset="0"/>
              </a:rPr>
              <a:t>WALT: </a:t>
            </a:r>
            <a:r>
              <a:rPr lang="en-US" sz="4800" dirty="0">
                <a:latin typeface="Comic Sans MS" panose="030F0702030302020204" pitchFamily="66" charset="0"/>
              </a:rPr>
              <a:t>Use present perfect forms to express recent, indefinite and unfinished past.</a:t>
            </a:r>
          </a:p>
          <a:p>
            <a:pPr algn="l"/>
            <a:endParaRPr lang="en-US" sz="5400" b="1" dirty="0">
              <a:latin typeface="Comic Sans MS" panose="030F0702030302020204" pitchFamily="66" charset="0"/>
            </a:endParaRPr>
          </a:p>
          <a:p>
            <a:pPr algn="l"/>
            <a:r>
              <a:rPr lang="en-US" sz="5400" b="1" dirty="0">
                <a:latin typeface="Comic Sans MS" panose="030F0702030302020204" pitchFamily="66" charset="0"/>
              </a:rPr>
              <a:t> </a:t>
            </a:r>
          </a:p>
        </p:txBody>
      </p:sp>
      <p:sp>
        <p:nvSpPr>
          <p:cNvPr id="4" name="TextBox 3"/>
          <p:cNvSpPr txBox="1"/>
          <p:nvPr/>
        </p:nvSpPr>
        <p:spPr>
          <a:xfrm>
            <a:off x="9135292" y="552174"/>
            <a:ext cx="2756262" cy="369332"/>
          </a:xfrm>
          <a:prstGeom prst="rect">
            <a:avLst/>
          </a:prstGeom>
          <a:noFill/>
        </p:spPr>
        <p:txBody>
          <a:bodyPr wrap="square" rtlCol="0">
            <a:spAutoFit/>
          </a:bodyPr>
          <a:lstStyle/>
          <a:p>
            <a:r>
              <a:rPr lang="en-US" b="1" dirty="0">
                <a:solidFill>
                  <a:srgbClr val="FF0000"/>
                </a:solidFill>
                <a:latin typeface="Comic Sans MS" panose="030F0702030302020204" pitchFamily="66" charset="0"/>
              </a:rPr>
              <a:t>Unit 1 – My World</a:t>
            </a:r>
          </a:p>
        </p:txBody>
      </p:sp>
    </p:spTree>
    <p:extLst>
      <p:ext uri="{BB962C8B-B14F-4D97-AF65-F5344CB8AC3E}">
        <p14:creationId xmlns:p14="http://schemas.microsoft.com/office/powerpoint/2010/main" val="4254474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204716" y="234752"/>
            <a:ext cx="11177517" cy="622295"/>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b="1" dirty="0">
                <a:latin typeface="Comic Sans MS" panose="030F0702030302020204" pitchFamily="66" charset="0"/>
              </a:rPr>
              <a:t>WALT: Use present perfect forms to express recent, indefinite and unfinished past.</a:t>
            </a:r>
          </a:p>
          <a:p>
            <a:pPr marL="0" indent="0">
              <a:buNone/>
            </a:pPr>
            <a:endParaRPr lang="en-US" sz="1800" dirty="0">
              <a:latin typeface="Comic Sans MS" panose="030F0702030302020204" pitchFamily="66" charset="0"/>
            </a:endParaRPr>
          </a:p>
        </p:txBody>
      </p:sp>
      <p:sp>
        <p:nvSpPr>
          <p:cNvPr id="7" name="Rectangle 6"/>
          <p:cNvSpPr/>
          <p:nvPr/>
        </p:nvSpPr>
        <p:spPr>
          <a:xfrm>
            <a:off x="352697" y="3526971"/>
            <a:ext cx="3435532" cy="215537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Comic Sans MS" panose="030F0702030302020204" pitchFamily="66" charset="0"/>
              </a:rPr>
              <a:t>I can </a:t>
            </a:r>
            <a:r>
              <a:rPr lang="en-US" sz="2400" b="1" dirty="0" err="1">
                <a:latin typeface="Comic Sans MS" panose="030F0702030302020204" pitchFamily="66" charset="0"/>
              </a:rPr>
              <a:t>recognise</a:t>
            </a:r>
            <a:r>
              <a:rPr lang="en-US" sz="2400" b="1" dirty="0">
                <a:latin typeface="Comic Sans MS" panose="030F0702030302020204" pitchFamily="66" charset="0"/>
              </a:rPr>
              <a:t> the present perfect tense.</a:t>
            </a:r>
          </a:p>
        </p:txBody>
      </p:sp>
      <p:sp>
        <p:nvSpPr>
          <p:cNvPr id="8" name="Rectangle 7"/>
          <p:cNvSpPr/>
          <p:nvPr/>
        </p:nvSpPr>
        <p:spPr>
          <a:xfrm>
            <a:off x="4480560" y="3526971"/>
            <a:ext cx="3396343" cy="2155372"/>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Comic Sans MS" panose="030F0702030302020204" pitchFamily="66" charset="0"/>
              </a:rPr>
              <a:t>I can change sentences to the present perfect tense.</a:t>
            </a:r>
          </a:p>
        </p:txBody>
      </p:sp>
      <p:sp>
        <p:nvSpPr>
          <p:cNvPr id="14" name="Rectangle 13"/>
          <p:cNvSpPr/>
          <p:nvPr/>
        </p:nvSpPr>
        <p:spPr>
          <a:xfrm>
            <a:off x="8524049" y="3526971"/>
            <a:ext cx="3396343" cy="2155372"/>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latin typeface="Comic Sans MS" panose="030F0702030302020204" pitchFamily="66" charset="0"/>
              </a:rPr>
              <a:t>I can write sentences in the present perfect tense.</a:t>
            </a:r>
            <a:endParaRPr lang="en-US" sz="2400" b="1" dirty="0">
              <a:solidFill>
                <a:schemeClr val="tx1"/>
              </a:solidFill>
              <a:latin typeface="Comic Sans MS" panose="030F0702030302020204" pitchFamily="66" charset="0"/>
            </a:endParaRPr>
          </a:p>
        </p:txBody>
      </p:sp>
      <p:sp>
        <p:nvSpPr>
          <p:cNvPr id="11" name="TextBox 10"/>
          <p:cNvSpPr txBox="1"/>
          <p:nvPr/>
        </p:nvSpPr>
        <p:spPr>
          <a:xfrm>
            <a:off x="8569234" y="3523282"/>
            <a:ext cx="3221068" cy="523220"/>
          </a:xfrm>
          <a:prstGeom prst="rect">
            <a:avLst/>
          </a:prstGeom>
          <a:noFill/>
        </p:spPr>
        <p:txBody>
          <a:bodyPr wrap="square" rtlCol="0">
            <a:spAutoFit/>
          </a:bodyPr>
          <a:lstStyle/>
          <a:p>
            <a:endParaRPr lang="en-US" sz="2800" b="1" dirty="0">
              <a:latin typeface="Comic Sans MS" panose="030F0702030302020204" pitchFamily="66" charset="0"/>
            </a:endParaRPr>
          </a:p>
        </p:txBody>
      </p:sp>
      <p:pic>
        <p:nvPicPr>
          <p:cNvPr id="10" name="Picture 9">
            <a:extLst>
              <a:ext uri="{FF2B5EF4-FFF2-40B4-BE49-F238E27FC236}">
                <a16:creationId xmlns:a16="http://schemas.microsoft.com/office/drawing/2014/main" id="{D78DBC22-1DA7-4854-AA4F-D6FC35AF296A}"/>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709" b="92718" l="9346" r="89720">
                        <a14:foregroundMark x1="44860" y1="92718" x2="44860" y2="92718"/>
                      </a14:backgroundRemoval>
                    </a14:imgEffect>
                  </a14:imgLayer>
                </a14:imgProps>
              </a:ext>
            </a:extLst>
          </a:blip>
          <a:stretch>
            <a:fillRect/>
          </a:stretch>
        </p:blipFill>
        <p:spPr>
          <a:xfrm>
            <a:off x="1449810" y="1175657"/>
            <a:ext cx="1102890" cy="2123320"/>
          </a:xfrm>
          <a:prstGeom prst="rect">
            <a:avLst/>
          </a:prstGeom>
        </p:spPr>
      </p:pic>
      <p:pic>
        <p:nvPicPr>
          <p:cNvPr id="12" name="Picture 11">
            <a:extLst>
              <a:ext uri="{FF2B5EF4-FFF2-40B4-BE49-F238E27FC236}">
                <a16:creationId xmlns:a16="http://schemas.microsoft.com/office/drawing/2014/main" id="{3DC85CE1-72CA-4A04-895D-FFF6B11D2D51}"/>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7914" b="93885" l="9023" r="89474">
                        <a14:foregroundMark x1="31579" y1="8273" x2="31579" y2="8273"/>
                        <a14:foregroundMark x1="34586" y1="15108" x2="34586" y2="15108"/>
                        <a14:foregroundMark x1="33083" y1="12950" x2="33083" y2="12950"/>
                        <a14:foregroundMark x1="53383" y1="16906" x2="53383" y2="16906"/>
                        <a14:foregroundMark x1="66165" y1="24460" x2="66165" y2="24460"/>
                        <a14:foregroundMark x1="44361" y1="20504" x2="44361" y2="20504"/>
                        <a14:foregroundMark x1="48120" y1="18705" x2="48120" y2="18705"/>
                        <a14:foregroundMark x1="57895" y1="27338" x2="57895" y2="27338"/>
                        <a14:foregroundMark x1="54887" y1="93885" x2="54887" y2="93885"/>
                      </a14:backgroundRemoval>
                    </a14:imgEffect>
                  </a14:imgLayer>
                </a14:imgProps>
              </a:ext>
              <a:ext uri="{28A0092B-C50C-407E-A947-70E740481C1C}">
                <a14:useLocalDpi xmlns:a14="http://schemas.microsoft.com/office/drawing/2010/main" val="0"/>
              </a:ext>
            </a:extLst>
          </a:blip>
          <a:stretch>
            <a:fillRect/>
          </a:stretch>
        </p:blipFill>
        <p:spPr>
          <a:xfrm>
            <a:off x="5673703" y="915978"/>
            <a:ext cx="1102890" cy="2305290"/>
          </a:xfrm>
          <a:prstGeom prst="rect">
            <a:avLst/>
          </a:prstGeom>
        </p:spPr>
      </p:pic>
      <p:pic>
        <p:nvPicPr>
          <p:cNvPr id="13" name="Picture 12">
            <a:extLst>
              <a:ext uri="{FF2B5EF4-FFF2-40B4-BE49-F238E27FC236}">
                <a16:creationId xmlns:a16="http://schemas.microsoft.com/office/drawing/2014/main" id="{2FCE9973-0FBC-493E-8C60-67D6FA8FF05B}"/>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8904" b="97603" l="8527" r="89147">
                        <a14:foregroundMark x1="54264" y1="17808" x2="54264" y2="17808"/>
                        <a14:foregroundMark x1="66667" y1="25685" x2="66667" y2="25685"/>
                        <a14:foregroundMark x1="66667" y1="97945" x2="66667" y2="97945"/>
                        <a14:foregroundMark x1="33333" y1="8904" x2="33333" y2="8904"/>
                        <a14:foregroundMark x1="35659" y1="15068" x2="35659" y2="15068"/>
                        <a14:foregroundMark x1="35659" y1="11986" x2="35659" y2="11986"/>
                        <a14:foregroundMark x1="58140" y1="19178" x2="58140" y2="19178"/>
                        <a14:foregroundMark x1="46512" y1="19863" x2="46512" y2="19863"/>
                        <a14:foregroundMark x1="72868" y1="25342" x2="72868" y2="25342"/>
                        <a14:foregroundMark x1="68992" y1="21575" x2="68992" y2="21575"/>
                        <a14:foregroundMark x1="52713" y1="17808" x2="52713" y2="17808"/>
                        <a14:foregroundMark x1="53488" y1="16096" x2="53488" y2="16096"/>
                        <a14:foregroundMark x1="33333" y1="9247" x2="33333" y2="9247"/>
                        <a14:foregroundMark x1="24031" y1="9247" x2="24031" y2="9247"/>
                        <a14:foregroundMark x1="36434" y1="34589" x2="36434" y2="34589"/>
                        <a14:foregroundMark x1="38760" y1="32192" x2="38760" y2="32192"/>
                      </a14:backgroundRemoval>
                    </a14:imgEffect>
                  </a14:imgLayer>
                </a14:imgProps>
              </a:ext>
              <a:ext uri="{28A0092B-C50C-407E-A947-70E740481C1C}">
                <a14:useLocalDpi xmlns:a14="http://schemas.microsoft.com/office/drawing/2010/main" val="0"/>
              </a:ext>
            </a:extLst>
          </a:blip>
          <a:stretch>
            <a:fillRect/>
          </a:stretch>
        </p:blipFill>
        <p:spPr>
          <a:xfrm>
            <a:off x="9922998" y="802513"/>
            <a:ext cx="1102890" cy="2496464"/>
          </a:xfrm>
          <a:prstGeom prst="rect">
            <a:avLst/>
          </a:prstGeom>
        </p:spPr>
      </p:pic>
    </p:spTree>
    <p:extLst>
      <p:ext uri="{BB962C8B-B14F-4D97-AF65-F5344CB8AC3E}">
        <p14:creationId xmlns:p14="http://schemas.microsoft.com/office/powerpoint/2010/main" val="1802007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716" y="544171"/>
            <a:ext cx="11177517" cy="1325563"/>
          </a:xfrm>
        </p:spPr>
        <p:txBody>
          <a:bodyPr>
            <a:normAutofit/>
          </a:bodyPr>
          <a:lstStyle/>
          <a:p>
            <a:r>
              <a:rPr lang="en-US" sz="2400" b="1" dirty="0">
                <a:latin typeface="Comic Sans MS" panose="030F0702030302020204" pitchFamily="66" charset="0"/>
              </a:rPr>
              <a:t>Retrieval Practice – </a:t>
            </a:r>
            <a:r>
              <a:rPr lang="en-US" sz="2400" dirty="0">
                <a:latin typeface="Comic Sans MS" panose="030F0702030302020204" pitchFamily="66" charset="0"/>
              </a:rPr>
              <a:t>complete the Frayer model with one of the emotions.</a:t>
            </a:r>
          </a:p>
        </p:txBody>
      </p:sp>
      <p:sp>
        <p:nvSpPr>
          <p:cNvPr id="8" name="Subtitle 2"/>
          <p:cNvSpPr txBox="1">
            <a:spLocks/>
          </p:cNvSpPr>
          <p:nvPr/>
        </p:nvSpPr>
        <p:spPr>
          <a:xfrm>
            <a:off x="204716" y="234752"/>
            <a:ext cx="11177517" cy="622295"/>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b="1" dirty="0">
                <a:latin typeface="Comic Sans MS" panose="030F0702030302020204" pitchFamily="66" charset="0"/>
              </a:rPr>
              <a:t>WALT: Use present perfect forms to express recent, indefinite and unfinished past.</a:t>
            </a:r>
          </a:p>
          <a:p>
            <a:pPr marL="0" indent="0">
              <a:buNone/>
            </a:pPr>
            <a:endParaRPr lang="en-US" sz="1800" dirty="0">
              <a:latin typeface="Comic Sans MS" panose="030F0702030302020204" pitchFamily="66" charset="0"/>
            </a:endParaRPr>
          </a:p>
        </p:txBody>
      </p:sp>
      <p:pic>
        <p:nvPicPr>
          <p:cNvPr id="5" name="Picture 4">
            <a:extLst>
              <a:ext uri="{FF2B5EF4-FFF2-40B4-BE49-F238E27FC236}">
                <a16:creationId xmlns:a16="http://schemas.microsoft.com/office/drawing/2014/main" id="{96E3F34F-541A-4282-ADF2-B4B077C64080}"/>
              </a:ext>
            </a:extLst>
          </p:cNvPr>
          <p:cNvPicPr>
            <a:picLocks noChangeAspect="1"/>
          </p:cNvPicPr>
          <p:nvPr/>
        </p:nvPicPr>
        <p:blipFill>
          <a:blip r:embed="rId2"/>
          <a:stretch>
            <a:fillRect/>
          </a:stretch>
        </p:blipFill>
        <p:spPr>
          <a:xfrm>
            <a:off x="1888003" y="1402496"/>
            <a:ext cx="7053866" cy="5283695"/>
          </a:xfrm>
          <a:prstGeom prst="rect">
            <a:avLst/>
          </a:prstGeom>
        </p:spPr>
      </p:pic>
      <p:sp>
        <p:nvSpPr>
          <p:cNvPr id="9" name="Title 1">
            <a:extLst>
              <a:ext uri="{FF2B5EF4-FFF2-40B4-BE49-F238E27FC236}">
                <a16:creationId xmlns:a16="http://schemas.microsoft.com/office/drawing/2014/main" id="{47586053-C5D2-4E9F-B654-105678659018}"/>
              </a:ext>
            </a:extLst>
          </p:cNvPr>
          <p:cNvSpPr txBox="1">
            <a:spLocks/>
          </p:cNvSpPr>
          <p:nvPr/>
        </p:nvSpPr>
        <p:spPr>
          <a:xfrm>
            <a:off x="9519386" y="2179153"/>
            <a:ext cx="2512193" cy="38080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solidFill>
                  <a:srgbClr val="FF0000"/>
                </a:solidFill>
                <a:latin typeface="Comic Sans MS" panose="030F0702030302020204" pitchFamily="66" charset="0"/>
              </a:rPr>
              <a:t>happy</a:t>
            </a:r>
          </a:p>
          <a:p>
            <a:endParaRPr lang="en-US" sz="2400" b="1" dirty="0">
              <a:solidFill>
                <a:srgbClr val="FF0000"/>
              </a:solidFill>
              <a:latin typeface="Comic Sans MS" panose="030F0702030302020204" pitchFamily="66" charset="0"/>
            </a:endParaRPr>
          </a:p>
          <a:p>
            <a:r>
              <a:rPr lang="en-US" sz="2400" b="1" dirty="0">
                <a:solidFill>
                  <a:srgbClr val="FF0000"/>
                </a:solidFill>
                <a:latin typeface="Comic Sans MS" panose="030F0702030302020204" pitchFamily="66" charset="0"/>
              </a:rPr>
              <a:t>nervous</a:t>
            </a:r>
          </a:p>
          <a:p>
            <a:endParaRPr lang="en-US" sz="2400" b="1" dirty="0">
              <a:solidFill>
                <a:srgbClr val="FF0000"/>
              </a:solidFill>
              <a:latin typeface="Comic Sans MS" panose="030F0702030302020204" pitchFamily="66" charset="0"/>
            </a:endParaRPr>
          </a:p>
          <a:p>
            <a:r>
              <a:rPr lang="en-US" sz="2400" b="1" dirty="0">
                <a:solidFill>
                  <a:srgbClr val="FF0000"/>
                </a:solidFill>
                <a:latin typeface="Comic Sans MS" panose="030F0702030302020204" pitchFamily="66" charset="0"/>
              </a:rPr>
              <a:t>angry</a:t>
            </a:r>
          </a:p>
          <a:p>
            <a:endParaRPr lang="en-US" sz="2400" b="1" dirty="0">
              <a:solidFill>
                <a:srgbClr val="FF0000"/>
              </a:solidFill>
              <a:latin typeface="Comic Sans MS" panose="030F0702030302020204" pitchFamily="66" charset="0"/>
            </a:endParaRPr>
          </a:p>
          <a:p>
            <a:r>
              <a:rPr lang="en-US" sz="2400" b="1" dirty="0">
                <a:solidFill>
                  <a:srgbClr val="FF0000"/>
                </a:solidFill>
                <a:latin typeface="Comic Sans MS" panose="030F0702030302020204" pitchFamily="66" charset="0"/>
              </a:rPr>
              <a:t>scared</a:t>
            </a:r>
          </a:p>
          <a:p>
            <a:endParaRPr lang="en-US" sz="2400" b="1" dirty="0">
              <a:solidFill>
                <a:srgbClr val="FF0000"/>
              </a:solidFill>
              <a:latin typeface="Comic Sans MS" panose="030F0702030302020204" pitchFamily="66" charset="0"/>
            </a:endParaRPr>
          </a:p>
          <a:p>
            <a:r>
              <a:rPr lang="en-US" sz="2400" b="1" dirty="0">
                <a:solidFill>
                  <a:srgbClr val="FF0000"/>
                </a:solidFill>
                <a:latin typeface="Comic Sans MS" panose="030F0702030302020204" pitchFamily="66" charset="0"/>
              </a:rPr>
              <a:t>excited </a:t>
            </a:r>
          </a:p>
          <a:p>
            <a:endParaRPr lang="en-US" sz="2400" b="1" dirty="0">
              <a:solidFill>
                <a:srgbClr val="FF0000"/>
              </a:solidFill>
              <a:latin typeface="Comic Sans MS" panose="030F0702030302020204" pitchFamily="66" charset="0"/>
            </a:endParaRPr>
          </a:p>
          <a:p>
            <a:r>
              <a:rPr lang="en-US" sz="2400" b="1" dirty="0">
                <a:solidFill>
                  <a:srgbClr val="FF0000"/>
                </a:solidFill>
                <a:latin typeface="Comic Sans MS" panose="030F0702030302020204" pitchFamily="66" charset="0"/>
              </a:rPr>
              <a:t>interested</a:t>
            </a:r>
          </a:p>
          <a:p>
            <a:endParaRPr lang="en-US" sz="2400" b="1" dirty="0">
              <a:latin typeface="Comic Sans MS" panose="030F0702030302020204" pitchFamily="66" charset="0"/>
            </a:endParaRPr>
          </a:p>
        </p:txBody>
      </p:sp>
    </p:spTree>
    <p:extLst>
      <p:ext uri="{BB962C8B-B14F-4D97-AF65-F5344CB8AC3E}">
        <p14:creationId xmlns:p14="http://schemas.microsoft.com/office/powerpoint/2010/main" val="2844332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5674" y="898505"/>
            <a:ext cx="10515600" cy="1325563"/>
          </a:xfrm>
        </p:spPr>
        <p:txBody>
          <a:bodyPr>
            <a:normAutofit/>
          </a:bodyPr>
          <a:lstStyle/>
          <a:p>
            <a:r>
              <a:rPr lang="en-US" sz="3600" b="1" dirty="0">
                <a:latin typeface="Comic Sans MS" panose="030F0702030302020204" pitchFamily="66" charset="0"/>
              </a:rPr>
              <a:t>Starter – Have you ever felt…? When? What about?</a:t>
            </a:r>
            <a:endParaRPr lang="en-US" sz="3600" dirty="0">
              <a:latin typeface="Comic Sans MS" panose="030F0702030302020204" pitchFamily="66" charset="0"/>
            </a:endParaRPr>
          </a:p>
        </p:txBody>
      </p:sp>
      <p:sp>
        <p:nvSpPr>
          <p:cNvPr id="8" name="Subtitle 2"/>
          <p:cNvSpPr txBox="1">
            <a:spLocks/>
          </p:cNvSpPr>
          <p:nvPr/>
        </p:nvSpPr>
        <p:spPr>
          <a:xfrm>
            <a:off x="204716" y="234752"/>
            <a:ext cx="11177517" cy="622295"/>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b="1" dirty="0">
                <a:latin typeface="Comic Sans MS" panose="030F0702030302020204" pitchFamily="66" charset="0"/>
              </a:rPr>
              <a:t>WALT: Use present perfect forms to express recent, indefinite and unfinished past.</a:t>
            </a:r>
          </a:p>
          <a:p>
            <a:pPr marL="0" indent="0">
              <a:buNone/>
            </a:pPr>
            <a:endParaRPr lang="en-US" sz="1800" dirty="0">
              <a:latin typeface="Comic Sans MS" panose="030F0702030302020204" pitchFamily="66" charset="0"/>
            </a:endParaRPr>
          </a:p>
        </p:txBody>
      </p:sp>
      <p:sp>
        <p:nvSpPr>
          <p:cNvPr id="3" name="TextBox 2"/>
          <p:cNvSpPr txBox="1"/>
          <p:nvPr/>
        </p:nvSpPr>
        <p:spPr>
          <a:xfrm>
            <a:off x="865495" y="2265527"/>
            <a:ext cx="10440537" cy="1354217"/>
          </a:xfrm>
          <a:prstGeom prst="rect">
            <a:avLst/>
          </a:prstGeom>
          <a:noFill/>
        </p:spPr>
        <p:txBody>
          <a:bodyPr wrap="square" rtlCol="0">
            <a:spAutoFit/>
          </a:bodyPr>
          <a:lstStyle/>
          <a:p>
            <a:r>
              <a:rPr lang="en-US" sz="3200" dirty="0">
                <a:latin typeface="Comic Sans MS" panose="030F0702030302020204" pitchFamily="66" charset="0"/>
              </a:rPr>
              <a:t>Use some the emotions we have discussed to ask your partner the question above.</a:t>
            </a:r>
          </a:p>
          <a:p>
            <a:r>
              <a:rPr lang="en-US" dirty="0">
                <a:latin typeface="Comic Sans MS" panose="030F0702030302020204" pitchFamily="66" charset="0"/>
              </a:rPr>
              <a:t>  </a:t>
            </a:r>
          </a:p>
        </p:txBody>
      </p:sp>
      <p:pic>
        <p:nvPicPr>
          <p:cNvPr id="5" name="Picture 4"/>
          <p:cNvPicPr>
            <a:picLocks noChangeAspect="1"/>
          </p:cNvPicPr>
          <p:nvPr/>
        </p:nvPicPr>
        <p:blipFill>
          <a:blip r:embed="rId2"/>
          <a:stretch>
            <a:fillRect/>
          </a:stretch>
        </p:blipFill>
        <p:spPr>
          <a:xfrm>
            <a:off x="5919185" y="3336323"/>
            <a:ext cx="5629808" cy="3337431"/>
          </a:xfrm>
          <a:prstGeom prst="rect">
            <a:avLst/>
          </a:prstGeom>
        </p:spPr>
      </p:pic>
    </p:spTree>
    <p:extLst>
      <p:ext uri="{BB962C8B-B14F-4D97-AF65-F5344CB8AC3E}">
        <p14:creationId xmlns:p14="http://schemas.microsoft.com/office/powerpoint/2010/main" val="2076482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5673" y="1268318"/>
            <a:ext cx="11447779" cy="4622343"/>
          </a:xfrm>
        </p:spPr>
        <p:txBody>
          <a:bodyPr>
            <a:normAutofit fontScale="90000"/>
          </a:bodyPr>
          <a:lstStyle/>
          <a:p>
            <a:r>
              <a:rPr lang="en-US" b="1" dirty="0">
                <a:latin typeface="Comic Sans MS" panose="030F0702030302020204" pitchFamily="66" charset="0"/>
              </a:rPr>
              <a:t>Today we are looking at the </a:t>
            </a:r>
            <a:r>
              <a:rPr lang="en-US" b="1" dirty="0">
                <a:solidFill>
                  <a:srgbClr val="FF0000"/>
                </a:solidFill>
                <a:latin typeface="Comic Sans MS" panose="030F0702030302020204" pitchFamily="66" charset="0"/>
              </a:rPr>
              <a:t>present perfect tense</a:t>
            </a:r>
            <a:r>
              <a:rPr lang="en-US" b="1" dirty="0">
                <a:latin typeface="Comic Sans MS" panose="030F0702030302020204" pitchFamily="66" charset="0"/>
              </a:rPr>
              <a:t>.</a:t>
            </a:r>
            <a:br>
              <a:rPr lang="en-US" b="1" dirty="0">
                <a:latin typeface="Comic Sans MS" panose="030F0702030302020204" pitchFamily="66" charset="0"/>
              </a:rPr>
            </a:br>
            <a:br>
              <a:rPr lang="en-US" b="1" dirty="0">
                <a:latin typeface="Comic Sans MS" panose="030F0702030302020204" pitchFamily="66" charset="0"/>
              </a:rPr>
            </a:br>
            <a:br>
              <a:rPr lang="en-US" b="1" dirty="0">
                <a:latin typeface="Comic Sans MS" panose="030F0702030302020204" pitchFamily="66" charset="0"/>
              </a:rPr>
            </a:br>
            <a:r>
              <a:rPr lang="en-US" b="1" dirty="0">
                <a:latin typeface="Comic Sans MS" panose="030F0702030302020204" pitchFamily="66" charset="0"/>
              </a:rPr>
              <a:t>We use the </a:t>
            </a:r>
            <a:r>
              <a:rPr lang="en-US" b="1" dirty="0">
                <a:solidFill>
                  <a:srgbClr val="FF0000"/>
                </a:solidFill>
                <a:latin typeface="Comic Sans MS" panose="030F0702030302020204" pitchFamily="66" charset="0"/>
              </a:rPr>
              <a:t>present perfect tense </a:t>
            </a:r>
            <a:r>
              <a:rPr lang="en-US" b="1" dirty="0">
                <a:latin typeface="Comic Sans MS" panose="030F0702030302020204" pitchFamily="66" charset="0"/>
              </a:rPr>
              <a:t>to </a:t>
            </a:r>
            <a:r>
              <a:rPr lang="en-US" b="1" dirty="0">
                <a:solidFill>
                  <a:srgbClr val="00B050"/>
                </a:solidFill>
                <a:latin typeface="Comic Sans MS" panose="030F0702030302020204" pitchFamily="66" charset="0"/>
              </a:rPr>
              <a:t>describe events in the recent past</a:t>
            </a:r>
            <a:r>
              <a:rPr lang="en-US" b="1" dirty="0">
                <a:latin typeface="Comic Sans MS" panose="030F0702030302020204" pitchFamily="66" charset="0"/>
              </a:rPr>
              <a:t>, when the time of the event is not important.</a:t>
            </a:r>
            <a:br>
              <a:rPr lang="en-US" b="1" dirty="0">
                <a:latin typeface="Comic Sans MS" panose="030F0702030302020204" pitchFamily="66" charset="0"/>
              </a:rPr>
            </a:br>
            <a:endParaRPr lang="en-US" dirty="0">
              <a:latin typeface="Comic Sans MS" panose="030F0702030302020204" pitchFamily="66" charset="0"/>
            </a:endParaRPr>
          </a:p>
        </p:txBody>
      </p:sp>
      <p:sp>
        <p:nvSpPr>
          <p:cNvPr id="8" name="Subtitle 2"/>
          <p:cNvSpPr txBox="1">
            <a:spLocks/>
          </p:cNvSpPr>
          <p:nvPr/>
        </p:nvSpPr>
        <p:spPr>
          <a:xfrm>
            <a:off x="204716" y="234752"/>
            <a:ext cx="11177517" cy="622295"/>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b="1" dirty="0">
                <a:latin typeface="Comic Sans MS" panose="030F0702030302020204" pitchFamily="66" charset="0"/>
              </a:rPr>
              <a:t>WALT: Use present perfect forms to express recent, indefinite and unfinished past.</a:t>
            </a:r>
          </a:p>
          <a:p>
            <a:pPr marL="0" indent="0">
              <a:buNone/>
            </a:pPr>
            <a:endParaRPr lang="en-US" sz="1800" dirty="0">
              <a:latin typeface="Comic Sans MS" panose="030F0702030302020204" pitchFamily="66" charset="0"/>
            </a:endParaRPr>
          </a:p>
        </p:txBody>
      </p:sp>
    </p:spTree>
    <p:extLst>
      <p:ext uri="{BB962C8B-B14F-4D97-AF65-F5344CB8AC3E}">
        <p14:creationId xmlns:p14="http://schemas.microsoft.com/office/powerpoint/2010/main" val="3210278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2"/>
          <p:cNvSpPr txBox="1">
            <a:spLocks/>
          </p:cNvSpPr>
          <p:nvPr/>
        </p:nvSpPr>
        <p:spPr>
          <a:xfrm>
            <a:off x="204716" y="234752"/>
            <a:ext cx="11177517" cy="622295"/>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b="1" dirty="0">
                <a:latin typeface="Comic Sans MS" panose="030F0702030302020204" pitchFamily="66" charset="0"/>
              </a:rPr>
              <a:t>WALT: Use present perfect forms to express recent, indefinite and unfinished past.</a:t>
            </a:r>
          </a:p>
          <a:p>
            <a:pPr marL="0" indent="0">
              <a:buNone/>
            </a:pPr>
            <a:endParaRPr lang="en-US" sz="1800" dirty="0">
              <a:latin typeface="Comic Sans MS" panose="030F0702030302020204" pitchFamily="66" charset="0"/>
            </a:endParaRPr>
          </a:p>
        </p:txBody>
      </p:sp>
      <p:sp>
        <p:nvSpPr>
          <p:cNvPr id="2" name="TextBox 1"/>
          <p:cNvSpPr txBox="1"/>
          <p:nvPr/>
        </p:nvSpPr>
        <p:spPr>
          <a:xfrm>
            <a:off x="636226" y="1695659"/>
            <a:ext cx="11392145" cy="923330"/>
          </a:xfrm>
          <a:prstGeom prst="rect">
            <a:avLst/>
          </a:prstGeom>
          <a:noFill/>
        </p:spPr>
        <p:txBody>
          <a:bodyPr wrap="square" rtlCol="0">
            <a:spAutoFit/>
          </a:bodyPr>
          <a:lstStyle/>
          <a:p>
            <a:r>
              <a:rPr lang="en-US" sz="5400" b="1" dirty="0">
                <a:solidFill>
                  <a:srgbClr val="FF0000"/>
                </a:solidFill>
                <a:latin typeface="Comic Sans MS" panose="030F0702030302020204" pitchFamily="66" charset="0"/>
              </a:rPr>
              <a:t>I have been on holiday to Bali.</a:t>
            </a:r>
          </a:p>
        </p:txBody>
      </p:sp>
      <p:cxnSp>
        <p:nvCxnSpPr>
          <p:cNvPr id="5" name="Straight Arrow Connector 4"/>
          <p:cNvCxnSpPr>
            <a:cxnSpLocks/>
          </p:cNvCxnSpPr>
          <p:nvPr/>
        </p:nvCxnSpPr>
        <p:spPr>
          <a:xfrm flipH="1" flipV="1">
            <a:off x="2249821" y="2618990"/>
            <a:ext cx="284915" cy="157240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996287" y="4380931"/>
            <a:ext cx="2893325" cy="707886"/>
          </a:xfrm>
          <a:prstGeom prst="rect">
            <a:avLst/>
          </a:prstGeom>
          <a:noFill/>
        </p:spPr>
        <p:txBody>
          <a:bodyPr wrap="square" rtlCol="0">
            <a:spAutoFit/>
          </a:bodyPr>
          <a:lstStyle/>
          <a:p>
            <a:r>
              <a:rPr lang="en-US" sz="4000" b="1" dirty="0">
                <a:latin typeface="Comic Sans MS" panose="030F0702030302020204" pitchFamily="66" charset="0"/>
              </a:rPr>
              <a:t>have / has</a:t>
            </a:r>
          </a:p>
        </p:txBody>
      </p:sp>
      <p:cxnSp>
        <p:nvCxnSpPr>
          <p:cNvPr id="9" name="Straight Arrow Connector 8"/>
          <p:cNvCxnSpPr>
            <a:cxnSpLocks/>
          </p:cNvCxnSpPr>
          <p:nvPr/>
        </p:nvCxnSpPr>
        <p:spPr>
          <a:xfrm flipH="1" flipV="1">
            <a:off x="4290115" y="2537354"/>
            <a:ext cx="3323468" cy="170165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793474" y="4191392"/>
            <a:ext cx="4801738" cy="707886"/>
          </a:xfrm>
          <a:prstGeom prst="rect">
            <a:avLst/>
          </a:prstGeom>
          <a:noFill/>
        </p:spPr>
        <p:txBody>
          <a:bodyPr wrap="square" rtlCol="0">
            <a:spAutoFit/>
          </a:bodyPr>
          <a:lstStyle/>
          <a:p>
            <a:r>
              <a:rPr lang="en-US" sz="4000" b="1" dirty="0">
                <a:latin typeface="Comic Sans MS" panose="030F0702030302020204" pitchFamily="66" charset="0"/>
              </a:rPr>
              <a:t>past participle</a:t>
            </a:r>
          </a:p>
        </p:txBody>
      </p:sp>
    </p:spTree>
    <p:extLst>
      <p:ext uri="{BB962C8B-B14F-4D97-AF65-F5344CB8AC3E}">
        <p14:creationId xmlns:p14="http://schemas.microsoft.com/office/powerpoint/2010/main" val="2879418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2"/>
          <p:cNvSpPr txBox="1">
            <a:spLocks/>
          </p:cNvSpPr>
          <p:nvPr/>
        </p:nvSpPr>
        <p:spPr>
          <a:xfrm>
            <a:off x="204716" y="234752"/>
            <a:ext cx="11177517" cy="622295"/>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b="1" dirty="0">
                <a:latin typeface="Comic Sans MS" panose="030F0702030302020204" pitchFamily="66" charset="0"/>
              </a:rPr>
              <a:t>WALT: Use present perfect forms to express recent, indefinite and unfinished past.</a:t>
            </a:r>
          </a:p>
          <a:p>
            <a:pPr marL="0" indent="0">
              <a:buNone/>
            </a:pPr>
            <a:endParaRPr lang="en-US" sz="1800" dirty="0">
              <a:latin typeface="Comic Sans MS" panose="030F0702030302020204" pitchFamily="66" charset="0"/>
            </a:endParaRPr>
          </a:p>
        </p:txBody>
      </p:sp>
      <p:sp>
        <p:nvSpPr>
          <p:cNvPr id="2" name="TextBox 1"/>
          <p:cNvSpPr txBox="1"/>
          <p:nvPr/>
        </p:nvSpPr>
        <p:spPr>
          <a:xfrm>
            <a:off x="636226" y="1695659"/>
            <a:ext cx="11392145" cy="923330"/>
          </a:xfrm>
          <a:prstGeom prst="rect">
            <a:avLst/>
          </a:prstGeom>
          <a:noFill/>
        </p:spPr>
        <p:txBody>
          <a:bodyPr wrap="square" rtlCol="0">
            <a:spAutoFit/>
          </a:bodyPr>
          <a:lstStyle/>
          <a:p>
            <a:r>
              <a:rPr lang="en-US" sz="5400" b="1" dirty="0">
                <a:solidFill>
                  <a:srgbClr val="FF0000"/>
                </a:solidFill>
                <a:latin typeface="Comic Sans MS" panose="030F0702030302020204" pitchFamily="66" charset="0"/>
              </a:rPr>
              <a:t>I have went on holiday to Bali.</a:t>
            </a:r>
          </a:p>
        </p:txBody>
      </p:sp>
      <p:sp>
        <p:nvSpPr>
          <p:cNvPr id="6" name="TextBox 5"/>
          <p:cNvSpPr txBox="1"/>
          <p:nvPr/>
        </p:nvSpPr>
        <p:spPr>
          <a:xfrm>
            <a:off x="204716" y="3103658"/>
            <a:ext cx="11392145" cy="707886"/>
          </a:xfrm>
          <a:prstGeom prst="rect">
            <a:avLst/>
          </a:prstGeom>
          <a:noFill/>
        </p:spPr>
        <p:txBody>
          <a:bodyPr wrap="square" rtlCol="0">
            <a:spAutoFit/>
          </a:bodyPr>
          <a:lstStyle/>
          <a:p>
            <a:r>
              <a:rPr lang="en-US" sz="4000" b="1" dirty="0">
                <a:latin typeface="Comic Sans MS" panose="030F0702030302020204" pitchFamily="66" charset="0"/>
              </a:rPr>
              <a:t>Why would I not use ‘went’ in this sentence? </a:t>
            </a:r>
          </a:p>
        </p:txBody>
      </p:sp>
      <p:sp>
        <p:nvSpPr>
          <p:cNvPr id="11" name="TextBox 10">
            <a:extLst>
              <a:ext uri="{FF2B5EF4-FFF2-40B4-BE49-F238E27FC236}">
                <a16:creationId xmlns:a16="http://schemas.microsoft.com/office/drawing/2014/main" id="{1E19FE3F-078A-41D0-B552-79D128E52434}"/>
              </a:ext>
            </a:extLst>
          </p:cNvPr>
          <p:cNvSpPr txBox="1"/>
          <p:nvPr/>
        </p:nvSpPr>
        <p:spPr>
          <a:xfrm>
            <a:off x="204715" y="4454455"/>
            <a:ext cx="11392145" cy="1323439"/>
          </a:xfrm>
          <a:prstGeom prst="rect">
            <a:avLst/>
          </a:prstGeom>
          <a:noFill/>
        </p:spPr>
        <p:txBody>
          <a:bodyPr wrap="square" rtlCol="0">
            <a:spAutoFit/>
          </a:bodyPr>
          <a:lstStyle/>
          <a:p>
            <a:r>
              <a:rPr lang="en-US" sz="4000" b="1" dirty="0">
                <a:latin typeface="Comic Sans MS" panose="030F0702030302020204" pitchFamily="66" charset="0"/>
              </a:rPr>
              <a:t>Because the present perfect needs the past participle not the past simple verb.</a:t>
            </a:r>
          </a:p>
        </p:txBody>
      </p:sp>
    </p:spTree>
    <p:extLst>
      <p:ext uri="{BB962C8B-B14F-4D97-AF65-F5344CB8AC3E}">
        <p14:creationId xmlns:p14="http://schemas.microsoft.com/office/powerpoint/2010/main" val="3300138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2"/>
          <p:cNvSpPr txBox="1">
            <a:spLocks/>
          </p:cNvSpPr>
          <p:nvPr/>
        </p:nvSpPr>
        <p:spPr>
          <a:xfrm>
            <a:off x="204716" y="234752"/>
            <a:ext cx="11177517" cy="622295"/>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b="1" dirty="0">
                <a:latin typeface="Comic Sans MS" panose="030F0702030302020204" pitchFamily="66" charset="0"/>
              </a:rPr>
              <a:t>WALT: Use present perfect forms to express recent, indefinite and unfinished past.</a:t>
            </a:r>
          </a:p>
          <a:p>
            <a:pPr marL="0" indent="0">
              <a:buNone/>
            </a:pPr>
            <a:endParaRPr lang="en-US" sz="1800" dirty="0">
              <a:latin typeface="Comic Sans MS" panose="030F0702030302020204" pitchFamily="66" charset="0"/>
            </a:endParaRPr>
          </a:p>
        </p:txBody>
      </p:sp>
      <p:sp>
        <p:nvSpPr>
          <p:cNvPr id="2" name="TextBox 1"/>
          <p:cNvSpPr txBox="1"/>
          <p:nvPr/>
        </p:nvSpPr>
        <p:spPr>
          <a:xfrm>
            <a:off x="318592" y="1058085"/>
            <a:ext cx="11392145" cy="1323439"/>
          </a:xfrm>
          <a:prstGeom prst="rect">
            <a:avLst/>
          </a:prstGeom>
          <a:noFill/>
        </p:spPr>
        <p:txBody>
          <a:bodyPr wrap="square" rtlCol="0">
            <a:spAutoFit/>
          </a:bodyPr>
          <a:lstStyle/>
          <a:p>
            <a:r>
              <a:rPr lang="en-US" sz="4000" dirty="0">
                <a:latin typeface="Comic Sans MS" panose="030F0702030302020204" pitchFamily="66" charset="0"/>
              </a:rPr>
              <a:t>Thinking of emotions, what sentences could we say using the present perfect tense?</a:t>
            </a:r>
          </a:p>
        </p:txBody>
      </p:sp>
      <p:sp>
        <p:nvSpPr>
          <p:cNvPr id="6" name="TextBox 5"/>
          <p:cNvSpPr txBox="1"/>
          <p:nvPr/>
        </p:nvSpPr>
        <p:spPr>
          <a:xfrm>
            <a:off x="399927" y="2721114"/>
            <a:ext cx="11392145" cy="707886"/>
          </a:xfrm>
          <a:prstGeom prst="rect">
            <a:avLst/>
          </a:prstGeom>
          <a:noFill/>
        </p:spPr>
        <p:txBody>
          <a:bodyPr wrap="square" rtlCol="0">
            <a:spAutoFit/>
          </a:bodyPr>
          <a:lstStyle/>
          <a:p>
            <a:r>
              <a:rPr lang="en-US" sz="4000" b="1" dirty="0">
                <a:solidFill>
                  <a:srgbClr val="00B050"/>
                </a:solidFill>
                <a:latin typeface="Comic Sans MS" panose="030F0702030302020204" pitchFamily="66" charset="0"/>
              </a:rPr>
              <a:t>Remember:  have/has  +  past participle</a:t>
            </a:r>
          </a:p>
        </p:txBody>
      </p:sp>
    </p:spTree>
    <p:extLst>
      <p:ext uri="{BB962C8B-B14F-4D97-AF65-F5344CB8AC3E}">
        <p14:creationId xmlns:p14="http://schemas.microsoft.com/office/powerpoint/2010/main" val="5489767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2"/>
          <p:cNvSpPr txBox="1">
            <a:spLocks/>
          </p:cNvSpPr>
          <p:nvPr/>
        </p:nvSpPr>
        <p:spPr>
          <a:xfrm>
            <a:off x="204716" y="234752"/>
            <a:ext cx="11177517" cy="622295"/>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b="1" dirty="0">
                <a:latin typeface="Comic Sans MS" panose="030F0702030302020204" pitchFamily="66" charset="0"/>
              </a:rPr>
              <a:t>WALT: Use present perfect forms to express recent, indefinite and unfinished past.</a:t>
            </a:r>
          </a:p>
          <a:p>
            <a:pPr marL="0" indent="0">
              <a:buNone/>
            </a:pPr>
            <a:endParaRPr lang="en-US" sz="1800" dirty="0">
              <a:latin typeface="Comic Sans MS" panose="030F0702030302020204" pitchFamily="66" charset="0"/>
            </a:endParaRPr>
          </a:p>
        </p:txBody>
      </p:sp>
      <p:sp>
        <p:nvSpPr>
          <p:cNvPr id="2" name="TextBox 1"/>
          <p:cNvSpPr txBox="1"/>
          <p:nvPr/>
        </p:nvSpPr>
        <p:spPr>
          <a:xfrm>
            <a:off x="234509" y="1282116"/>
            <a:ext cx="11957491" cy="646331"/>
          </a:xfrm>
          <a:prstGeom prst="rect">
            <a:avLst/>
          </a:prstGeom>
          <a:noFill/>
        </p:spPr>
        <p:txBody>
          <a:bodyPr wrap="square" rtlCol="0">
            <a:spAutoFit/>
          </a:bodyPr>
          <a:lstStyle/>
          <a:p>
            <a:r>
              <a:rPr lang="en-US" sz="3600" b="1" dirty="0">
                <a:latin typeface="Comic Sans MS" panose="030F0702030302020204" pitchFamily="66" charset="0"/>
              </a:rPr>
              <a:t>Which sentences are in the present perfect tense?</a:t>
            </a:r>
          </a:p>
        </p:txBody>
      </p:sp>
      <p:sp>
        <p:nvSpPr>
          <p:cNvPr id="6" name="TextBox 5"/>
          <p:cNvSpPr txBox="1"/>
          <p:nvPr/>
        </p:nvSpPr>
        <p:spPr>
          <a:xfrm>
            <a:off x="399927" y="2098933"/>
            <a:ext cx="11392145" cy="4524315"/>
          </a:xfrm>
          <a:prstGeom prst="rect">
            <a:avLst/>
          </a:prstGeom>
          <a:noFill/>
        </p:spPr>
        <p:txBody>
          <a:bodyPr wrap="square" rtlCol="0">
            <a:spAutoFit/>
          </a:bodyPr>
          <a:lstStyle/>
          <a:p>
            <a:r>
              <a:rPr lang="en-US" sz="3200" dirty="0">
                <a:latin typeface="Comic Sans MS" panose="030F0702030302020204" pitchFamily="66" charset="0"/>
              </a:rPr>
              <a:t>She has never experienced such an intense excitement until starting her new job.</a:t>
            </a:r>
          </a:p>
          <a:p>
            <a:endParaRPr lang="en-US" sz="3200" dirty="0">
              <a:latin typeface="Comic Sans MS" panose="030F0702030302020204" pitchFamily="66" charset="0"/>
            </a:endParaRPr>
          </a:p>
          <a:p>
            <a:r>
              <a:rPr lang="en-US" sz="3200" dirty="0">
                <a:latin typeface="Comic Sans MS" panose="030F0702030302020204" pitchFamily="66" charset="0"/>
              </a:rPr>
              <a:t>Mr. Charlie loves to play golf on the weekend.</a:t>
            </a:r>
          </a:p>
          <a:p>
            <a:endParaRPr lang="en-US" sz="3200" dirty="0">
              <a:latin typeface="Comic Sans MS" panose="030F0702030302020204" pitchFamily="66" charset="0"/>
            </a:endParaRPr>
          </a:p>
          <a:p>
            <a:r>
              <a:rPr lang="en-US" sz="3200" dirty="0">
                <a:latin typeface="Comic Sans MS" panose="030F0702030302020204" pitchFamily="66" charset="0"/>
              </a:rPr>
              <a:t>I was nervous to start Grade 5 because of the Checkpoints.</a:t>
            </a:r>
          </a:p>
          <a:p>
            <a:endParaRPr lang="en-US" sz="3200" dirty="0">
              <a:latin typeface="Comic Sans MS" panose="030F0702030302020204" pitchFamily="66" charset="0"/>
            </a:endParaRPr>
          </a:p>
          <a:p>
            <a:r>
              <a:rPr lang="en-US" sz="3200" dirty="0">
                <a:latin typeface="Comic Sans MS" panose="030F0702030302020204" pitchFamily="66" charset="0"/>
              </a:rPr>
              <a:t>I have drawn a sunflower as it makes me feel warm inside.</a:t>
            </a:r>
          </a:p>
        </p:txBody>
      </p:sp>
      <p:sp>
        <p:nvSpPr>
          <p:cNvPr id="5" name="TextBox 4">
            <a:extLst>
              <a:ext uri="{FF2B5EF4-FFF2-40B4-BE49-F238E27FC236}">
                <a16:creationId xmlns:a16="http://schemas.microsoft.com/office/drawing/2014/main" id="{8E621371-D5AB-4A23-B128-3D884FEF05A5}"/>
              </a:ext>
            </a:extLst>
          </p:cNvPr>
          <p:cNvSpPr txBox="1"/>
          <p:nvPr/>
        </p:nvSpPr>
        <p:spPr>
          <a:xfrm>
            <a:off x="318592" y="792056"/>
            <a:ext cx="11957491" cy="461665"/>
          </a:xfrm>
          <a:prstGeom prst="rect">
            <a:avLst/>
          </a:prstGeom>
          <a:noFill/>
        </p:spPr>
        <p:txBody>
          <a:bodyPr wrap="square" rtlCol="0">
            <a:spAutoFit/>
          </a:bodyPr>
          <a:lstStyle/>
          <a:p>
            <a:r>
              <a:rPr lang="en-US" sz="2400" u="sng" dirty="0">
                <a:latin typeface="Comic Sans MS" panose="030F0702030302020204" pitchFamily="66" charset="0"/>
              </a:rPr>
              <a:t>Check your understanding</a:t>
            </a:r>
          </a:p>
        </p:txBody>
      </p:sp>
    </p:spTree>
    <p:extLst>
      <p:ext uri="{BB962C8B-B14F-4D97-AF65-F5344CB8AC3E}">
        <p14:creationId xmlns:p14="http://schemas.microsoft.com/office/powerpoint/2010/main" val="14392107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2"/>
          <p:cNvSpPr txBox="1">
            <a:spLocks/>
          </p:cNvSpPr>
          <p:nvPr/>
        </p:nvSpPr>
        <p:spPr>
          <a:xfrm>
            <a:off x="204716" y="234752"/>
            <a:ext cx="11177517" cy="622295"/>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b="1" dirty="0">
                <a:latin typeface="Comic Sans MS" panose="030F0702030302020204" pitchFamily="66" charset="0"/>
              </a:rPr>
              <a:t>WALT: Use present perfect forms to express recent, indefinite and unfinished past.</a:t>
            </a:r>
          </a:p>
          <a:p>
            <a:pPr marL="0" indent="0">
              <a:buNone/>
            </a:pPr>
            <a:endParaRPr lang="en-US" sz="1800" dirty="0">
              <a:latin typeface="Comic Sans MS" panose="030F0702030302020204" pitchFamily="66" charset="0"/>
            </a:endParaRPr>
          </a:p>
        </p:txBody>
      </p:sp>
      <p:sp>
        <p:nvSpPr>
          <p:cNvPr id="2" name="TextBox 1"/>
          <p:cNvSpPr txBox="1"/>
          <p:nvPr/>
        </p:nvSpPr>
        <p:spPr>
          <a:xfrm>
            <a:off x="317217" y="1352375"/>
            <a:ext cx="11957491" cy="646331"/>
          </a:xfrm>
          <a:prstGeom prst="rect">
            <a:avLst/>
          </a:prstGeom>
          <a:noFill/>
        </p:spPr>
        <p:txBody>
          <a:bodyPr wrap="square" rtlCol="0">
            <a:spAutoFit/>
          </a:bodyPr>
          <a:lstStyle/>
          <a:p>
            <a:r>
              <a:rPr lang="en-US" sz="3600" b="1" dirty="0">
                <a:latin typeface="Comic Sans MS" panose="030F0702030302020204" pitchFamily="66" charset="0"/>
              </a:rPr>
              <a:t>Which sentences are in the present perfect tense?</a:t>
            </a:r>
          </a:p>
        </p:txBody>
      </p:sp>
      <p:sp>
        <p:nvSpPr>
          <p:cNvPr id="6" name="TextBox 5"/>
          <p:cNvSpPr txBox="1"/>
          <p:nvPr/>
        </p:nvSpPr>
        <p:spPr>
          <a:xfrm>
            <a:off x="399927" y="2098933"/>
            <a:ext cx="11792073" cy="4524315"/>
          </a:xfrm>
          <a:prstGeom prst="rect">
            <a:avLst/>
          </a:prstGeom>
          <a:noFill/>
        </p:spPr>
        <p:txBody>
          <a:bodyPr wrap="square" rtlCol="0">
            <a:spAutoFit/>
          </a:bodyPr>
          <a:lstStyle/>
          <a:p>
            <a:r>
              <a:rPr lang="en-US" sz="3200" b="1" dirty="0">
                <a:solidFill>
                  <a:srgbClr val="FF0000"/>
                </a:solidFill>
                <a:latin typeface="Comic Sans MS" panose="030F0702030302020204" pitchFamily="66" charset="0"/>
              </a:rPr>
              <a:t>She has never experienced such an intense excitement until starting her new job.</a:t>
            </a:r>
          </a:p>
          <a:p>
            <a:endParaRPr lang="en-US" sz="3200" dirty="0">
              <a:latin typeface="Comic Sans MS" panose="030F0702030302020204" pitchFamily="66" charset="0"/>
            </a:endParaRPr>
          </a:p>
          <a:p>
            <a:r>
              <a:rPr lang="en-US" sz="3200" dirty="0">
                <a:latin typeface="Comic Sans MS" panose="030F0702030302020204" pitchFamily="66" charset="0"/>
              </a:rPr>
              <a:t>Mr. Charlie loves to play golf on the weekend.</a:t>
            </a:r>
          </a:p>
          <a:p>
            <a:endParaRPr lang="en-US" sz="3200" dirty="0">
              <a:latin typeface="Comic Sans MS" panose="030F0702030302020204" pitchFamily="66" charset="0"/>
            </a:endParaRPr>
          </a:p>
          <a:p>
            <a:r>
              <a:rPr lang="en-US" sz="3200" dirty="0">
                <a:latin typeface="Comic Sans MS" panose="030F0702030302020204" pitchFamily="66" charset="0"/>
              </a:rPr>
              <a:t>I was nervous to start Grade 5 because of the Checkpoints.</a:t>
            </a:r>
          </a:p>
          <a:p>
            <a:endParaRPr lang="en-US" sz="3200" dirty="0">
              <a:latin typeface="Comic Sans MS" panose="030F0702030302020204" pitchFamily="66" charset="0"/>
            </a:endParaRPr>
          </a:p>
          <a:p>
            <a:r>
              <a:rPr lang="en-US" sz="3200" b="1" dirty="0">
                <a:solidFill>
                  <a:srgbClr val="FF0000"/>
                </a:solidFill>
                <a:latin typeface="Comic Sans MS" panose="030F0702030302020204" pitchFamily="66" charset="0"/>
              </a:rPr>
              <a:t>I have drawn a sunflower as it makes me feel warm inside.</a:t>
            </a:r>
          </a:p>
        </p:txBody>
      </p:sp>
    </p:spTree>
    <p:extLst>
      <p:ext uri="{BB962C8B-B14F-4D97-AF65-F5344CB8AC3E}">
        <p14:creationId xmlns:p14="http://schemas.microsoft.com/office/powerpoint/2010/main" val="5613361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2"/>
          <p:cNvSpPr txBox="1">
            <a:spLocks/>
          </p:cNvSpPr>
          <p:nvPr/>
        </p:nvSpPr>
        <p:spPr>
          <a:xfrm>
            <a:off x="204716" y="234752"/>
            <a:ext cx="11177517" cy="622295"/>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b="1" dirty="0">
                <a:latin typeface="Comic Sans MS" panose="030F0702030302020204" pitchFamily="66" charset="0"/>
              </a:rPr>
              <a:t>WALT: Use present perfect forms to express recent, indefinite and unfinished past.</a:t>
            </a:r>
          </a:p>
          <a:p>
            <a:pPr marL="0" indent="0">
              <a:buNone/>
            </a:pPr>
            <a:endParaRPr lang="en-US" sz="1800" dirty="0">
              <a:latin typeface="Comic Sans MS" panose="030F0702030302020204" pitchFamily="66" charset="0"/>
            </a:endParaRPr>
          </a:p>
        </p:txBody>
      </p:sp>
      <p:sp>
        <p:nvSpPr>
          <p:cNvPr id="2" name="TextBox 1"/>
          <p:cNvSpPr txBox="1"/>
          <p:nvPr/>
        </p:nvSpPr>
        <p:spPr>
          <a:xfrm>
            <a:off x="317217" y="1026554"/>
            <a:ext cx="11957491" cy="1200329"/>
          </a:xfrm>
          <a:prstGeom prst="rect">
            <a:avLst/>
          </a:prstGeom>
          <a:noFill/>
        </p:spPr>
        <p:txBody>
          <a:bodyPr wrap="square" rtlCol="0">
            <a:spAutoFit/>
          </a:bodyPr>
          <a:lstStyle/>
          <a:p>
            <a:r>
              <a:rPr lang="en-US" sz="3600" b="1" dirty="0">
                <a:latin typeface="Comic Sans MS" panose="030F0702030302020204" pitchFamily="66" charset="0"/>
              </a:rPr>
              <a:t>How could I change this sentence into the present perfect tense?</a:t>
            </a:r>
          </a:p>
        </p:txBody>
      </p:sp>
      <p:sp>
        <p:nvSpPr>
          <p:cNvPr id="6" name="TextBox 5"/>
          <p:cNvSpPr txBox="1"/>
          <p:nvPr/>
        </p:nvSpPr>
        <p:spPr>
          <a:xfrm>
            <a:off x="399925" y="2396390"/>
            <a:ext cx="11792073" cy="1569660"/>
          </a:xfrm>
          <a:prstGeom prst="rect">
            <a:avLst/>
          </a:prstGeom>
          <a:noFill/>
        </p:spPr>
        <p:txBody>
          <a:bodyPr wrap="square" rtlCol="0">
            <a:spAutoFit/>
          </a:bodyPr>
          <a:lstStyle/>
          <a:p>
            <a:endParaRPr lang="en-US" sz="3200" dirty="0">
              <a:latin typeface="Comic Sans MS" panose="030F0702030302020204" pitchFamily="66" charset="0"/>
            </a:endParaRPr>
          </a:p>
          <a:p>
            <a:r>
              <a:rPr lang="en-US" sz="3200" dirty="0">
                <a:latin typeface="Comic Sans MS" panose="030F0702030302020204" pitchFamily="66" charset="0"/>
              </a:rPr>
              <a:t>Mr. Charlie loves to play golf on the weekend.</a:t>
            </a:r>
          </a:p>
          <a:p>
            <a:endParaRPr lang="en-US" sz="3200" dirty="0">
              <a:latin typeface="Comic Sans MS" panose="030F0702030302020204" pitchFamily="66" charset="0"/>
            </a:endParaRPr>
          </a:p>
        </p:txBody>
      </p:sp>
    </p:spTree>
    <p:extLst>
      <p:ext uri="{BB962C8B-B14F-4D97-AF65-F5344CB8AC3E}">
        <p14:creationId xmlns:p14="http://schemas.microsoft.com/office/powerpoint/2010/main" val="519690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2"/>
          <p:cNvSpPr txBox="1">
            <a:spLocks/>
          </p:cNvSpPr>
          <p:nvPr/>
        </p:nvSpPr>
        <p:spPr>
          <a:xfrm>
            <a:off x="204716" y="234752"/>
            <a:ext cx="11177517" cy="622295"/>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b="1" dirty="0">
                <a:latin typeface="Comic Sans MS" panose="030F0702030302020204" pitchFamily="66" charset="0"/>
              </a:rPr>
              <a:t>WALT: Use present perfect forms to express recent, indefinite and unfinished past.</a:t>
            </a:r>
          </a:p>
          <a:p>
            <a:pPr marL="0" indent="0">
              <a:buNone/>
            </a:pPr>
            <a:endParaRPr lang="en-US" sz="1800" dirty="0">
              <a:latin typeface="Comic Sans MS" panose="030F0702030302020204" pitchFamily="66" charset="0"/>
            </a:endParaRPr>
          </a:p>
        </p:txBody>
      </p:sp>
      <p:sp>
        <p:nvSpPr>
          <p:cNvPr id="6" name="TextBox 5"/>
          <p:cNvSpPr txBox="1"/>
          <p:nvPr/>
        </p:nvSpPr>
        <p:spPr>
          <a:xfrm>
            <a:off x="399925" y="3111094"/>
            <a:ext cx="11792073" cy="1077218"/>
          </a:xfrm>
          <a:prstGeom prst="rect">
            <a:avLst/>
          </a:prstGeom>
          <a:noFill/>
        </p:spPr>
        <p:txBody>
          <a:bodyPr wrap="square" rtlCol="0">
            <a:spAutoFit/>
          </a:bodyPr>
          <a:lstStyle/>
          <a:p>
            <a:endParaRPr lang="en-US" sz="3200" dirty="0">
              <a:latin typeface="Comic Sans MS" panose="030F0702030302020204" pitchFamily="66" charset="0"/>
            </a:endParaRPr>
          </a:p>
          <a:p>
            <a:r>
              <a:rPr lang="en-US" sz="3200" dirty="0">
                <a:latin typeface="Comic Sans MS" panose="030F0702030302020204" pitchFamily="66" charset="0"/>
              </a:rPr>
              <a:t>I was nervous to start Grade 5 because of the Checkpoints.</a:t>
            </a:r>
          </a:p>
        </p:txBody>
      </p:sp>
      <p:sp>
        <p:nvSpPr>
          <p:cNvPr id="5" name="TextBox 4">
            <a:extLst>
              <a:ext uri="{FF2B5EF4-FFF2-40B4-BE49-F238E27FC236}">
                <a16:creationId xmlns:a16="http://schemas.microsoft.com/office/drawing/2014/main" id="{1794615C-9D4D-401C-B245-C87DBEA36C59}"/>
              </a:ext>
            </a:extLst>
          </p:cNvPr>
          <p:cNvSpPr txBox="1"/>
          <p:nvPr/>
        </p:nvSpPr>
        <p:spPr>
          <a:xfrm>
            <a:off x="317215" y="1625644"/>
            <a:ext cx="11957491" cy="1200329"/>
          </a:xfrm>
          <a:prstGeom prst="rect">
            <a:avLst/>
          </a:prstGeom>
          <a:noFill/>
        </p:spPr>
        <p:txBody>
          <a:bodyPr wrap="square" rtlCol="0">
            <a:spAutoFit/>
          </a:bodyPr>
          <a:lstStyle/>
          <a:p>
            <a:r>
              <a:rPr lang="en-US" sz="3600" b="1" dirty="0">
                <a:latin typeface="Comic Sans MS" panose="030F0702030302020204" pitchFamily="66" charset="0"/>
              </a:rPr>
              <a:t>How could I change this sentence into the present perfect tense?</a:t>
            </a:r>
          </a:p>
        </p:txBody>
      </p:sp>
      <p:sp>
        <p:nvSpPr>
          <p:cNvPr id="7" name="TextBox 6">
            <a:extLst>
              <a:ext uri="{FF2B5EF4-FFF2-40B4-BE49-F238E27FC236}">
                <a16:creationId xmlns:a16="http://schemas.microsoft.com/office/drawing/2014/main" id="{C7759B59-1041-406B-867A-F77E4CF9A6E3}"/>
              </a:ext>
            </a:extLst>
          </p:cNvPr>
          <p:cNvSpPr txBox="1"/>
          <p:nvPr/>
        </p:nvSpPr>
        <p:spPr>
          <a:xfrm>
            <a:off x="317215" y="911335"/>
            <a:ext cx="11957491" cy="461665"/>
          </a:xfrm>
          <a:prstGeom prst="rect">
            <a:avLst/>
          </a:prstGeom>
          <a:noFill/>
        </p:spPr>
        <p:txBody>
          <a:bodyPr wrap="square" rtlCol="0">
            <a:spAutoFit/>
          </a:bodyPr>
          <a:lstStyle/>
          <a:p>
            <a:r>
              <a:rPr lang="en-US" sz="2400" u="sng" dirty="0">
                <a:latin typeface="Comic Sans MS" panose="030F0702030302020204" pitchFamily="66" charset="0"/>
              </a:rPr>
              <a:t>Check your understanding</a:t>
            </a:r>
          </a:p>
        </p:txBody>
      </p:sp>
    </p:spTree>
    <p:extLst>
      <p:ext uri="{BB962C8B-B14F-4D97-AF65-F5344CB8AC3E}">
        <p14:creationId xmlns:p14="http://schemas.microsoft.com/office/powerpoint/2010/main" val="1063146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2"/>
          <p:cNvSpPr txBox="1">
            <a:spLocks/>
          </p:cNvSpPr>
          <p:nvPr/>
        </p:nvSpPr>
        <p:spPr>
          <a:xfrm>
            <a:off x="204716" y="234752"/>
            <a:ext cx="11177517" cy="622295"/>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b="1" dirty="0">
                <a:latin typeface="Comic Sans MS" panose="030F0702030302020204" pitchFamily="66" charset="0"/>
              </a:rPr>
              <a:t>WALT: Use present perfect forms to express recent, indefinite and unfinished past.</a:t>
            </a:r>
          </a:p>
          <a:p>
            <a:pPr marL="0" indent="0">
              <a:buNone/>
            </a:pPr>
            <a:endParaRPr lang="en-US" sz="1800" dirty="0">
              <a:latin typeface="Comic Sans MS" panose="030F0702030302020204" pitchFamily="66" charset="0"/>
            </a:endParaRPr>
          </a:p>
        </p:txBody>
      </p:sp>
      <p:sp>
        <p:nvSpPr>
          <p:cNvPr id="2" name="TextBox 1"/>
          <p:cNvSpPr txBox="1"/>
          <p:nvPr/>
        </p:nvSpPr>
        <p:spPr>
          <a:xfrm>
            <a:off x="2341168" y="857047"/>
            <a:ext cx="8611737" cy="1015663"/>
          </a:xfrm>
          <a:prstGeom prst="rect">
            <a:avLst/>
          </a:prstGeom>
          <a:noFill/>
        </p:spPr>
        <p:txBody>
          <a:bodyPr wrap="square" rtlCol="0">
            <a:spAutoFit/>
          </a:bodyPr>
          <a:lstStyle/>
          <a:p>
            <a:r>
              <a:rPr lang="en-US" sz="6000" b="1" dirty="0">
                <a:solidFill>
                  <a:srgbClr val="FF0000"/>
                </a:solidFill>
                <a:latin typeface="Comic Sans MS" panose="030F0702030302020204" pitchFamily="66" charset="0"/>
              </a:rPr>
              <a:t>Have you ever...?</a:t>
            </a:r>
          </a:p>
        </p:txBody>
      </p:sp>
      <p:sp>
        <p:nvSpPr>
          <p:cNvPr id="3" name="TextBox 2"/>
          <p:cNvSpPr txBox="1"/>
          <p:nvPr/>
        </p:nvSpPr>
        <p:spPr>
          <a:xfrm>
            <a:off x="928046" y="2281705"/>
            <a:ext cx="5167953" cy="5309339"/>
          </a:xfrm>
          <a:prstGeom prst="rect">
            <a:avLst/>
          </a:prstGeom>
          <a:noFill/>
        </p:spPr>
        <p:txBody>
          <a:bodyPr wrap="square" rtlCol="0">
            <a:spAutoFit/>
          </a:bodyPr>
          <a:lstStyle/>
          <a:p>
            <a:pPr>
              <a:lnSpc>
                <a:spcPct val="150000"/>
              </a:lnSpc>
            </a:pPr>
            <a:r>
              <a:rPr lang="en-US" sz="3200" b="1" dirty="0">
                <a:solidFill>
                  <a:srgbClr val="FF0000"/>
                </a:solidFill>
                <a:latin typeface="Comic Sans MS" panose="030F0702030302020204" pitchFamily="66" charset="0"/>
              </a:rPr>
              <a:t>I have never…</a:t>
            </a:r>
          </a:p>
          <a:p>
            <a:pPr>
              <a:lnSpc>
                <a:spcPct val="150000"/>
              </a:lnSpc>
            </a:pPr>
            <a:r>
              <a:rPr lang="en-US" sz="3200" b="1" dirty="0">
                <a:solidFill>
                  <a:srgbClr val="FF0000"/>
                </a:solidFill>
                <a:latin typeface="Comic Sans MS" panose="030F0702030302020204" pitchFamily="66" charset="0"/>
              </a:rPr>
              <a:t>They have never…</a:t>
            </a:r>
          </a:p>
          <a:p>
            <a:pPr>
              <a:lnSpc>
                <a:spcPct val="150000"/>
              </a:lnSpc>
            </a:pPr>
            <a:r>
              <a:rPr lang="en-US" sz="3200" b="1" dirty="0">
                <a:solidFill>
                  <a:srgbClr val="FF0000"/>
                </a:solidFill>
                <a:latin typeface="Comic Sans MS" panose="030F0702030302020204" pitchFamily="66" charset="0"/>
              </a:rPr>
              <a:t>We have never…</a:t>
            </a:r>
          </a:p>
          <a:p>
            <a:pPr>
              <a:lnSpc>
                <a:spcPct val="150000"/>
              </a:lnSpc>
            </a:pPr>
            <a:r>
              <a:rPr lang="en-US" sz="3200" b="1" dirty="0">
                <a:solidFill>
                  <a:srgbClr val="FF0000"/>
                </a:solidFill>
                <a:latin typeface="Comic Sans MS" panose="030F0702030302020204" pitchFamily="66" charset="0"/>
              </a:rPr>
              <a:t>He has never…</a:t>
            </a:r>
          </a:p>
          <a:p>
            <a:pPr>
              <a:lnSpc>
                <a:spcPct val="150000"/>
              </a:lnSpc>
            </a:pPr>
            <a:r>
              <a:rPr lang="en-US" sz="3200" b="1" dirty="0">
                <a:solidFill>
                  <a:srgbClr val="FF0000"/>
                </a:solidFill>
                <a:latin typeface="Comic Sans MS" panose="030F0702030302020204" pitchFamily="66" charset="0"/>
              </a:rPr>
              <a:t>She has never…</a:t>
            </a:r>
          </a:p>
          <a:p>
            <a:pPr>
              <a:lnSpc>
                <a:spcPct val="150000"/>
              </a:lnSpc>
            </a:pPr>
            <a:r>
              <a:rPr lang="en-US" sz="3200" b="1" dirty="0">
                <a:solidFill>
                  <a:srgbClr val="FF0000"/>
                </a:solidFill>
                <a:latin typeface="Comic Sans MS" panose="030F0702030302020204" pitchFamily="66" charset="0"/>
              </a:rPr>
              <a:t>Ms. Colette has never…</a:t>
            </a:r>
          </a:p>
          <a:p>
            <a:pPr>
              <a:lnSpc>
                <a:spcPct val="150000"/>
              </a:lnSpc>
            </a:pPr>
            <a:endParaRPr lang="en-US" b="1" dirty="0">
              <a:solidFill>
                <a:srgbClr val="FF0000"/>
              </a:solidFill>
              <a:latin typeface="Comic Sans MS" panose="030F0702030302020204" pitchFamily="66" charset="0"/>
            </a:endParaRPr>
          </a:p>
          <a:p>
            <a:pPr>
              <a:lnSpc>
                <a:spcPct val="150000"/>
              </a:lnSpc>
            </a:pPr>
            <a:endParaRPr lang="en-US" b="1" dirty="0">
              <a:solidFill>
                <a:srgbClr val="FF0000"/>
              </a:solidFill>
              <a:latin typeface="Comic Sans MS" panose="030F0702030302020204" pitchFamily="66" charset="0"/>
            </a:endParaRPr>
          </a:p>
        </p:txBody>
      </p:sp>
      <p:sp>
        <p:nvSpPr>
          <p:cNvPr id="11" name="TextBox 10"/>
          <p:cNvSpPr txBox="1"/>
          <p:nvPr/>
        </p:nvSpPr>
        <p:spPr>
          <a:xfrm>
            <a:off x="6782937" y="2270586"/>
            <a:ext cx="4599296" cy="5355312"/>
          </a:xfrm>
          <a:prstGeom prst="rect">
            <a:avLst/>
          </a:prstGeom>
          <a:noFill/>
        </p:spPr>
        <p:txBody>
          <a:bodyPr wrap="square" rtlCol="0">
            <a:spAutoFit/>
          </a:bodyPr>
          <a:lstStyle/>
          <a:p>
            <a:pPr>
              <a:lnSpc>
                <a:spcPct val="150000"/>
              </a:lnSpc>
            </a:pPr>
            <a:r>
              <a:rPr lang="en-US" sz="3200" b="1" dirty="0">
                <a:solidFill>
                  <a:srgbClr val="FF0000"/>
                </a:solidFill>
                <a:latin typeface="Comic Sans MS" panose="030F0702030302020204" pitchFamily="66" charset="0"/>
              </a:rPr>
              <a:t>I have …</a:t>
            </a:r>
          </a:p>
          <a:p>
            <a:pPr>
              <a:lnSpc>
                <a:spcPct val="150000"/>
              </a:lnSpc>
            </a:pPr>
            <a:r>
              <a:rPr lang="en-US" sz="3200" b="1" dirty="0">
                <a:solidFill>
                  <a:srgbClr val="FF0000"/>
                </a:solidFill>
                <a:latin typeface="Comic Sans MS" panose="030F0702030302020204" pitchFamily="66" charset="0"/>
              </a:rPr>
              <a:t>They have …</a:t>
            </a:r>
          </a:p>
          <a:p>
            <a:pPr>
              <a:lnSpc>
                <a:spcPct val="150000"/>
              </a:lnSpc>
            </a:pPr>
            <a:r>
              <a:rPr lang="en-US" sz="3200" b="1" dirty="0">
                <a:solidFill>
                  <a:srgbClr val="FF0000"/>
                </a:solidFill>
                <a:latin typeface="Comic Sans MS" panose="030F0702030302020204" pitchFamily="66" charset="0"/>
              </a:rPr>
              <a:t>We have …</a:t>
            </a:r>
          </a:p>
          <a:p>
            <a:pPr>
              <a:lnSpc>
                <a:spcPct val="150000"/>
              </a:lnSpc>
            </a:pPr>
            <a:r>
              <a:rPr lang="en-US" sz="3200" b="1" dirty="0">
                <a:solidFill>
                  <a:srgbClr val="FF0000"/>
                </a:solidFill>
                <a:latin typeface="Comic Sans MS" panose="030F0702030302020204" pitchFamily="66" charset="0"/>
              </a:rPr>
              <a:t>He has …</a:t>
            </a:r>
          </a:p>
          <a:p>
            <a:pPr>
              <a:lnSpc>
                <a:spcPct val="150000"/>
              </a:lnSpc>
            </a:pPr>
            <a:r>
              <a:rPr lang="en-US" sz="3200" b="1" dirty="0">
                <a:solidFill>
                  <a:srgbClr val="FF0000"/>
                </a:solidFill>
                <a:latin typeface="Comic Sans MS" panose="030F0702030302020204" pitchFamily="66" charset="0"/>
              </a:rPr>
              <a:t>She has …</a:t>
            </a:r>
          </a:p>
          <a:p>
            <a:pPr>
              <a:lnSpc>
                <a:spcPct val="150000"/>
              </a:lnSpc>
            </a:pPr>
            <a:r>
              <a:rPr lang="en-US" sz="3200" b="1" dirty="0">
                <a:solidFill>
                  <a:srgbClr val="FF0000"/>
                </a:solidFill>
                <a:latin typeface="Comic Sans MS" panose="030F0702030302020204" pitchFamily="66" charset="0"/>
              </a:rPr>
              <a:t>Ms. Colette has …</a:t>
            </a:r>
          </a:p>
          <a:p>
            <a:pPr>
              <a:lnSpc>
                <a:spcPct val="150000"/>
              </a:lnSpc>
            </a:pPr>
            <a:endParaRPr lang="en-US" b="1" dirty="0">
              <a:solidFill>
                <a:srgbClr val="FF0000"/>
              </a:solidFill>
              <a:latin typeface="Comic Sans MS" panose="030F0702030302020204" pitchFamily="66" charset="0"/>
            </a:endParaRPr>
          </a:p>
          <a:p>
            <a:pPr>
              <a:lnSpc>
                <a:spcPct val="150000"/>
              </a:lnSpc>
            </a:pPr>
            <a:endParaRPr lang="en-US" b="1"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1352957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2"/>
          <p:cNvSpPr txBox="1">
            <a:spLocks/>
          </p:cNvSpPr>
          <p:nvPr/>
        </p:nvSpPr>
        <p:spPr>
          <a:xfrm>
            <a:off x="204716" y="234752"/>
            <a:ext cx="11177517" cy="622295"/>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b="1" dirty="0">
                <a:latin typeface="Comic Sans MS" panose="030F0702030302020204" pitchFamily="66" charset="0"/>
              </a:rPr>
              <a:t>WALT: Use present perfect forms to express recent, indefinite and unfinished past.</a:t>
            </a:r>
          </a:p>
          <a:p>
            <a:pPr marL="0" indent="0">
              <a:buNone/>
            </a:pPr>
            <a:endParaRPr lang="en-US" sz="1800" dirty="0">
              <a:latin typeface="Comic Sans MS" panose="030F0702030302020204" pitchFamily="66" charset="0"/>
            </a:endParaRPr>
          </a:p>
        </p:txBody>
      </p:sp>
      <p:sp>
        <p:nvSpPr>
          <p:cNvPr id="2" name="TextBox 1"/>
          <p:cNvSpPr txBox="1"/>
          <p:nvPr/>
        </p:nvSpPr>
        <p:spPr>
          <a:xfrm>
            <a:off x="204716" y="876458"/>
            <a:ext cx="8611737" cy="584775"/>
          </a:xfrm>
          <a:prstGeom prst="rect">
            <a:avLst/>
          </a:prstGeom>
          <a:noFill/>
        </p:spPr>
        <p:txBody>
          <a:bodyPr wrap="square" rtlCol="0">
            <a:spAutoFit/>
          </a:bodyPr>
          <a:lstStyle/>
          <a:p>
            <a:r>
              <a:rPr lang="en-US" sz="3200" b="1" dirty="0">
                <a:latin typeface="Comic Sans MS" panose="030F0702030302020204" pitchFamily="66" charset="0"/>
              </a:rPr>
              <a:t>Check your understanding!</a:t>
            </a:r>
          </a:p>
        </p:txBody>
      </p:sp>
      <p:sp>
        <p:nvSpPr>
          <p:cNvPr id="3" name="TextBox 2"/>
          <p:cNvSpPr txBox="1"/>
          <p:nvPr/>
        </p:nvSpPr>
        <p:spPr>
          <a:xfrm>
            <a:off x="1610435" y="1461233"/>
            <a:ext cx="8904229" cy="2247090"/>
          </a:xfrm>
          <a:prstGeom prst="rect">
            <a:avLst/>
          </a:prstGeom>
          <a:noFill/>
        </p:spPr>
        <p:txBody>
          <a:bodyPr wrap="square" rtlCol="0">
            <a:spAutoFit/>
          </a:bodyPr>
          <a:lstStyle/>
          <a:p>
            <a:pPr>
              <a:lnSpc>
                <a:spcPct val="150000"/>
              </a:lnSpc>
            </a:pPr>
            <a:r>
              <a:rPr lang="en-US" sz="2400" b="1" dirty="0">
                <a:latin typeface="Comic Sans MS" panose="030F0702030302020204" pitchFamily="66" charset="0"/>
              </a:rPr>
              <a:t>Which of the sentences is written in the present perfect tense?</a:t>
            </a:r>
          </a:p>
          <a:p>
            <a:pPr marL="342900" indent="-342900">
              <a:lnSpc>
                <a:spcPct val="150000"/>
              </a:lnSpc>
              <a:buAutoNum type="alphaLcParenR"/>
            </a:pPr>
            <a:r>
              <a:rPr lang="en-US" sz="2400" dirty="0">
                <a:latin typeface="Comic Sans MS" panose="030F0702030302020204" pitchFamily="66" charset="0"/>
              </a:rPr>
              <a:t>He went to Thailand.</a:t>
            </a:r>
          </a:p>
          <a:p>
            <a:pPr marL="342900" indent="-342900">
              <a:lnSpc>
                <a:spcPct val="150000"/>
              </a:lnSpc>
              <a:buAutoNum type="alphaLcParenR"/>
            </a:pPr>
            <a:r>
              <a:rPr lang="en-US" sz="2400" dirty="0">
                <a:latin typeface="Comic Sans MS" panose="030F0702030302020204" pitchFamily="66" charset="0"/>
              </a:rPr>
              <a:t>She has eaten her breakfast already.</a:t>
            </a:r>
          </a:p>
        </p:txBody>
      </p:sp>
      <p:sp>
        <p:nvSpPr>
          <p:cNvPr id="11" name="TextBox 10"/>
          <p:cNvSpPr txBox="1"/>
          <p:nvPr/>
        </p:nvSpPr>
        <p:spPr>
          <a:xfrm>
            <a:off x="1610435" y="3570891"/>
            <a:ext cx="9416955" cy="1754326"/>
          </a:xfrm>
          <a:prstGeom prst="rect">
            <a:avLst/>
          </a:prstGeom>
          <a:noFill/>
        </p:spPr>
        <p:txBody>
          <a:bodyPr wrap="square" rtlCol="0">
            <a:spAutoFit/>
          </a:bodyPr>
          <a:lstStyle/>
          <a:p>
            <a:pPr>
              <a:lnSpc>
                <a:spcPct val="150000"/>
              </a:lnSpc>
            </a:pPr>
            <a:r>
              <a:rPr lang="en-US" sz="2400" b="1" dirty="0">
                <a:latin typeface="Comic Sans MS" panose="030F0702030302020204" pitchFamily="66" charset="0"/>
              </a:rPr>
              <a:t>Which word should go in the gaps in these sentences?</a:t>
            </a:r>
          </a:p>
          <a:p>
            <a:pPr marL="457200" indent="-457200">
              <a:lnSpc>
                <a:spcPct val="150000"/>
              </a:lnSpc>
              <a:buAutoNum type="alphaLcParenR"/>
            </a:pPr>
            <a:r>
              <a:rPr lang="en-US" sz="2400" dirty="0">
                <a:latin typeface="Comic Sans MS" panose="030F0702030302020204" pitchFamily="66" charset="0"/>
              </a:rPr>
              <a:t>He ______ been there before.</a:t>
            </a:r>
          </a:p>
          <a:p>
            <a:pPr marL="457200" indent="-457200">
              <a:lnSpc>
                <a:spcPct val="150000"/>
              </a:lnSpc>
              <a:buAutoNum type="alphaLcParenR"/>
            </a:pPr>
            <a:r>
              <a:rPr lang="en-US" sz="2400" dirty="0">
                <a:latin typeface="Comic Sans MS" panose="030F0702030302020204" pitchFamily="66" charset="0"/>
              </a:rPr>
              <a:t>I’ve _______ that movie before.</a:t>
            </a:r>
          </a:p>
        </p:txBody>
      </p:sp>
      <p:sp>
        <p:nvSpPr>
          <p:cNvPr id="13" name="TextBox 12"/>
          <p:cNvSpPr txBox="1"/>
          <p:nvPr/>
        </p:nvSpPr>
        <p:spPr>
          <a:xfrm>
            <a:off x="1387522" y="5484154"/>
            <a:ext cx="9416955" cy="1139094"/>
          </a:xfrm>
          <a:prstGeom prst="rect">
            <a:avLst/>
          </a:prstGeom>
          <a:noFill/>
        </p:spPr>
        <p:txBody>
          <a:bodyPr wrap="square" rtlCol="0">
            <a:spAutoFit/>
          </a:bodyPr>
          <a:lstStyle/>
          <a:p>
            <a:pPr>
              <a:lnSpc>
                <a:spcPct val="150000"/>
              </a:lnSpc>
            </a:pPr>
            <a:r>
              <a:rPr lang="en-US" sz="2400" b="1" dirty="0">
                <a:latin typeface="Comic Sans MS" panose="030F0702030302020204" pitchFamily="66" charset="0"/>
              </a:rPr>
              <a:t>Say a sentence to your partner in the present perfect form</a:t>
            </a:r>
            <a:r>
              <a:rPr lang="en-US" sz="2400" dirty="0">
                <a:latin typeface="Comic Sans MS" panose="030F0702030302020204" pitchFamily="66" charset="0"/>
              </a:rPr>
              <a:t>. </a:t>
            </a:r>
          </a:p>
          <a:p>
            <a:pPr>
              <a:lnSpc>
                <a:spcPct val="150000"/>
              </a:lnSpc>
            </a:pPr>
            <a:r>
              <a:rPr lang="en-US" sz="2400" b="1" dirty="0">
                <a:latin typeface="Comic Sans MS" panose="030F0702030302020204" pitchFamily="66" charset="0"/>
              </a:rPr>
              <a:t>Give your partner some feedback on their sentence.</a:t>
            </a:r>
          </a:p>
        </p:txBody>
      </p:sp>
      <p:pic>
        <p:nvPicPr>
          <p:cNvPr id="10" name="Picture 9">
            <a:extLst>
              <a:ext uri="{FF2B5EF4-FFF2-40B4-BE49-F238E27FC236}">
                <a16:creationId xmlns:a16="http://schemas.microsoft.com/office/drawing/2014/main" id="{F8B36148-0843-4E26-A898-F98EA79913DE}"/>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709" b="92718" l="9346" r="89720">
                        <a14:foregroundMark x1="44860" y1="92718" x2="44860" y2="92718"/>
                      </a14:backgroundRemoval>
                    </a14:imgEffect>
                  </a14:imgLayer>
                </a14:imgProps>
              </a:ext>
            </a:extLst>
          </a:blip>
          <a:stretch>
            <a:fillRect/>
          </a:stretch>
        </p:blipFill>
        <p:spPr>
          <a:xfrm>
            <a:off x="611743" y="1395727"/>
            <a:ext cx="591666" cy="1139094"/>
          </a:xfrm>
          <a:prstGeom prst="rect">
            <a:avLst/>
          </a:prstGeom>
        </p:spPr>
      </p:pic>
      <p:pic>
        <p:nvPicPr>
          <p:cNvPr id="12" name="Picture 11">
            <a:extLst>
              <a:ext uri="{FF2B5EF4-FFF2-40B4-BE49-F238E27FC236}">
                <a16:creationId xmlns:a16="http://schemas.microsoft.com/office/drawing/2014/main" id="{CE37306A-E146-4C72-B1CC-1E38ADB0B1C3}"/>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7914" b="93885" l="9023" r="89474">
                        <a14:foregroundMark x1="31579" y1="8273" x2="31579" y2="8273"/>
                        <a14:foregroundMark x1="34586" y1="15108" x2="34586" y2="15108"/>
                        <a14:foregroundMark x1="33083" y1="12950" x2="33083" y2="12950"/>
                        <a14:foregroundMark x1="53383" y1="16906" x2="53383" y2="16906"/>
                        <a14:foregroundMark x1="66165" y1="24460" x2="66165" y2="24460"/>
                        <a14:foregroundMark x1="44361" y1="20504" x2="44361" y2="20504"/>
                        <a14:foregroundMark x1="48120" y1="18705" x2="48120" y2="18705"/>
                        <a14:foregroundMark x1="57895" y1="27338" x2="57895" y2="27338"/>
                        <a14:foregroundMark x1="54887" y1="93885" x2="54887" y2="93885"/>
                      </a14:backgroundRemoval>
                    </a14:imgEffect>
                  </a14:imgLayer>
                </a14:imgProps>
              </a:ext>
              <a:ext uri="{28A0092B-C50C-407E-A947-70E740481C1C}">
                <a14:useLocalDpi xmlns:a14="http://schemas.microsoft.com/office/drawing/2010/main" val="0"/>
              </a:ext>
            </a:extLst>
          </a:blip>
          <a:stretch>
            <a:fillRect/>
          </a:stretch>
        </p:blipFill>
        <p:spPr>
          <a:xfrm>
            <a:off x="447033" y="3743331"/>
            <a:ext cx="591666" cy="1236715"/>
          </a:xfrm>
          <a:prstGeom prst="rect">
            <a:avLst/>
          </a:prstGeom>
        </p:spPr>
      </p:pic>
      <p:pic>
        <p:nvPicPr>
          <p:cNvPr id="17" name="Picture 16">
            <a:extLst>
              <a:ext uri="{FF2B5EF4-FFF2-40B4-BE49-F238E27FC236}">
                <a16:creationId xmlns:a16="http://schemas.microsoft.com/office/drawing/2014/main" id="{E5B67577-2F45-423E-A9A9-A2C8C757DB02}"/>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8904" b="97603" l="8527" r="89147">
                        <a14:foregroundMark x1="54264" y1="17808" x2="54264" y2="17808"/>
                        <a14:foregroundMark x1="66667" y1="25685" x2="66667" y2="25685"/>
                        <a14:foregroundMark x1="66667" y1="97945" x2="66667" y2="97945"/>
                        <a14:foregroundMark x1="33333" y1="8904" x2="33333" y2="8904"/>
                        <a14:foregroundMark x1="35659" y1="15068" x2="35659" y2="15068"/>
                        <a14:foregroundMark x1="35659" y1="11986" x2="35659" y2="11986"/>
                        <a14:foregroundMark x1="58140" y1="19178" x2="58140" y2="19178"/>
                        <a14:foregroundMark x1="46512" y1="19863" x2="46512" y2="19863"/>
                        <a14:foregroundMark x1="72868" y1="25342" x2="72868" y2="25342"/>
                        <a14:foregroundMark x1="68992" y1="21575" x2="68992" y2="21575"/>
                        <a14:foregroundMark x1="52713" y1="17808" x2="52713" y2="17808"/>
                        <a14:foregroundMark x1="53488" y1="16096" x2="53488" y2="16096"/>
                        <a14:foregroundMark x1="33333" y1="9247" x2="33333" y2="9247"/>
                        <a14:foregroundMark x1="24031" y1="9247" x2="24031" y2="9247"/>
                        <a14:foregroundMark x1="36434" y1="34589" x2="36434" y2="34589"/>
                        <a14:foregroundMark x1="38760" y1="32192" x2="38760" y2="32192"/>
                      </a14:backgroundRemoval>
                    </a14:imgEffect>
                  </a14:imgLayer>
                </a14:imgProps>
              </a:ext>
              <a:ext uri="{28A0092B-C50C-407E-A947-70E740481C1C}">
                <a14:useLocalDpi xmlns:a14="http://schemas.microsoft.com/office/drawing/2010/main" val="0"/>
              </a:ext>
            </a:extLst>
          </a:blip>
          <a:stretch>
            <a:fillRect/>
          </a:stretch>
        </p:blipFill>
        <p:spPr>
          <a:xfrm>
            <a:off x="447033" y="5518726"/>
            <a:ext cx="591666" cy="1339274"/>
          </a:xfrm>
          <a:prstGeom prst="rect">
            <a:avLst/>
          </a:prstGeom>
        </p:spPr>
      </p:pic>
    </p:spTree>
    <p:extLst>
      <p:ext uri="{BB962C8B-B14F-4D97-AF65-F5344CB8AC3E}">
        <p14:creationId xmlns:p14="http://schemas.microsoft.com/office/powerpoint/2010/main" val="3357045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2"/>
          <p:cNvSpPr txBox="1">
            <a:spLocks/>
          </p:cNvSpPr>
          <p:nvPr/>
        </p:nvSpPr>
        <p:spPr>
          <a:xfrm>
            <a:off x="204716" y="234752"/>
            <a:ext cx="11177517" cy="622295"/>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b="1" dirty="0">
                <a:latin typeface="Comic Sans MS" panose="030F0702030302020204" pitchFamily="66" charset="0"/>
              </a:rPr>
              <a:t>WALT: Use present perfect forms to express recent, indefinite and unfinished past.</a:t>
            </a:r>
          </a:p>
          <a:p>
            <a:pPr marL="0" indent="0">
              <a:buNone/>
            </a:pPr>
            <a:endParaRPr lang="en-US" sz="1800" dirty="0">
              <a:latin typeface="Comic Sans MS" panose="030F0702030302020204" pitchFamily="66" charset="0"/>
            </a:endParaRPr>
          </a:p>
        </p:txBody>
      </p:sp>
      <p:sp>
        <p:nvSpPr>
          <p:cNvPr id="2" name="TextBox 1"/>
          <p:cNvSpPr txBox="1"/>
          <p:nvPr/>
        </p:nvSpPr>
        <p:spPr>
          <a:xfrm>
            <a:off x="204716" y="876458"/>
            <a:ext cx="8611737" cy="584775"/>
          </a:xfrm>
          <a:prstGeom prst="rect">
            <a:avLst/>
          </a:prstGeom>
          <a:noFill/>
        </p:spPr>
        <p:txBody>
          <a:bodyPr wrap="square" rtlCol="0">
            <a:spAutoFit/>
          </a:bodyPr>
          <a:lstStyle/>
          <a:p>
            <a:r>
              <a:rPr lang="en-US" sz="3200" b="1" dirty="0">
                <a:latin typeface="Comic Sans MS" panose="030F0702030302020204" pitchFamily="66" charset="0"/>
              </a:rPr>
              <a:t>Check your understanding!</a:t>
            </a:r>
          </a:p>
        </p:txBody>
      </p:sp>
      <p:sp>
        <p:nvSpPr>
          <p:cNvPr id="3" name="TextBox 2"/>
          <p:cNvSpPr txBox="1"/>
          <p:nvPr/>
        </p:nvSpPr>
        <p:spPr>
          <a:xfrm>
            <a:off x="1610435" y="1461233"/>
            <a:ext cx="9416955" cy="2247090"/>
          </a:xfrm>
          <a:prstGeom prst="rect">
            <a:avLst/>
          </a:prstGeom>
          <a:noFill/>
        </p:spPr>
        <p:txBody>
          <a:bodyPr wrap="square" rtlCol="0">
            <a:spAutoFit/>
          </a:bodyPr>
          <a:lstStyle/>
          <a:p>
            <a:pPr>
              <a:lnSpc>
                <a:spcPct val="150000"/>
              </a:lnSpc>
            </a:pPr>
            <a:r>
              <a:rPr lang="en-US" sz="2400" b="1" dirty="0">
                <a:latin typeface="Comic Sans MS" panose="030F0702030302020204" pitchFamily="66" charset="0"/>
              </a:rPr>
              <a:t>Which of the sentences is written in the present perfect tense?</a:t>
            </a:r>
          </a:p>
          <a:p>
            <a:pPr marL="342900" indent="-342900">
              <a:lnSpc>
                <a:spcPct val="150000"/>
              </a:lnSpc>
              <a:buAutoNum type="alphaLcParenR"/>
            </a:pPr>
            <a:r>
              <a:rPr lang="en-US" sz="2400" dirty="0">
                <a:latin typeface="Comic Sans MS" panose="030F0702030302020204" pitchFamily="66" charset="0"/>
              </a:rPr>
              <a:t>He went to Thailand.</a:t>
            </a:r>
          </a:p>
          <a:p>
            <a:pPr marL="342900" indent="-342900">
              <a:lnSpc>
                <a:spcPct val="150000"/>
              </a:lnSpc>
              <a:buAutoNum type="alphaLcParenR"/>
            </a:pPr>
            <a:r>
              <a:rPr lang="en-US" sz="2400" dirty="0">
                <a:solidFill>
                  <a:srgbClr val="FF0000"/>
                </a:solidFill>
                <a:latin typeface="Comic Sans MS" panose="030F0702030302020204" pitchFamily="66" charset="0"/>
              </a:rPr>
              <a:t>She has eaten her breakfast already.</a:t>
            </a:r>
          </a:p>
        </p:txBody>
      </p:sp>
      <p:sp>
        <p:nvSpPr>
          <p:cNvPr id="11" name="TextBox 10"/>
          <p:cNvSpPr txBox="1"/>
          <p:nvPr/>
        </p:nvSpPr>
        <p:spPr>
          <a:xfrm>
            <a:off x="1610433" y="3461951"/>
            <a:ext cx="9416955" cy="1754326"/>
          </a:xfrm>
          <a:prstGeom prst="rect">
            <a:avLst/>
          </a:prstGeom>
          <a:noFill/>
        </p:spPr>
        <p:txBody>
          <a:bodyPr wrap="square" rtlCol="0">
            <a:spAutoFit/>
          </a:bodyPr>
          <a:lstStyle/>
          <a:p>
            <a:pPr>
              <a:lnSpc>
                <a:spcPct val="150000"/>
              </a:lnSpc>
            </a:pPr>
            <a:r>
              <a:rPr lang="en-US" sz="2400" b="1" dirty="0">
                <a:latin typeface="Comic Sans MS" panose="030F0702030302020204" pitchFamily="66" charset="0"/>
              </a:rPr>
              <a:t>Which word should go in the gaps in these sentences?</a:t>
            </a:r>
          </a:p>
          <a:p>
            <a:pPr marL="457200" indent="-457200">
              <a:lnSpc>
                <a:spcPct val="150000"/>
              </a:lnSpc>
              <a:buAutoNum type="alphaLcParenR"/>
            </a:pPr>
            <a:r>
              <a:rPr lang="en-US" sz="2400" dirty="0">
                <a:latin typeface="Comic Sans MS" panose="030F0702030302020204" pitchFamily="66" charset="0"/>
              </a:rPr>
              <a:t>He ______ been there before.</a:t>
            </a:r>
          </a:p>
          <a:p>
            <a:pPr marL="457200" indent="-457200">
              <a:lnSpc>
                <a:spcPct val="150000"/>
              </a:lnSpc>
              <a:buAutoNum type="alphaLcParenR"/>
            </a:pPr>
            <a:r>
              <a:rPr lang="en-US" sz="2400" dirty="0">
                <a:latin typeface="Comic Sans MS" panose="030F0702030302020204" pitchFamily="66" charset="0"/>
              </a:rPr>
              <a:t>I’ve _______ that movie before.</a:t>
            </a:r>
          </a:p>
        </p:txBody>
      </p:sp>
      <p:sp>
        <p:nvSpPr>
          <p:cNvPr id="13" name="TextBox 12"/>
          <p:cNvSpPr txBox="1"/>
          <p:nvPr/>
        </p:nvSpPr>
        <p:spPr>
          <a:xfrm>
            <a:off x="1610433" y="5274671"/>
            <a:ext cx="9416955" cy="1139094"/>
          </a:xfrm>
          <a:prstGeom prst="rect">
            <a:avLst/>
          </a:prstGeom>
          <a:noFill/>
        </p:spPr>
        <p:txBody>
          <a:bodyPr wrap="square" rtlCol="0">
            <a:spAutoFit/>
          </a:bodyPr>
          <a:lstStyle/>
          <a:p>
            <a:pPr>
              <a:lnSpc>
                <a:spcPct val="150000"/>
              </a:lnSpc>
            </a:pPr>
            <a:r>
              <a:rPr lang="en-US" sz="2400" b="1" dirty="0">
                <a:latin typeface="Comic Sans MS" panose="030F0702030302020204" pitchFamily="66" charset="0"/>
              </a:rPr>
              <a:t>Say a sentence to your partner in the present perfect form</a:t>
            </a:r>
            <a:r>
              <a:rPr lang="en-US" sz="2400" dirty="0">
                <a:latin typeface="Comic Sans MS" panose="030F0702030302020204" pitchFamily="66" charset="0"/>
              </a:rPr>
              <a:t>. </a:t>
            </a:r>
          </a:p>
          <a:p>
            <a:pPr>
              <a:lnSpc>
                <a:spcPct val="150000"/>
              </a:lnSpc>
            </a:pPr>
            <a:r>
              <a:rPr lang="en-US" sz="2400" b="1" dirty="0">
                <a:latin typeface="Comic Sans MS" panose="030F0702030302020204" pitchFamily="66" charset="0"/>
              </a:rPr>
              <a:t>Give your partner some feedback on their sentence.</a:t>
            </a:r>
          </a:p>
        </p:txBody>
      </p:sp>
      <p:sp>
        <p:nvSpPr>
          <p:cNvPr id="5" name="TextBox 4"/>
          <p:cNvSpPr txBox="1"/>
          <p:nvPr/>
        </p:nvSpPr>
        <p:spPr>
          <a:xfrm>
            <a:off x="2661313" y="3944203"/>
            <a:ext cx="914400" cy="523220"/>
          </a:xfrm>
          <a:prstGeom prst="rect">
            <a:avLst/>
          </a:prstGeom>
          <a:noFill/>
        </p:spPr>
        <p:txBody>
          <a:bodyPr wrap="square" rtlCol="0">
            <a:spAutoFit/>
          </a:bodyPr>
          <a:lstStyle/>
          <a:p>
            <a:r>
              <a:rPr lang="en-US" sz="2800" b="1" dirty="0">
                <a:solidFill>
                  <a:srgbClr val="FF0000"/>
                </a:solidFill>
                <a:latin typeface="Comic Sans MS" panose="030F0702030302020204" pitchFamily="66" charset="0"/>
              </a:rPr>
              <a:t>has</a:t>
            </a:r>
          </a:p>
        </p:txBody>
      </p:sp>
      <p:sp>
        <p:nvSpPr>
          <p:cNvPr id="12" name="TextBox 11"/>
          <p:cNvSpPr txBox="1"/>
          <p:nvPr/>
        </p:nvSpPr>
        <p:spPr>
          <a:xfrm>
            <a:off x="2833049" y="4467423"/>
            <a:ext cx="1304997" cy="523220"/>
          </a:xfrm>
          <a:prstGeom prst="rect">
            <a:avLst/>
          </a:prstGeom>
          <a:noFill/>
        </p:spPr>
        <p:txBody>
          <a:bodyPr wrap="square" rtlCol="0">
            <a:spAutoFit/>
          </a:bodyPr>
          <a:lstStyle/>
          <a:p>
            <a:r>
              <a:rPr lang="en-US" sz="2800" b="1" dirty="0">
                <a:solidFill>
                  <a:srgbClr val="FF0000"/>
                </a:solidFill>
                <a:latin typeface="Comic Sans MS" panose="030F0702030302020204" pitchFamily="66" charset="0"/>
              </a:rPr>
              <a:t>seen</a:t>
            </a:r>
          </a:p>
        </p:txBody>
      </p:sp>
      <p:pic>
        <p:nvPicPr>
          <p:cNvPr id="17" name="Picture 16">
            <a:extLst>
              <a:ext uri="{FF2B5EF4-FFF2-40B4-BE49-F238E27FC236}">
                <a16:creationId xmlns:a16="http://schemas.microsoft.com/office/drawing/2014/main" id="{B19984A7-77DF-4D89-B152-E44E54680228}"/>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709" b="92718" l="9346" r="89720">
                        <a14:foregroundMark x1="44860" y1="92718" x2="44860" y2="92718"/>
                      </a14:backgroundRemoval>
                    </a14:imgEffect>
                  </a14:imgLayer>
                </a14:imgProps>
              </a:ext>
            </a:extLst>
          </a:blip>
          <a:stretch>
            <a:fillRect/>
          </a:stretch>
        </p:blipFill>
        <p:spPr>
          <a:xfrm>
            <a:off x="893632" y="1530743"/>
            <a:ext cx="573616" cy="1104345"/>
          </a:xfrm>
          <a:prstGeom prst="rect">
            <a:avLst/>
          </a:prstGeom>
        </p:spPr>
      </p:pic>
      <p:pic>
        <p:nvPicPr>
          <p:cNvPr id="18" name="Picture 17">
            <a:extLst>
              <a:ext uri="{FF2B5EF4-FFF2-40B4-BE49-F238E27FC236}">
                <a16:creationId xmlns:a16="http://schemas.microsoft.com/office/drawing/2014/main" id="{651D83B2-9092-4AF7-B158-3ABF9AA4D380}"/>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7914" b="93885" l="9023" r="89474">
                        <a14:foregroundMark x1="31579" y1="8273" x2="31579" y2="8273"/>
                        <a14:foregroundMark x1="34586" y1="15108" x2="34586" y2="15108"/>
                        <a14:foregroundMark x1="33083" y1="12950" x2="33083" y2="12950"/>
                        <a14:foregroundMark x1="53383" y1="16906" x2="53383" y2="16906"/>
                        <a14:foregroundMark x1="66165" y1="24460" x2="66165" y2="24460"/>
                        <a14:foregroundMark x1="44361" y1="20504" x2="44361" y2="20504"/>
                        <a14:foregroundMark x1="48120" y1="18705" x2="48120" y2="18705"/>
                        <a14:foregroundMark x1="57895" y1="27338" x2="57895" y2="27338"/>
                        <a14:foregroundMark x1="54887" y1="93885" x2="54887" y2="93885"/>
                      </a14:backgroundRemoval>
                    </a14:imgEffect>
                  </a14:imgLayer>
                </a14:imgProps>
              </a:ext>
              <a:ext uri="{28A0092B-C50C-407E-A947-70E740481C1C}">
                <a14:useLocalDpi xmlns:a14="http://schemas.microsoft.com/office/drawing/2010/main" val="0"/>
              </a:ext>
            </a:extLst>
          </a:blip>
          <a:stretch>
            <a:fillRect/>
          </a:stretch>
        </p:blipFill>
        <p:spPr>
          <a:xfrm>
            <a:off x="678417" y="3713502"/>
            <a:ext cx="573616" cy="1198988"/>
          </a:xfrm>
          <a:prstGeom prst="rect">
            <a:avLst/>
          </a:prstGeom>
        </p:spPr>
      </p:pic>
      <p:pic>
        <p:nvPicPr>
          <p:cNvPr id="19" name="Picture 18">
            <a:extLst>
              <a:ext uri="{FF2B5EF4-FFF2-40B4-BE49-F238E27FC236}">
                <a16:creationId xmlns:a16="http://schemas.microsoft.com/office/drawing/2014/main" id="{E408CCC3-74FA-47F4-AB42-C29477D52D15}"/>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8904" b="97603" l="8527" r="89147">
                        <a14:foregroundMark x1="54264" y1="17808" x2="54264" y2="17808"/>
                        <a14:foregroundMark x1="66667" y1="25685" x2="66667" y2="25685"/>
                        <a14:foregroundMark x1="66667" y1="97945" x2="66667" y2="97945"/>
                        <a14:foregroundMark x1="33333" y1="8904" x2="33333" y2="8904"/>
                        <a14:foregroundMark x1="35659" y1="15068" x2="35659" y2="15068"/>
                        <a14:foregroundMark x1="35659" y1="11986" x2="35659" y2="11986"/>
                        <a14:foregroundMark x1="58140" y1="19178" x2="58140" y2="19178"/>
                        <a14:foregroundMark x1="46512" y1="19863" x2="46512" y2="19863"/>
                        <a14:foregroundMark x1="72868" y1="25342" x2="72868" y2="25342"/>
                        <a14:foregroundMark x1="68992" y1="21575" x2="68992" y2="21575"/>
                        <a14:foregroundMark x1="52713" y1="17808" x2="52713" y2="17808"/>
                        <a14:foregroundMark x1="53488" y1="16096" x2="53488" y2="16096"/>
                        <a14:foregroundMark x1="33333" y1="9247" x2="33333" y2="9247"/>
                        <a14:foregroundMark x1="24031" y1="9247" x2="24031" y2="9247"/>
                        <a14:foregroundMark x1="36434" y1="34589" x2="36434" y2="34589"/>
                        <a14:foregroundMark x1="38760" y1="32192" x2="38760" y2="32192"/>
                      </a14:backgroundRemoval>
                    </a14:imgEffect>
                  </a14:imgLayer>
                </a14:imgProps>
              </a:ext>
              <a:ext uri="{28A0092B-C50C-407E-A947-70E740481C1C}">
                <a14:useLocalDpi xmlns:a14="http://schemas.microsoft.com/office/drawing/2010/main" val="0"/>
              </a:ext>
            </a:extLst>
          </a:blip>
          <a:stretch>
            <a:fillRect/>
          </a:stretch>
        </p:blipFill>
        <p:spPr>
          <a:xfrm>
            <a:off x="590996" y="5274671"/>
            <a:ext cx="573616" cy="1298418"/>
          </a:xfrm>
          <a:prstGeom prst="rect">
            <a:avLst/>
          </a:prstGeom>
        </p:spPr>
      </p:pic>
    </p:spTree>
    <p:extLst>
      <p:ext uri="{BB962C8B-B14F-4D97-AF65-F5344CB8AC3E}">
        <p14:creationId xmlns:p14="http://schemas.microsoft.com/office/powerpoint/2010/main" val="3864697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2"/>
          <p:cNvSpPr txBox="1">
            <a:spLocks/>
          </p:cNvSpPr>
          <p:nvPr/>
        </p:nvSpPr>
        <p:spPr>
          <a:xfrm>
            <a:off x="204716" y="234752"/>
            <a:ext cx="11832609" cy="9196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latin typeface="Comic Sans MS" panose="030F0702030302020204" pitchFamily="66" charset="0"/>
              </a:rPr>
              <a:t>WALT: Use present perfect forms to express recent, indefinite and unfinished past.</a:t>
            </a:r>
          </a:p>
          <a:p>
            <a:pPr marL="0" indent="0">
              <a:buNone/>
            </a:pPr>
            <a:endParaRPr lang="en-US" sz="1800" dirty="0">
              <a:latin typeface="Comic Sans MS" panose="030F0702030302020204" pitchFamily="66" charset="0"/>
            </a:endParaRPr>
          </a:p>
        </p:txBody>
      </p:sp>
      <p:sp>
        <p:nvSpPr>
          <p:cNvPr id="3" name="TextBox 2"/>
          <p:cNvSpPr txBox="1"/>
          <p:nvPr/>
        </p:nvSpPr>
        <p:spPr>
          <a:xfrm>
            <a:off x="995503" y="694560"/>
            <a:ext cx="11196497" cy="6001643"/>
          </a:xfrm>
          <a:prstGeom prst="rect">
            <a:avLst/>
          </a:prstGeom>
          <a:noFill/>
        </p:spPr>
        <p:txBody>
          <a:bodyPr wrap="square" rtlCol="0">
            <a:spAutoFit/>
          </a:bodyPr>
          <a:lstStyle/>
          <a:p>
            <a:r>
              <a:rPr lang="en-US" sz="2400" b="1" u="sng" dirty="0">
                <a:latin typeface="Comic Sans MS" panose="030F0702030302020204" pitchFamily="66" charset="0"/>
              </a:rPr>
              <a:t>Your Task</a:t>
            </a:r>
          </a:p>
          <a:p>
            <a:endParaRPr lang="en-US" sz="2400" b="1" dirty="0">
              <a:latin typeface="Comic Sans MS" panose="030F0702030302020204" pitchFamily="66" charset="0"/>
            </a:endParaRPr>
          </a:p>
          <a:p>
            <a:r>
              <a:rPr lang="en-US" sz="2400" b="1" dirty="0">
                <a:latin typeface="Comic Sans MS" panose="030F0702030302020204" pitchFamily="66" charset="0"/>
              </a:rPr>
              <a:t>In your notebook copy down the sentences written in the present perfect tense.</a:t>
            </a:r>
          </a:p>
          <a:p>
            <a:pPr marL="342900" indent="-342900">
              <a:buAutoNum type="alphaLcParenR"/>
            </a:pPr>
            <a:r>
              <a:rPr lang="en-US" sz="2400" dirty="0">
                <a:latin typeface="Comic Sans MS" panose="030F0702030302020204" pitchFamily="66" charset="0"/>
              </a:rPr>
              <a:t>Have you ever ridden a horse?</a:t>
            </a:r>
          </a:p>
          <a:p>
            <a:pPr marL="342900" indent="-342900">
              <a:buAutoNum type="alphaLcParenR"/>
            </a:pPr>
            <a:r>
              <a:rPr lang="en-US" sz="2400" dirty="0">
                <a:latin typeface="Comic Sans MS" panose="030F0702030302020204" pitchFamily="66" charset="0"/>
              </a:rPr>
              <a:t>I have never climbed a tree.</a:t>
            </a:r>
          </a:p>
          <a:p>
            <a:pPr marL="342900" indent="-342900">
              <a:buAutoNum type="alphaLcParenR"/>
            </a:pPr>
            <a:r>
              <a:rPr lang="en-US" sz="2400" dirty="0">
                <a:latin typeface="Comic Sans MS" panose="030F0702030302020204" pitchFamily="66" charset="0"/>
              </a:rPr>
              <a:t>I wrote that I felt sad.</a:t>
            </a:r>
          </a:p>
          <a:p>
            <a:pPr marL="342900" indent="-342900">
              <a:buAutoNum type="alphaLcParenR"/>
            </a:pPr>
            <a:r>
              <a:rPr lang="en-US" sz="2400" dirty="0">
                <a:latin typeface="Comic Sans MS" panose="030F0702030302020204" pitchFamily="66" charset="0"/>
              </a:rPr>
              <a:t>She has watched all the Star Wars films.</a:t>
            </a:r>
          </a:p>
          <a:p>
            <a:pPr marL="342900" indent="-342900">
              <a:buAutoNum type="alphaLcParenR"/>
            </a:pPr>
            <a:endParaRPr lang="en-US" sz="2400" dirty="0">
              <a:latin typeface="Comic Sans MS" panose="030F0702030302020204" pitchFamily="66" charset="0"/>
            </a:endParaRPr>
          </a:p>
          <a:p>
            <a:r>
              <a:rPr lang="en-US" sz="2400" b="1" dirty="0">
                <a:latin typeface="Comic Sans MS" panose="030F0702030302020204" pitchFamily="66" charset="0"/>
              </a:rPr>
              <a:t>Change the sentences to make them the present perfect tense.</a:t>
            </a:r>
          </a:p>
          <a:p>
            <a:pPr marL="457200" indent="-457200">
              <a:buAutoNum type="alphaLcParenR"/>
            </a:pPr>
            <a:r>
              <a:rPr lang="en-US" sz="2400" dirty="0">
                <a:latin typeface="Comic Sans MS" panose="030F0702030302020204" pitchFamily="66" charset="0"/>
              </a:rPr>
              <a:t>She visited Paris twice to see the Mona Lisa.</a:t>
            </a:r>
          </a:p>
          <a:p>
            <a:pPr marL="457200" indent="-457200">
              <a:buAutoNum type="alphaLcParenR"/>
            </a:pPr>
            <a:r>
              <a:rPr lang="en-US" sz="2400" dirty="0">
                <a:latin typeface="Comic Sans MS" panose="030F0702030302020204" pitchFamily="66" charset="0"/>
              </a:rPr>
              <a:t>They finished their project on children’s emotions in Grade 5.</a:t>
            </a:r>
          </a:p>
          <a:p>
            <a:pPr marL="457200" indent="-457200">
              <a:buAutoNum type="alphaLcParenR"/>
            </a:pPr>
            <a:r>
              <a:rPr lang="en-US" sz="2400" dirty="0">
                <a:latin typeface="Comic Sans MS" panose="030F0702030302020204" pitchFamily="66" charset="0"/>
              </a:rPr>
              <a:t>Ms. Colette went on holiday to Cambodia to see Angkor Wat. </a:t>
            </a:r>
          </a:p>
          <a:p>
            <a:pPr marL="457200" indent="-457200">
              <a:buAutoNum type="alphaLcParenR"/>
            </a:pPr>
            <a:r>
              <a:rPr lang="en-US" sz="2400" dirty="0">
                <a:latin typeface="Comic Sans MS" panose="030F0702030302020204" pitchFamily="66" charset="0"/>
              </a:rPr>
              <a:t>I am worried because I lost my keys.</a:t>
            </a:r>
          </a:p>
          <a:p>
            <a:pPr marL="457200" indent="-457200">
              <a:buAutoNum type="alphaLcParenR"/>
            </a:pPr>
            <a:endParaRPr lang="en-US" sz="2400" dirty="0">
              <a:latin typeface="Comic Sans MS" panose="030F0702030302020204" pitchFamily="66" charset="0"/>
            </a:endParaRPr>
          </a:p>
          <a:p>
            <a:r>
              <a:rPr lang="en-US" sz="2400" b="1" dirty="0">
                <a:latin typeface="Comic Sans MS" panose="030F0702030302020204" pitchFamily="66" charset="0"/>
              </a:rPr>
              <a:t>Write 4 sentences of your own using the present perfect tense.</a:t>
            </a:r>
          </a:p>
        </p:txBody>
      </p:sp>
      <p:pic>
        <p:nvPicPr>
          <p:cNvPr id="12" name="Picture 11">
            <a:extLst>
              <a:ext uri="{FF2B5EF4-FFF2-40B4-BE49-F238E27FC236}">
                <a16:creationId xmlns:a16="http://schemas.microsoft.com/office/drawing/2014/main" id="{02935007-A971-49C6-AF2B-85688903A20B}"/>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709" b="92718" l="9346" r="89720">
                        <a14:foregroundMark x1="44860" y1="92718" x2="44860" y2="92718"/>
                      </a14:backgroundRemoval>
                    </a14:imgEffect>
                  </a14:imgLayer>
                </a14:imgProps>
              </a:ext>
            </a:extLst>
          </a:blip>
          <a:stretch>
            <a:fillRect/>
          </a:stretch>
        </p:blipFill>
        <p:spPr>
          <a:xfrm>
            <a:off x="267262" y="1154368"/>
            <a:ext cx="573616" cy="1104345"/>
          </a:xfrm>
          <a:prstGeom prst="rect">
            <a:avLst/>
          </a:prstGeom>
        </p:spPr>
      </p:pic>
      <p:pic>
        <p:nvPicPr>
          <p:cNvPr id="17" name="Picture 16">
            <a:extLst>
              <a:ext uri="{FF2B5EF4-FFF2-40B4-BE49-F238E27FC236}">
                <a16:creationId xmlns:a16="http://schemas.microsoft.com/office/drawing/2014/main" id="{88BD8678-0945-4B5E-B9D2-F1B9B494F9B7}"/>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7914" b="93885" l="9023" r="89474">
                        <a14:foregroundMark x1="31579" y1="8273" x2="31579" y2="8273"/>
                        <a14:foregroundMark x1="34586" y1="15108" x2="34586" y2="15108"/>
                        <a14:foregroundMark x1="33083" y1="12950" x2="33083" y2="12950"/>
                        <a14:foregroundMark x1="53383" y1="16906" x2="53383" y2="16906"/>
                        <a14:foregroundMark x1="66165" y1="24460" x2="66165" y2="24460"/>
                        <a14:foregroundMark x1="44361" y1="20504" x2="44361" y2="20504"/>
                        <a14:foregroundMark x1="48120" y1="18705" x2="48120" y2="18705"/>
                        <a14:foregroundMark x1="57895" y1="27338" x2="57895" y2="27338"/>
                        <a14:foregroundMark x1="54887" y1="93885" x2="54887" y2="93885"/>
                      </a14:backgroundRemoval>
                    </a14:imgEffect>
                  </a14:imgLayer>
                </a14:imgProps>
              </a:ext>
              <a:ext uri="{28A0092B-C50C-407E-A947-70E740481C1C}">
                <a14:useLocalDpi xmlns:a14="http://schemas.microsoft.com/office/drawing/2010/main" val="0"/>
              </a:ext>
            </a:extLst>
          </a:blip>
          <a:stretch>
            <a:fillRect/>
          </a:stretch>
        </p:blipFill>
        <p:spPr>
          <a:xfrm>
            <a:off x="334372" y="3812925"/>
            <a:ext cx="573616" cy="1198988"/>
          </a:xfrm>
          <a:prstGeom prst="rect">
            <a:avLst/>
          </a:prstGeom>
        </p:spPr>
      </p:pic>
      <p:pic>
        <p:nvPicPr>
          <p:cNvPr id="6" name="Picture 5">
            <a:extLst>
              <a:ext uri="{FF2B5EF4-FFF2-40B4-BE49-F238E27FC236}">
                <a16:creationId xmlns:a16="http://schemas.microsoft.com/office/drawing/2014/main" id="{68AECCC1-B43D-449C-A61D-4C4D3AE22413}"/>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8904" b="97603" l="8527" r="89147">
                        <a14:foregroundMark x1="54264" y1="17808" x2="54264" y2="17808"/>
                        <a14:foregroundMark x1="66667" y1="25685" x2="66667" y2="25685"/>
                        <a14:foregroundMark x1="66667" y1="97945" x2="66667" y2="97945"/>
                        <a14:foregroundMark x1="33333" y1="8904" x2="33333" y2="8904"/>
                        <a14:foregroundMark x1="35659" y1="15068" x2="35659" y2="15068"/>
                        <a14:foregroundMark x1="35659" y1="11986" x2="35659" y2="11986"/>
                        <a14:foregroundMark x1="58140" y1="19178" x2="58140" y2="19178"/>
                        <a14:foregroundMark x1="46512" y1="19863" x2="46512" y2="19863"/>
                        <a14:foregroundMark x1="72868" y1="25342" x2="72868" y2="25342"/>
                        <a14:foregroundMark x1="68992" y1="21575" x2="68992" y2="21575"/>
                        <a14:foregroundMark x1="52713" y1="17808" x2="52713" y2="17808"/>
                        <a14:foregroundMark x1="53488" y1="16096" x2="53488" y2="16096"/>
                        <a14:foregroundMark x1="33333" y1="9247" x2="33333" y2="9247"/>
                        <a14:foregroundMark x1="24031" y1="9247" x2="24031" y2="9247"/>
                        <a14:foregroundMark x1="36434" y1="34589" x2="36434" y2="34589"/>
                        <a14:foregroundMark x1="38760" y1="32192" x2="38760" y2="32192"/>
                      </a14:backgroundRemoval>
                    </a14:imgEffect>
                  </a14:imgLayer>
                </a14:imgProps>
              </a:ext>
              <a:ext uri="{28A0092B-C50C-407E-A947-70E740481C1C}">
                <a14:useLocalDpi xmlns:a14="http://schemas.microsoft.com/office/drawing/2010/main" val="0"/>
              </a:ext>
            </a:extLst>
          </a:blip>
          <a:stretch>
            <a:fillRect/>
          </a:stretch>
        </p:blipFill>
        <p:spPr>
          <a:xfrm>
            <a:off x="10995294" y="5514231"/>
            <a:ext cx="573616" cy="1298418"/>
          </a:xfrm>
          <a:prstGeom prst="rect">
            <a:avLst/>
          </a:prstGeom>
        </p:spPr>
      </p:pic>
    </p:spTree>
    <p:extLst>
      <p:ext uri="{BB962C8B-B14F-4D97-AF65-F5344CB8AC3E}">
        <p14:creationId xmlns:p14="http://schemas.microsoft.com/office/powerpoint/2010/main" val="7887242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204716" y="234752"/>
            <a:ext cx="11177517" cy="622295"/>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b="1" dirty="0">
                <a:latin typeface="Comic Sans MS" panose="030F0702030302020204" pitchFamily="66" charset="0"/>
              </a:rPr>
              <a:t>WALT: Use present perfect forms to express recent, indefinite and unfinished past.</a:t>
            </a:r>
          </a:p>
          <a:p>
            <a:pPr marL="0" indent="0">
              <a:buNone/>
            </a:pPr>
            <a:endParaRPr lang="en-US" sz="1800" dirty="0">
              <a:latin typeface="Comic Sans MS" panose="030F0702030302020204" pitchFamily="66" charset="0"/>
            </a:endParaRPr>
          </a:p>
        </p:txBody>
      </p:sp>
      <p:sp>
        <p:nvSpPr>
          <p:cNvPr id="7" name="Rectangle 6"/>
          <p:cNvSpPr/>
          <p:nvPr/>
        </p:nvSpPr>
        <p:spPr>
          <a:xfrm>
            <a:off x="352697" y="3526971"/>
            <a:ext cx="3435532" cy="215537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Comic Sans MS" panose="030F0702030302020204" pitchFamily="66" charset="0"/>
              </a:rPr>
              <a:t>I can </a:t>
            </a:r>
            <a:r>
              <a:rPr lang="en-US" sz="2400" b="1" dirty="0" err="1">
                <a:latin typeface="Comic Sans MS" panose="030F0702030302020204" pitchFamily="66" charset="0"/>
              </a:rPr>
              <a:t>recognise</a:t>
            </a:r>
            <a:r>
              <a:rPr lang="en-US" sz="2400" b="1" dirty="0">
                <a:latin typeface="Comic Sans MS" panose="030F0702030302020204" pitchFamily="66" charset="0"/>
              </a:rPr>
              <a:t> the present perfect tense.</a:t>
            </a:r>
          </a:p>
        </p:txBody>
      </p:sp>
      <p:sp>
        <p:nvSpPr>
          <p:cNvPr id="8" name="Rectangle 7"/>
          <p:cNvSpPr/>
          <p:nvPr/>
        </p:nvSpPr>
        <p:spPr>
          <a:xfrm>
            <a:off x="4480560" y="3526971"/>
            <a:ext cx="3396343" cy="2155372"/>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Comic Sans MS" panose="030F0702030302020204" pitchFamily="66" charset="0"/>
              </a:rPr>
              <a:t>I can change sentences to the present perfect tense.</a:t>
            </a:r>
          </a:p>
        </p:txBody>
      </p:sp>
      <p:sp>
        <p:nvSpPr>
          <p:cNvPr id="14" name="Rectangle 13"/>
          <p:cNvSpPr/>
          <p:nvPr/>
        </p:nvSpPr>
        <p:spPr>
          <a:xfrm>
            <a:off x="8524049" y="3526971"/>
            <a:ext cx="3396343" cy="2155372"/>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latin typeface="Comic Sans MS" panose="030F0702030302020204" pitchFamily="66" charset="0"/>
              </a:rPr>
              <a:t>I can write sentences in the present perfect tense.</a:t>
            </a:r>
            <a:endParaRPr lang="en-US" sz="2400" b="1" dirty="0">
              <a:solidFill>
                <a:schemeClr val="tx1"/>
              </a:solidFill>
              <a:latin typeface="Comic Sans MS" panose="030F0702030302020204" pitchFamily="66" charset="0"/>
            </a:endParaRPr>
          </a:p>
        </p:txBody>
      </p:sp>
      <p:sp>
        <p:nvSpPr>
          <p:cNvPr id="11" name="TextBox 10"/>
          <p:cNvSpPr txBox="1"/>
          <p:nvPr/>
        </p:nvSpPr>
        <p:spPr>
          <a:xfrm>
            <a:off x="8569234" y="3523282"/>
            <a:ext cx="3221068" cy="523220"/>
          </a:xfrm>
          <a:prstGeom prst="rect">
            <a:avLst/>
          </a:prstGeom>
          <a:noFill/>
        </p:spPr>
        <p:txBody>
          <a:bodyPr wrap="square" rtlCol="0">
            <a:spAutoFit/>
          </a:bodyPr>
          <a:lstStyle/>
          <a:p>
            <a:endParaRPr lang="en-US" sz="2800" b="1" dirty="0">
              <a:latin typeface="Comic Sans MS" panose="030F0702030302020204" pitchFamily="66" charset="0"/>
            </a:endParaRPr>
          </a:p>
        </p:txBody>
      </p:sp>
      <p:pic>
        <p:nvPicPr>
          <p:cNvPr id="10" name="Picture 9">
            <a:extLst>
              <a:ext uri="{FF2B5EF4-FFF2-40B4-BE49-F238E27FC236}">
                <a16:creationId xmlns:a16="http://schemas.microsoft.com/office/drawing/2014/main" id="{D78DBC22-1DA7-4854-AA4F-D6FC35AF296A}"/>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709" b="92718" l="9346" r="89720">
                        <a14:foregroundMark x1="44860" y1="92718" x2="44860" y2="92718"/>
                      </a14:backgroundRemoval>
                    </a14:imgEffect>
                  </a14:imgLayer>
                </a14:imgProps>
              </a:ext>
            </a:extLst>
          </a:blip>
          <a:stretch>
            <a:fillRect/>
          </a:stretch>
        </p:blipFill>
        <p:spPr>
          <a:xfrm>
            <a:off x="1449810" y="1175657"/>
            <a:ext cx="1102890" cy="2123320"/>
          </a:xfrm>
          <a:prstGeom prst="rect">
            <a:avLst/>
          </a:prstGeom>
        </p:spPr>
      </p:pic>
      <p:pic>
        <p:nvPicPr>
          <p:cNvPr id="12" name="Picture 11">
            <a:extLst>
              <a:ext uri="{FF2B5EF4-FFF2-40B4-BE49-F238E27FC236}">
                <a16:creationId xmlns:a16="http://schemas.microsoft.com/office/drawing/2014/main" id="{3DC85CE1-72CA-4A04-895D-FFF6B11D2D51}"/>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7914" b="93885" l="9023" r="89474">
                        <a14:foregroundMark x1="31579" y1="8273" x2="31579" y2="8273"/>
                        <a14:foregroundMark x1="34586" y1="15108" x2="34586" y2="15108"/>
                        <a14:foregroundMark x1="33083" y1="12950" x2="33083" y2="12950"/>
                        <a14:foregroundMark x1="53383" y1="16906" x2="53383" y2="16906"/>
                        <a14:foregroundMark x1="66165" y1="24460" x2="66165" y2="24460"/>
                        <a14:foregroundMark x1="44361" y1="20504" x2="44361" y2="20504"/>
                        <a14:foregroundMark x1="48120" y1="18705" x2="48120" y2="18705"/>
                        <a14:foregroundMark x1="57895" y1="27338" x2="57895" y2="27338"/>
                        <a14:foregroundMark x1="54887" y1="93885" x2="54887" y2="93885"/>
                      </a14:backgroundRemoval>
                    </a14:imgEffect>
                  </a14:imgLayer>
                </a14:imgProps>
              </a:ext>
              <a:ext uri="{28A0092B-C50C-407E-A947-70E740481C1C}">
                <a14:useLocalDpi xmlns:a14="http://schemas.microsoft.com/office/drawing/2010/main" val="0"/>
              </a:ext>
            </a:extLst>
          </a:blip>
          <a:stretch>
            <a:fillRect/>
          </a:stretch>
        </p:blipFill>
        <p:spPr>
          <a:xfrm>
            <a:off x="5673703" y="915978"/>
            <a:ext cx="1102890" cy="2305290"/>
          </a:xfrm>
          <a:prstGeom prst="rect">
            <a:avLst/>
          </a:prstGeom>
        </p:spPr>
      </p:pic>
      <p:pic>
        <p:nvPicPr>
          <p:cNvPr id="13" name="Picture 12">
            <a:extLst>
              <a:ext uri="{FF2B5EF4-FFF2-40B4-BE49-F238E27FC236}">
                <a16:creationId xmlns:a16="http://schemas.microsoft.com/office/drawing/2014/main" id="{2FCE9973-0FBC-493E-8C60-67D6FA8FF05B}"/>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8904" b="97603" l="8527" r="89147">
                        <a14:foregroundMark x1="54264" y1="17808" x2="54264" y2="17808"/>
                        <a14:foregroundMark x1="66667" y1="25685" x2="66667" y2="25685"/>
                        <a14:foregroundMark x1="66667" y1="97945" x2="66667" y2="97945"/>
                        <a14:foregroundMark x1="33333" y1="8904" x2="33333" y2="8904"/>
                        <a14:foregroundMark x1="35659" y1="15068" x2="35659" y2="15068"/>
                        <a14:foregroundMark x1="35659" y1="11986" x2="35659" y2="11986"/>
                        <a14:foregroundMark x1="58140" y1="19178" x2="58140" y2="19178"/>
                        <a14:foregroundMark x1="46512" y1="19863" x2="46512" y2="19863"/>
                        <a14:foregroundMark x1="72868" y1="25342" x2="72868" y2="25342"/>
                        <a14:foregroundMark x1="68992" y1="21575" x2="68992" y2="21575"/>
                        <a14:foregroundMark x1="52713" y1="17808" x2="52713" y2="17808"/>
                        <a14:foregroundMark x1="53488" y1="16096" x2="53488" y2="16096"/>
                        <a14:foregroundMark x1="33333" y1="9247" x2="33333" y2="9247"/>
                        <a14:foregroundMark x1="24031" y1="9247" x2="24031" y2="9247"/>
                        <a14:foregroundMark x1="36434" y1="34589" x2="36434" y2="34589"/>
                        <a14:foregroundMark x1="38760" y1="32192" x2="38760" y2="32192"/>
                      </a14:backgroundRemoval>
                    </a14:imgEffect>
                  </a14:imgLayer>
                </a14:imgProps>
              </a:ext>
              <a:ext uri="{28A0092B-C50C-407E-A947-70E740481C1C}">
                <a14:useLocalDpi xmlns:a14="http://schemas.microsoft.com/office/drawing/2010/main" val="0"/>
              </a:ext>
            </a:extLst>
          </a:blip>
          <a:stretch>
            <a:fillRect/>
          </a:stretch>
        </p:blipFill>
        <p:spPr>
          <a:xfrm>
            <a:off x="9922998" y="802513"/>
            <a:ext cx="1102890" cy="2496464"/>
          </a:xfrm>
          <a:prstGeom prst="rect">
            <a:avLst/>
          </a:prstGeom>
        </p:spPr>
      </p:pic>
    </p:spTree>
    <p:extLst>
      <p:ext uri="{BB962C8B-B14F-4D97-AF65-F5344CB8AC3E}">
        <p14:creationId xmlns:p14="http://schemas.microsoft.com/office/powerpoint/2010/main" val="112521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5495" y="1047513"/>
            <a:ext cx="10515600" cy="1325563"/>
          </a:xfrm>
        </p:spPr>
        <p:txBody>
          <a:bodyPr/>
          <a:lstStyle/>
          <a:p>
            <a:r>
              <a:rPr lang="en-US" b="1" dirty="0">
                <a:latin typeface="Comic Sans MS" panose="030F0702030302020204" pitchFamily="66" charset="0"/>
              </a:rPr>
              <a:t>Plenary – What is wrong with this sentence?  </a:t>
            </a:r>
            <a:endParaRPr lang="en-US" dirty="0">
              <a:latin typeface="Comic Sans MS" panose="030F0702030302020204" pitchFamily="66" charset="0"/>
            </a:endParaRPr>
          </a:p>
        </p:txBody>
      </p:sp>
      <p:sp>
        <p:nvSpPr>
          <p:cNvPr id="3" name="TextBox 2"/>
          <p:cNvSpPr txBox="1"/>
          <p:nvPr/>
        </p:nvSpPr>
        <p:spPr>
          <a:xfrm>
            <a:off x="612442" y="2563542"/>
            <a:ext cx="11021705" cy="1569660"/>
          </a:xfrm>
          <a:prstGeom prst="rect">
            <a:avLst/>
          </a:prstGeom>
          <a:noFill/>
        </p:spPr>
        <p:txBody>
          <a:bodyPr wrap="square" rtlCol="0">
            <a:spAutoFit/>
          </a:bodyPr>
          <a:lstStyle/>
          <a:p>
            <a:r>
              <a:rPr lang="en-US" sz="4800" b="1" dirty="0">
                <a:solidFill>
                  <a:srgbClr val="FF0000"/>
                </a:solidFill>
                <a:latin typeface="Comic Sans MS" panose="030F0702030302020204" pitchFamily="66" charset="0"/>
              </a:rPr>
              <a:t>I have listened to that song last week.</a:t>
            </a:r>
          </a:p>
        </p:txBody>
      </p:sp>
      <p:sp>
        <p:nvSpPr>
          <p:cNvPr id="8" name="Subtitle 2"/>
          <p:cNvSpPr txBox="1">
            <a:spLocks/>
          </p:cNvSpPr>
          <p:nvPr/>
        </p:nvSpPr>
        <p:spPr>
          <a:xfrm>
            <a:off x="204716" y="234752"/>
            <a:ext cx="11177517" cy="622295"/>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b="1" dirty="0">
                <a:latin typeface="Comic Sans MS" panose="030F0702030302020204" pitchFamily="66" charset="0"/>
              </a:rPr>
              <a:t>WALT: Use present perfect forms to express recent, indefinite and unfinished past.</a:t>
            </a:r>
          </a:p>
          <a:p>
            <a:pPr marL="0" indent="0">
              <a:buNone/>
            </a:pPr>
            <a:endParaRPr lang="en-US" sz="1800" dirty="0">
              <a:latin typeface="Comic Sans MS" panose="030F0702030302020204" pitchFamily="66" charset="0"/>
            </a:endParaRPr>
          </a:p>
        </p:txBody>
      </p:sp>
    </p:spTree>
    <p:extLst>
      <p:ext uri="{BB962C8B-B14F-4D97-AF65-F5344CB8AC3E}">
        <p14:creationId xmlns:p14="http://schemas.microsoft.com/office/powerpoint/2010/main" val="3732870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9121</TotalTime>
  <Words>1070</Words>
  <Application>Microsoft Office PowerPoint</Application>
  <PresentationFormat>Widescreen</PresentationFormat>
  <Paragraphs>137</Paragraphs>
  <Slides>18</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Comic Sans MS</vt:lpstr>
      <vt:lpstr>Office Theme</vt:lpstr>
      <vt:lpstr>English </vt:lpstr>
      <vt:lpstr>PowerPoint Presentation</vt:lpstr>
      <vt:lpstr>Retrieval Practice – complete the Frayer model with one of the emotions.</vt:lpstr>
      <vt:lpstr>Starter – Have you ever felt…? When? What about?</vt:lpstr>
      <vt:lpstr>Today we are looking at the present perfect tense.   We use the present perfect tense to describe events in the recent past, when the time of the event is not important.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Plenary – What is wrong with this sentence?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Maths</dc:title>
  <dc:creator>Jonathan Michael Holliday (VSC-KTiH-MB)</dc:creator>
  <cp:lastModifiedBy>Colette Aisling Meade (VSC-KTiH-MB)</cp:lastModifiedBy>
  <cp:revision>57</cp:revision>
  <dcterms:created xsi:type="dcterms:W3CDTF">2022-08-15T06:38:27Z</dcterms:created>
  <dcterms:modified xsi:type="dcterms:W3CDTF">2026-08-12T15:05:26Z</dcterms:modified>
</cp:coreProperties>
</file>
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8" r:id="rId14"/>
    <p:sldId id="290" r:id="rId15"/>
    <p:sldId id="296" r:id="rId16"/>
    <p:sldId id="297" r:id="rId17"/>
    <p:sldId id="291" r:id="rId18"/>
    <p:sldId id="293" r:id="rId19"/>
    <p:sldId id="289" r:id="rId20"/>
    <p:sldId id="292" r:id="rId21"/>
    <p:sldId id="28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141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89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515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831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455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60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19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133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9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4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779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55409-3F01-417C-95F5-A887D11611B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482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5.wdp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5.png"/><Relationship Id="rId7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earth.google.com/web/@21.36054084,105.24218142,375.18837593a,543830.30304641d,35y,0.00026381h,0t,0r/data=OgMKAT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9600" dirty="0">
                <a:latin typeface="Comic Sans MS" panose="030F0702030302020204" pitchFamily="66" charset="0"/>
              </a:rPr>
              <a:t>English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1960" y="3419077"/>
            <a:ext cx="10588079" cy="4061472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latin typeface="Comic Sans MS" panose="030F0702030302020204" pitchFamily="66" charset="0"/>
              </a:rPr>
              <a:t>WALT: </a:t>
            </a:r>
            <a:r>
              <a:rPr lang="en-US" sz="3200" dirty="0">
                <a:latin typeface="Comic Sans MS" panose="030F0702030302020204" pitchFamily="66" charset="0"/>
              </a:rPr>
              <a:t>Understand, with support, most of the detail of an argument in short and extended texts.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1 – My World</a:t>
            </a:r>
          </a:p>
        </p:txBody>
      </p:sp>
    </p:spTree>
    <p:extLst>
      <p:ext uri="{BB962C8B-B14F-4D97-AF65-F5344CB8AC3E}">
        <p14:creationId xmlns:p14="http://schemas.microsoft.com/office/powerpoint/2010/main" val="4254474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177517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Understand, with support, most of the detail of an argument in short and extended texts.</a:t>
            </a:r>
            <a:r>
              <a:rPr lang="en-US" b="1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I can use the key vocab to label a world map.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match world cities to their co-ordinates.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answer comprehension questions on a 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7F5666-0F9C-4D65-AFBC-1CE6F33EA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9810" y="1175657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F9A526-A01A-4DE3-9DE6-1DAB6B6A92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703" y="915978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033B0F-1DEA-46CC-988E-C85EA63088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998" y="802513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040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16" y="918659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Retrieval Practice – </a:t>
            </a:r>
            <a:r>
              <a:rPr lang="en-US" sz="2800" dirty="0">
                <a:latin typeface="Comic Sans MS" panose="030F0702030302020204" pitchFamily="66" charset="0"/>
              </a:rPr>
              <a:t>What tenses are the following sentences written in?</a:t>
            </a: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WALT: </a:t>
            </a:r>
            <a:r>
              <a:rPr lang="en-US" dirty="0">
                <a:latin typeface="Comic Sans MS" panose="030F0702030302020204" pitchFamily="66" charset="0"/>
              </a:rPr>
              <a:t>Understand, with support, most of the detail of an argument in short and extended texts.</a:t>
            </a:r>
            <a:r>
              <a:rPr lang="en-US" b="1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7672" y="2690336"/>
            <a:ext cx="1210556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Comic Sans MS" panose="030F0702030302020204" pitchFamily="66" charset="0"/>
              </a:rPr>
              <a:t>She will visit her grandparents next week. </a:t>
            </a:r>
            <a:r>
              <a:rPr lang="en-US" sz="3200" b="1" dirty="0">
                <a:latin typeface="Comic Sans MS" panose="030F0702030302020204" pitchFamily="66" charset="0"/>
              </a:rPr>
              <a:t>(future simple)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Comic Sans MS" panose="030F0702030302020204" pitchFamily="66" charset="0"/>
              </a:rPr>
              <a:t>They have studied English for three years. </a:t>
            </a:r>
            <a:r>
              <a:rPr lang="en-US" sz="3200" b="1" dirty="0">
                <a:latin typeface="Comic Sans MS" panose="030F0702030302020204" pitchFamily="66" charset="0"/>
              </a:rPr>
              <a:t>(present perfect)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Comic Sans MS" panose="030F0702030302020204" pitchFamily="66" charset="0"/>
              </a:rPr>
              <a:t>We went to the park yesterday. </a:t>
            </a:r>
            <a:r>
              <a:rPr lang="en-US" sz="3200" b="1" dirty="0">
                <a:latin typeface="Comic Sans MS" panose="030F0702030302020204" pitchFamily="66" charset="0"/>
              </a:rPr>
              <a:t>(simple past)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Comic Sans MS" panose="030F0702030302020204" pitchFamily="66" charset="0"/>
              </a:rPr>
              <a:t>I am reading a book right now. </a:t>
            </a:r>
            <a:r>
              <a:rPr lang="en-US" sz="3200" b="1" dirty="0">
                <a:latin typeface="Comic Sans MS" panose="030F0702030302020204" pitchFamily="66" charset="0"/>
              </a:rPr>
              <a:t>(present continuous)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Comic Sans MS" panose="030F0702030302020204" pitchFamily="66" charset="0"/>
              </a:rPr>
              <a:t>She plays the piano very well. </a:t>
            </a:r>
            <a:r>
              <a:rPr lang="en-US" sz="3200" b="1" dirty="0">
                <a:latin typeface="Comic Sans MS" panose="030F0702030302020204" pitchFamily="66" charset="0"/>
              </a:rPr>
              <a:t>(present simple)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39032" y="2801203"/>
            <a:ext cx="3512024" cy="6277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875593" y="3597376"/>
            <a:ext cx="3275463" cy="6277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701668" y="4313354"/>
            <a:ext cx="2504365" cy="6277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30369" y="4999997"/>
            <a:ext cx="3964675" cy="6277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096000" y="5821837"/>
            <a:ext cx="3964675" cy="6277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33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16" y="1056392"/>
            <a:ext cx="10515600" cy="81507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omic Sans MS" panose="030F0702030302020204" pitchFamily="66" charset="0"/>
              </a:rPr>
              <a:t>Starter– </a:t>
            </a:r>
            <a:r>
              <a:rPr lang="en-US" sz="3600" dirty="0">
                <a:latin typeface="Comic Sans MS" panose="030F0702030302020204" pitchFamily="66" charset="0"/>
              </a:rPr>
              <a:t>Geography quiz!</a:t>
            </a: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Understand, with support, most of the detail of an argument in short and extended texts.</a:t>
            </a:r>
            <a:r>
              <a:rPr lang="en-US" b="1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1018" y="2123423"/>
            <a:ext cx="91849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Comic Sans MS" panose="030F0702030302020204" pitchFamily="66" charset="0"/>
              </a:rPr>
              <a:t>On your whiteboards write the answers to these 5 questions.</a:t>
            </a:r>
          </a:p>
        </p:txBody>
      </p:sp>
      <p:pic>
        <p:nvPicPr>
          <p:cNvPr id="3074" name="Picture 2" descr="A4 Plain Handheld Whiteboard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259" b="96110" l="3800" r="93000">
                        <a14:foregroundMark x1="49700" y1="81465" x2="64000" y2="765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0484" y="3575713"/>
            <a:ext cx="3755477" cy="3282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Globe Clipart Images - Free Download on Freepik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>
                        <a14:foregroundMark x1="58849" y1="6709" x2="70789" y2="13099"/>
                        <a14:foregroundMark x1="70789" y1="13099" x2="84222" y2="19968"/>
                        <a14:foregroundMark x1="83795" y1="19968" x2="92111" y2="32588"/>
                        <a14:foregroundMark x1="92111" y1="32588" x2="84435" y2="66933"/>
                        <a14:foregroundMark x1="84435" y1="66933" x2="73774" y2="71885"/>
                        <a14:foregroundMark x1="73774" y1="74441" x2="89126" y2="62620"/>
                        <a14:foregroundMark x1="42431" y1="92173" x2="42857" y2="94089"/>
                        <a14:foregroundMark x1="42644" y1="94089" x2="57569" y2="95048"/>
                        <a14:foregroundMark x1="34328" y1="78594" x2="41791" y2="79712"/>
                        <a14:foregroundMark x1="31343" y1="82748" x2="31343" y2="82748"/>
                        <a14:backgroundMark x1="88699" y1="44249" x2="88699" y2="44249"/>
                        <a14:backgroundMark x1="88699" y1="44249" x2="88486" y2="49042"/>
                        <a14:backgroundMark x1="85714" y1="54792" x2="88486" y2="50000"/>
                        <a14:backgroundMark x1="88486" y1="50000" x2="88486" y2="47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283" y="3071791"/>
            <a:ext cx="2628567" cy="3508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0820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690" y="545899"/>
            <a:ext cx="10515600" cy="1325563"/>
          </a:xfrm>
        </p:spPr>
        <p:txBody>
          <a:bodyPr/>
          <a:lstStyle/>
          <a:p>
            <a:r>
              <a:rPr lang="en-US" b="1" dirty="0">
                <a:latin typeface="Comic Sans MS" panose="030F0702030302020204" pitchFamily="66" charset="0"/>
              </a:rPr>
              <a:t>Question 1: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Understand, with support, most of the detail of an argument in short and extended texts.</a:t>
            </a:r>
            <a:r>
              <a:rPr lang="en-US" b="1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133" y="1684020"/>
            <a:ext cx="115187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Comic Sans MS" panose="030F0702030302020204" pitchFamily="66" charset="0"/>
              </a:rPr>
              <a:t>Is </a:t>
            </a:r>
            <a:r>
              <a:rPr lang="en-US" sz="5400" b="1" dirty="0">
                <a:latin typeface="Comic Sans MS" panose="030F0702030302020204" pitchFamily="66" charset="0"/>
              </a:rPr>
              <a:t>London </a:t>
            </a:r>
            <a:r>
              <a:rPr lang="en-US" sz="5400" dirty="0">
                <a:latin typeface="Comic Sans MS" panose="030F0702030302020204" pitchFamily="66" charset="0"/>
              </a:rPr>
              <a:t>an example of a district, town or city? </a:t>
            </a:r>
          </a:p>
        </p:txBody>
      </p:sp>
      <p:pic>
        <p:nvPicPr>
          <p:cNvPr id="4098" name="Picture 2" descr="London Clipart Images – Browse 3,704 Stock Photos, Vectors, and Video |  Adobe Stock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056" b="100000" l="0" r="92222">
                        <a14:foregroundMark x1="69444" y1="9722" x2="74444" y2="9444"/>
                        <a14:foregroundMark x1="73704" y1="8611" x2="68704" y2="6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8168" y="3250904"/>
            <a:ext cx="5410642" cy="3607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3460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690" y="545899"/>
            <a:ext cx="10515600" cy="1325563"/>
          </a:xfrm>
        </p:spPr>
        <p:txBody>
          <a:bodyPr/>
          <a:lstStyle/>
          <a:p>
            <a:r>
              <a:rPr lang="en-US" b="1" dirty="0">
                <a:latin typeface="Comic Sans MS" panose="030F0702030302020204" pitchFamily="66" charset="0"/>
              </a:rPr>
              <a:t>Question 2: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Understand, with support, most of the detail of an argument in short and extended texts.</a:t>
            </a:r>
            <a:r>
              <a:rPr lang="en-US" b="1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1018" y="1871462"/>
            <a:ext cx="91849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Comic Sans MS" panose="030F0702030302020204" pitchFamily="66" charset="0"/>
              </a:rPr>
              <a:t>What do we call the imaginary line that runs around the middle of Earth? </a:t>
            </a:r>
          </a:p>
        </p:txBody>
      </p:sp>
      <p:pic>
        <p:nvPicPr>
          <p:cNvPr id="5122" name="Picture 2" descr="Equator | Definition, Location, &amp; Facts | Britannic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33813" y1="94903" x2="70375" y2="923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3881" y="3459419"/>
            <a:ext cx="6599186" cy="3398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4158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690" y="545899"/>
            <a:ext cx="10515600" cy="1325563"/>
          </a:xfrm>
        </p:spPr>
        <p:txBody>
          <a:bodyPr/>
          <a:lstStyle/>
          <a:p>
            <a:r>
              <a:rPr lang="en-US" b="1" dirty="0">
                <a:latin typeface="Comic Sans MS" panose="030F0702030302020204" pitchFamily="66" charset="0"/>
              </a:rPr>
              <a:t>Question 3: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Understand, with support, most of the detail of an argument in short and extended texts.</a:t>
            </a:r>
            <a:r>
              <a:rPr lang="en-US" b="1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1018" y="1582444"/>
            <a:ext cx="91849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Comic Sans MS" panose="030F0702030302020204" pitchFamily="66" charset="0"/>
              </a:rPr>
              <a:t>Do lines of </a:t>
            </a:r>
            <a:r>
              <a:rPr lang="en-US" sz="3600" b="1" dirty="0">
                <a:latin typeface="Comic Sans MS" panose="030F0702030302020204" pitchFamily="66" charset="0"/>
              </a:rPr>
              <a:t>longitude</a:t>
            </a:r>
            <a:r>
              <a:rPr lang="en-US" sz="3600" dirty="0">
                <a:latin typeface="Comic Sans MS" panose="030F0702030302020204" pitchFamily="66" charset="0"/>
              </a:rPr>
              <a:t> run horizontally or vertically? </a:t>
            </a:r>
          </a:p>
        </p:txBody>
      </p:sp>
      <p:pic>
        <p:nvPicPr>
          <p:cNvPr id="6146" name="Picture 2" descr="What are the Latitude Lines? - Answered - Twinkl Teaching Wik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492" y="2940050"/>
            <a:ext cx="6593994" cy="3417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3788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690" y="545899"/>
            <a:ext cx="10515600" cy="1325563"/>
          </a:xfrm>
        </p:spPr>
        <p:txBody>
          <a:bodyPr/>
          <a:lstStyle/>
          <a:p>
            <a:r>
              <a:rPr lang="en-US" b="1" dirty="0">
                <a:latin typeface="Comic Sans MS" panose="030F0702030302020204" pitchFamily="66" charset="0"/>
              </a:rPr>
              <a:t>Question 4: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Understand, with support, most of the detail of an argument in short and extended texts.</a:t>
            </a:r>
            <a:r>
              <a:rPr lang="en-US" b="1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1018" y="1582444"/>
            <a:ext cx="91849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Comic Sans MS" panose="030F0702030302020204" pitchFamily="66" charset="0"/>
              </a:rPr>
              <a:t>What is the most northern point of Earth called? </a:t>
            </a:r>
          </a:p>
        </p:txBody>
      </p:sp>
      <p:pic>
        <p:nvPicPr>
          <p:cNvPr id="7170" name="Picture 2" descr="Polar Bear | Species | WW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6149" y="2969722"/>
            <a:ext cx="4838985" cy="3629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2974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690" y="545899"/>
            <a:ext cx="10515600" cy="1325563"/>
          </a:xfrm>
        </p:spPr>
        <p:txBody>
          <a:bodyPr/>
          <a:lstStyle/>
          <a:p>
            <a:r>
              <a:rPr lang="en-US" b="1" dirty="0">
                <a:latin typeface="Comic Sans MS" panose="030F0702030302020204" pitchFamily="66" charset="0"/>
              </a:rPr>
              <a:t>Question 5:</a:t>
            </a: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Understand, with support, most of the detail of an argument in short and extended texts.</a:t>
            </a:r>
            <a:r>
              <a:rPr lang="en-US" b="1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1018" y="1582444"/>
            <a:ext cx="9184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Comic Sans MS" panose="030F0702030302020204" pitchFamily="66" charset="0"/>
              </a:rPr>
              <a:t>Which of the following is </a:t>
            </a:r>
            <a:r>
              <a:rPr lang="en-US" sz="3600" b="1" dirty="0">
                <a:latin typeface="Comic Sans MS" panose="030F0702030302020204" pitchFamily="66" charset="0"/>
              </a:rPr>
              <a:t>not</a:t>
            </a:r>
            <a:r>
              <a:rPr lang="en-US" sz="3600" dirty="0">
                <a:latin typeface="Comic Sans MS" panose="030F0702030302020204" pitchFamily="66" charset="0"/>
              </a:rPr>
              <a:t> a continent?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4427" y="2630410"/>
            <a:ext cx="496209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Comic Sans MS" panose="030F0702030302020204" pitchFamily="66" charset="0"/>
              </a:rPr>
              <a:t>Asia</a:t>
            </a:r>
          </a:p>
          <a:p>
            <a:endParaRPr lang="en-US" sz="4400" dirty="0">
              <a:latin typeface="Comic Sans MS" panose="030F0702030302020204" pitchFamily="66" charset="0"/>
            </a:endParaRPr>
          </a:p>
          <a:p>
            <a:r>
              <a:rPr lang="en-US" sz="4400" dirty="0">
                <a:latin typeface="Comic Sans MS" panose="030F0702030302020204" pitchFamily="66" charset="0"/>
              </a:rPr>
              <a:t>The Middle East</a:t>
            </a:r>
          </a:p>
          <a:p>
            <a:endParaRPr lang="en-US" sz="4400" dirty="0">
              <a:latin typeface="Comic Sans MS" panose="030F0702030302020204" pitchFamily="66" charset="0"/>
            </a:endParaRPr>
          </a:p>
          <a:p>
            <a:r>
              <a:rPr lang="en-US" sz="4400" dirty="0">
                <a:latin typeface="Comic Sans MS" panose="030F0702030302020204" pitchFamily="66" charset="0"/>
              </a:rPr>
              <a:t>Africa</a:t>
            </a:r>
          </a:p>
        </p:txBody>
      </p:sp>
      <p:pic>
        <p:nvPicPr>
          <p:cNvPr id="8194" name="Picture 2" descr="Introduction to Plate Tectonics — Earth@Hom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954172"/>
            <a:ext cx="4940490" cy="3228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850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Understand, with support, most of the detail of an argument in short and extended texts.</a:t>
            </a:r>
            <a:r>
              <a:rPr lang="en-US" b="1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68690" y="1054040"/>
            <a:ext cx="91849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Comic Sans MS" panose="030F0702030302020204" pitchFamily="66" charset="0"/>
              </a:rPr>
              <a:t>Answers!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080" y="1582444"/>
            <a:ext cx="4989394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lnSpc>
                <a:spcPct val="150000"/>
              </a:lnSpc>
              <a:buAutoNum type="arabicParenR"/>
            </a:pPr>
            <a:r>
              <a:rPr lang="en-US" sz="4400" dirty="0">
                <a:latin typeface="Twinkl" panose="02000000000000000000" pitchFamily="2" charset="0"/>
              </a:rPr>
              <a:t>City</a:t>
            </a:r>
          </a:p>
          <a:p>
            <a:pPr marL="742950" indent="-742950">
              <a:lnSpc>
                <a:spcPct val="150000"/>
              </a:lnSpc>
              <a:buAutoNum type="arabicParenR"/>
            </a:pPr>
            <a:r>
              <a:rPr lang="en-US" sz="4400" dirty="0">
                <a:latin typeface="Twinkl" panose="02000000000000000000" pitchFamily="2" charset="0"/>
              </a:rPr>
              <a:t>The Equator</a:t>
            </a:r>
          </a:p>
          <a:p>
            <a:pPr marL="742950" indent="-742950">
              <a:lnSpc>
                <a:spcPct val="150000"/>
              </a:lnSpc>
              <a:buAutoNum type="arabicParenR"/>
            </a:pPr>
            <a:r>
              <a:rPr lang="en-US" sz="4400" dirty="0">
                <a:latin typeface="Twinkl" panose="02000000000000000000" pitchFamily="2" charset="0"/>
              </a:rPr>
              <a:t>Vertically</a:t>
            </a:r>
          </a:p>
          <a:p>
            <a:pPr marL="742950" indent="-742950">
              <a:lnSpc>
                <a:spcPct val="150000"/>
              </a:lnSpc>
              <a:buAutoNum type="arabicParenR"/>
            </a:pPr>
            <a:r>
              <a:rPr lang="en-US" sz="4400" dirty="0">
                <a:latin typeface="Twinkl" panose="02000000000000000000" pitchFamily="2" charset="0"/>
              </a:rPr>
              <a:t>The North Pole</a:t>
            </a:r>
          </a:p>
          <a:p>
            <a:pPr marL="742950" indent="-742950">
              <a:lnSpc>
                <a:spcPct val="150000"/>
              </a:lnSpc>
              <a:buAutoNum type="arabicParenR"/>
            </a:pPr>
            <a:r>
              <a:rPr lang="en-US" sz="4400" dirty="0">
                <a:latin typeface="Twinkl" panose="02000000000000000000" pitchFamily="2" charset="0"/>
              </a:rPr>
              <a:t>The Middle East</a:t>
            </a:r>
          </a:p>
          <a:p>
            <a:pPr marL="742950" indent="-742950">
              <a:buAutoNum type="arabicParenR"/>
            </a:pPr>
            <a:endParaRPr lang="en-US" sz="4400" dirty="0">
              <a:latin typeface="Twinkl" panose="02000000000000000000" pitchFamily="2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514901" y="1810703"/>
            <a:ext cx="1473959" cy="786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54137" y="2880639"/>
            <a:ext cx="3277169" cy="786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54137" y="3827027"/>
            <a:ext cx="2524836" cy="786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554137" y="4850252"/>
            <a:ext cx="3891319" cy="786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554137" y="5999106"/>
            <a:ext cx="4055093" cy="786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786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75926"/>
            <a:ext cx="10515600" cy="1325563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How can we tell people where in the world we are?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Understand, with support, most of the detail of an argument in short and extended texts.</a:t>
            </a:r>
            <a:r>
              <a:rPr lang="en-US" b="1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9218" name="Picture 2" descr="Address icon PNG and SVG Vector Free Download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12617" y1="73729" x2="7009" y2="75847"/>
                        <a14:foregroundMark x1="7009" y1="78814" x2="8879" y2="85593"/>
                        <a14:foregroundMark x1="8879" y1="85593" x2="19159" y2="95339"/>
                        <a14:foregroundMark x1="19159" y1="95339" x2="38785" y2="95339"/>
                        <a14:foregroundMark x1="38785" y1="95339" x2="68692" y2="95763"/>
                        <a14:foregroundMark x1="69159" y1="95763" x2="87383" y2="89831"/>
                        <a14:foregroundMark x1="88318" y1="88983" x2="95327" y2="81780"/>
                        <a14:foregroundMark x1="93925" y1="80085" x2="84579" y2="737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563" y="3002505"/>
            <a:ext cx="2792342" cy="3079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901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534" y="1075926"/>
            <a:ext cx="11258266" cy="1325563"/>
          </a:xfrm>
        </p:spPr>
        <p:txBody>
          <a:bodyPr/>
          <a:lstStyle/>
          <a:p>
            <a:r>
              <a:rPr lang="en-US" dirty="0">
                <a:latin typeface="Twinkl" panose="02000000000000000000" pitchFamily="2" charset="0"/>
              </a:rPr>
              <a:t>Look at this address of Vinschool Metropolis.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7" y="234753"/>
            <a:ext cx="9692668" cy="505206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Understand, with support, most of the detail of an argument in short and extended texts.</a:t>
            </a:r>
            <a:r>
              <a:rPr lang="en-US" b="1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204716" y="2487851"/>
            <a:ext cx="1138344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Comic Sans MS" panose="030F0702030302020204" pitchFamily="66" charset="0"/>
              </a:rPr>
              <a:t>29 P. </a:t>
            </a:r>
            <a:r>
              <a:rPr lang="en-US" sz="3600" b="1" dirty="0" err="1">
                <a:latin typeface="Comic Sans MS" panose="030F0702030302020204" pitchFamily="66" charset="0"/>
              </a:rPr>
              <a:t>Liễu</a:t>
            </a:r>
            <a:r>
              <a:rPr lang="en-US" sz="3600" b="1" dirty="0">
                <a:latin typeface="Comic Sans MS" panose="030F0702030302020204" pitchFamily="66" charset="0"/>
              </a:rPr>
              <a:t> </a:t>
            </a:r>
            <a:r>
              <a:rPr lang="en-US" sz="3600" b="1" dirty="0" err="1">
                <a:latin typeface="Comic Sans MS" panose="030F0702030302020204" pitchFamily="66" charset="0"/>
              </a:rPr>
              <a:t>Giai</a:t>
            </a:r>
            <a:r>
              <a:rPr lang="en-US" sz="3600" b="1" dirty="0">
                <a:latin typeface="Comic Sans MS" panose="030F0702030302020204" pitchFamily="66" charset="0"/>
              </a:rPr>
              <a:t>, Ngọc Khánh, Ba Đình, Hà </a:t>
            </a:r>
            <a:r>
              <a:rPr lang="en-US" sz="3600" b="1" dirty="0" err="1">
                <a:latin typeface="Comic Sans MS" panose="030F0702030302020204" pitchFamily="66" charset="0"/>
              </a:rPr>
              <a:t>Nội</a:t>
            </a:r>
            <a:r>
              <a:rPr lang="en-US" sz="3600" b="1" dirty="0">
                <a:latin typeface="Comic Sans MS" panose="030F0702030302020204" pitchFamily="66" charset="0"/>
              </a:rPr>
              <a:t>, Việt Nam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650" y="3774542"/>
            <a:ext cx="495876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Which part of the address is:</a:t>
            </a:r>
          </a:p>
          <a:p>
            <a:endParaRPr lang="en-US" sz="24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Local ?</a:t>
            </a:r>
          </a:p>
          <a:p>
            <a:endParaRPr lang="en-US" sz="24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National?</a:t>
            </a:r>
          </a:p>
          <a:p>
            <a:endParaRPr lang="en-US" sz="24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International?</a:t>
            </a:r>
          </a:p>
        </p:txBody>
      </p:sp>
    </p:spTree>
    <p:extLst>
      <p:ext uri="{BB962C8B-B14F-4D97-AF65-F5344CB8AC3E}">
        <p14:creationId xmlns:p14="http://schemas.microsoft.com/office/powerpoint/2010/main" val="3939405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Understand, with support, most of the detail of an argument in short and extended texts.</a:t>
            </a:r>
            <a:r>
              <a:rPr lang="en-US" b="1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8494"/>
            <a:ext cx="4217158" cy="18510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881" y="2216026"/>
            <a:ext cx="7902119" cy="44986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58955" y="1075608"/>
            <a:ext cx="72810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mic Sans MS" panose="030F0702030302020204" pitchFamily="66" charset="0"/>
              </a:rPr>
              <a:t>Read the text independently now.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716" y="1477276"/>
            <a:ext cx="184927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Page 15</a:t>
            </a:r>
          </a:p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LB</a:t>
            </a:r>
          </a:p>
        </p:txBody>
      </p:sp>
    </p:spTree>
    <p:extLst>
      <p:ext uri="{BB962C8B-B14F-4D97-AF65-F5344CB8AC3E}">
        <p14:creationId xmlns:p14="http://schemas.microsoft.com/office/powerpoint/2010/main" val="709114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Understand, with support, most of the detail of an argument in short and extended texts.</a:t>
            </a:r>
            <a:r>
              <a:rPr lang="en-US" b="1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8494"/>
            <a:ext cx="4217158" cy="18510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881" y="2216026"/>
            <a:ext cx="7902119" cy="44986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59205" y="1244149"/>
            <a:ext cx="72810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mic Sans MS" panose="030F0702030302020204" pitchFamily="66" charset="0"/>
              </a:rPr>
              <a:t>Now let’s read it together.</a:t>
            </a:r>
          </a:p>
        </p:txBody>
      </p:sp>
    </p:spTree>
    <p:extLst>
      <p:ext uri="{BB962C8B-B14F-4D97-AF65-F5344CB8AC3E}">
        <p14:creationId xmlns:p14="http://schemas.microsoft.com/office/powerpoint/2010/main" val="141310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Understand, with support, most of the detail of an argument in short and extended texts.</a:t>
            </a:r>
            <a:r>
              <a:rPr lang="en-US" b="1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492" y="3101558"/>
            <a:ext cx="8524875" cy="11144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51284" y="1385631"/>
            <a:ext cx="10327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Use the word bank to complete labels 2 – 5 on the world map.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1CFAB9-265E-4425-BB1B-8C456DDE7F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406" y="973527"/>
            <a:ext cx="765909" cy="14745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5BD7431-1F47-4B96-8525-DF18EA74E3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45" y="2628538"/>
            <a:ext cx="765909" cy="160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731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Understand, with support, most of the detail of an argument in short and extended texts.</a:t>
            </a:r>
            <a:r>
              <a:rPr lang="en-US" b="1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5CB04CA-09B6-4AE8-987F-A0CDA024B3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59" y="2233696"/>
            <a:ext cx="765909" cy="173368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D2A9E0F-8A6D-4B91-B391-A575A9B94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3695" y="1611637"/>
            <a:ext cx="10058400" cy="4380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2000" b="1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What imaginary line circles the Earth in the middle between the North and South Poles, and what is its degree measurement?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2000" b="1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How far apart are lines of latitude from one another, and how far north and south are they measured?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2000" b="1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What happens if a location is directly in between two-degree lines?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•"/>
              <a:tabLst>
                <a:tab pos="457200" algn="l"/>
              </a:tabLst>
            </a:pPr>
            <a:r>
              <a:rPr lang="en-US" sz="2000" b="1" dirty="0">
                <a:effectLst/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What is the code called that identifies an exact location, and can you see these lines on the actual surface of the Earth?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444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Understand, with support, most of the detail of an argument in short and extended texts.</a:t>
            </a:r>
            <a:r>
              <a:rPr lang="en-US" b="1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21" y="1694611"/>
            <a:ext cx="10440212" cy="458266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921921" y="2661313"/>
            <a:ext cx="1460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Equator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9061" y="2476647"/>
            <a:ext cx="1460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Latitude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9825" y="5522373"/>
            <a:ext cx="1460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Longitude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61461" y="5907947"/>
            <a:ext cx="1460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South Pole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3A52472-F69B-4D16-95E3-E638DCA3D9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6812" y="1161059"/>
            <a:ext cx="765909" cy="147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791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2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Understand, with support, most of the detail of an argument in short and extended texts.</a:t>
            </a:r>
            <a:r>
              <a:rPr lang="en-US" b="1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21" y="1694611"/>
            <a:ext cx="10440212" cy="458266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921921" y="2661313"/>
            <a:ext cx="1460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Equator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9061" y="2476647"/>
            <a:ext cx="1460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Latitude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9825" y="5522373"/>
            <a:ext cx="1460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Longitude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61461" y="5907947"/>
            <a:ext cx="1460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South Pole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23492"/>
          <a:stretch/>
        </p:blipFill>
        <p:spPr>
          <a:xfrm>
            <a:off x="7560504" y="3606278"/>
            <a:ext cx="926271" cy="20247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6775" y="4712403"/>
            <a:ext cx="859596" cy="2204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375" y="2852527"/>
            <a:ext cx="639398" cy="17811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9612" y="4470083"/>
            <a:ext cx="761849" cy="1628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237E9A1-1CE2-4A68-B242-D7B14A9844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16" y="1060390"/>
            <a:ext cx="765909" cy="160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095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Understand, with support, most of the detail of an argument in short and extended texts.</a:t>
            </a:r>
            <a:r>
              <a:rPr lang="en-US" b="1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5CB04CA-09B6-4AE8-987F-A0CDA024B3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06" y="1572593"/>
            <a:ext cx="765909" cy="173368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D2A9E0F-8A6D-4B91-B391-A575A9B94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7044" y="1612481"/>
            <a:ext cx="10313829" cy="3387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The equator, which has a latitude of 0°.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2. They are about 111 km apart and are measured from 0°–90° to the north and 0°–90° to the south.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3. The degrees are divided into smaller units called minutes and seconds.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tabLst>
                <a:tab pos="457200" algn="l"/>
              </a:tabLs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4. The code is called a coordinate, and the lines cannot be seen in real life because they are imaginary.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994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177517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Understand, with support, most of the detail of an argument in short and extended texts.</a:t>
            </a:r>
            <a:r>
              <a:rPr lang="en-US" b="1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I can use the key vocab to label a world map.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match world cities to their co-ordinates.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answer comprehension questions on a 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7F5666-0F9C-4D65-AFBC-1CE6F33EA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9810" y="1175657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F9A526-A01A-4DE3-9DE6-1DAB6B6A92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703" y="915978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033B0F-1DEA-46CC-988E-C85EA63088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998" y="802513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3399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51" y="1072992"/>
            <a:ext cx="10515600" cy="132556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Comic Sans MS" panose="030F0702030302020204" pitchFamily="66" charset="0"/>
              </a:rPr>
              <a:t>Plenary</a:t>
            </a:r>
            <a:r>
              <a:rPr lang="en-US" sz="3200" dirty="0">
                <a:latin typeface="Comic Sans MS" panose="030F0702030302020204" pitchFamily="66" charset="0"/>
              </a:rPr>
              <a:t> – Let’s see what interesting places in the world are on the same latitude and longitude as Hanoi.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Understand, with support, most of the detail of an argument in short and extended texts.</a:t>
            </a:r>
            <a:r>
              <a:rPr lang="en-US" b="1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1243083" y="6211669"/>
            <a:ext cx="91007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  <a:hlinkClick r:id="rId2"/>
              </a:rPr>
              <a:t>https://earth.google.com/web/@21.36054084,105.24218142,375.18837593a,543830.30304641d,35y,0.00026381h,0t,0r/data=OgMKATA</a:t>
            </a: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8323" y="2794522"/>
            <a:ext cx="621030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352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19154</TotalTime>
  <Words>952</Words>
  <Application>Microsoft Office PowerPoint</Application>
  <PresentationFormat>Widescreen</PresentationFormat>
  <Paragraphs>97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Comic Sans MS</vt:lpstr>
      <vt:lpstr>Times New Roman</vt:lpstr>
      <vt:lpstr>Twinkl</vt:lpstr>
      <vt:lpstr>Office Theme</vt:lpstr>
      <vt:lpstr>English </vt:lpstr>
      <vt:lpstr>PowerPoint Presentation</vt:lpstr>
      <vt:lpstr>Retrieval Practice – What tenses are the following sentences written in?</vt:lpstr>
      <vt:lpstr>Starter– Geography quiz!</vt:lpstr>
      <vt:lpstr>Question 1:</vt:lpstr>
      <vt:lpstr>Question 2:</vt:lpstr>
      <vt:lpstr>Question 3:</vt:lpstr>
      <vt:lpstr>Question 4:</vt:lpstr>
      <vt:lpstr>Question 5:</vt:lpstr>
      <vt:lpstr>PowerPoint Presentation</vt:lpstr>
      <vt:lpstr>How can we tell people where in the world we are?</vt:lpstr>
      <vt:lpstr>Look at this address of Vinschool Metropolis.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Plenary – Let’s see what interesting places in the world are on the same latitude and longitude as Hanoi.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</dc:title>
  <dc:creator>Jonathan Michael Holliday (VSC-KTiH-MB)</dc:creator>
  <cp:lastModifiedBy>Colette Aisling Meade (VSC-KTiH-MB)</cp:lastModifiedBy>
  <cp:revision>63</cp:revision>
  <dcterms:created xsi:type="dcterms:W3CDTF">2022-08-15T06:38:27Z</dcterms:created>
  <dcterms:modified xsi:type="dcterms:W3CDTF">2026-08-11T14:54:48Z</dcterms:modified>
</cp:coreProperties>
</file>
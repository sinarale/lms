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49" d="100"/>
          <a:sy n="49" d="100"/>
        </p:scale>
        <p:origin x="9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7825-F438-4BBA-981C-F2F022C88630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5DA4-3471-4D3F-8446-175D7385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336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7825-F438-4BBA-981C-F2F022C88630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5DA4-3471-4D3F-8446-175D7385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401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7825-F438-4BBA-981C-F2F022C88630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5DA4-3471-4D3F-8446-175D7385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294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7825-F438-4BBA-981C-F2F022C88630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5DA4-3471-4D3F-8446-175D7385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04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7825-F438-4BBA-981C-F2F022C88630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5DA4-3471-4D3F-8446-175D7385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35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7825-F438-4BBA-981C-F2F022C88630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5DA4-3471-4D3F-8446-175D7385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011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7825-F438-4BBA-981C-F2F022C88630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5DA4-3471-4D3F-8446-175D7385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408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7825-F438-4BBA-981C-F2F022C88630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5DA4-3471-4D3F-8446-175D7385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846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7825-F438-4BBA-981C-F2F022C88630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5DA4-3471-4D3F-8446-175D7385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20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7825-F438-4BBA-981C-F2F022C88630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5DA4-3471-4D3F-8446-175D7385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714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7825-F438-4BBA-981C-F2F022C88630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5DA4-3471-4D3F-8446-175D7385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362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1C7825-F438-4BBA-981C-F2F022C88630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65DA4-3471-4D3F-8446-175D7385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710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5230" y="-98475"/>
            <a:ext cx="5462954" cy="1667095"/>
          </a:xfrm>
        </p:spPr>
        <p:txBody>
          <a:bodyPr>
            <a:normAutofit/>
          </a:bodyPr>
          <a:lstStyle/>
          <a:p>
            <a:r>
              <a:rPr lang="en-US" sz="8800" dirty="0" err="1">
                <a:latin typeface="Comic Sans MS" panose="030F0702030302020204" pitchFamily="66" charset="0"/>
              </a:rPr>
              <a:t>Maths</a:t>
            </a:r>
            <a:r>
              <a:rPr lang="en-US" sz="8800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4172" y="1909814"/>
            <a:ext cx="12017828" cy="4061472"/>
          </a:xfrm>
        </p:spPr>
        <p:txBody>
          <a:bodyPr>
            <a:normAutofit/>
          </a:bodyPr>
          <a:lstStyle/>
          <a:p>
            <a:pPr algn="l"/>
            <a:r>
              <a:rPr lang="en-US" sz="4800" b="1" u="sng" dirty="0">
                <a:latin typeface="Comic Sans MS" panose="030F0702030302020204" pitchFamily="66" charset="0"/>
              </a:rPr>
              <a:t>WALT:</a:t>
            </a:r>
          </a:p>
          <a:p>
            <a:pPr algn="l"/>
            <a:r>
              <a:rPr lang="en-US" sz="4800" b="1" u="sng" dirty="0">
                <a:latin typeface="Comic Sans MS" panose="030F0702030302020204" pitchFamily="66" charset="0"/>
              </a:rPr>
              <a:t>To consolidate my understanding of adding and subtracting with negative integers.</a:t>
            </a:r>
            <a:endParaRPr lang="en-US" sz="4800" u="sng" dirty="0"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35292" y="552174"/>
            <a:ext cx="27562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Unit 4 – Addition and Subtraction</a:t>
            </a:r>
          </a:p>
        </p:txBody>
      </p:sp>
    </p:spTree>
    <p:extLst>
      <p:ext uri="{BB962C8B-B14F-4D97-AF65-F5344CB8AC3E}">
        <p14:creationId xmlns:p14="http://schemas.microsoft.com/office/powerpoint/2010/main" val="1560704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Comic Sans MS" panose="030F0702030302020204" pitchFamily="66" charset="0"/>
              </a:rPr>
              <a:t>I can answer questions adding and subtracting negative integers.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answer worded questions adding and subtracting negative integers.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prove my answers.</a:t>
            </a:r>
          </a:p>
        </p:txBody>
      </p:sp>
      <p:sp>
        <p:nvSpPr>
          <p:cNvPr id="12" name="Subtitle 2"/>
          <p:cNvSpPr txBox="1">
            <a:spLocks/>
          </p:cNvSpPr>
          <p:nvPr/>
        </p:nvSpPr>
        <p:spPr>
          <a:xfrm>
            <a:off x="426150" y="205010"/>
            <a:ext cx="11494242" cy="12173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To consolidate my understanding of adding and subtracting with negative integers.</a:t>
            </a: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5068E3F-94AE-4B3C-830A-8CE8C5DDB3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210636"/>
            <a:ext cx="1102890" cy="2123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F759C87-BB0D-40D5-9D33-9176E95C85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950957"/>
            <a:ext cx="1102890" cy="23052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A5DA73E-70B1-4675-86B4-637D555554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837492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330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/>
          <p:cNvSpPr txBox="1">
            <a:spLocks/>
          </p:cNvSpPr>
          <p:nvPr/>
        </p:nvSpPr>
        <p:spPr>
          <a:xfrm>
            <a:off x="180490" y="959660"/>
            <a:ext cx="11509612" cy="925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>
                <a:latin typeface="Comic Sans MS" panose="030F0702030302020204" pitchFamily="66" charset="0"/>
              </a:rPr>
              <a:t>Retrieval Practice</a:t>
            </a: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426150" y="205010"/>
            <a:ext cx="11494242" cy="12173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To consolidate my understanding of adding and subtracting with negative integers.</a:t>
            </a: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C566A55C-B7AF-4C82-A74F-3C199016A0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537145"/>
              </p:ext>
            </p:extLst>
          </p:nvPr>
        </p:nvGraphicFramePr>
        <p:xfrm>
          <a:off x="542834" y="3039302"/>
          <a:ext cx="10883040" cy="1616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608">
                  <a:extLst>
                    <a:ext uri="{9D8B030D-6E8A-4147-A177-3AD203B41FA5}">
                      <a16:colId xmlns:a16="http://schemas.microsoft.com/office/drawing/2014/main" val="3425983239"/>
                    </a:ext>
                  </a:extLst>
                </a:gridCol>
                <a:gridCol w="2176608">
                  <a:extLst>
                    <a:ext uri="{9D8B030D-6E8A-4147-A177-3AD203B41FA5}">
                      <a16:colId xmlns:a16="http://schemas.microsoft.com/office/drawing/2014/main" val="2783225217"/>
                    </a:ext>
                  </a:extLst>
                </a:gridCol>
                <a:gridCol w="2176608">
                  <a:extLst>
                    <a:ext uri="{9D8B030D-6E8A-4147-A177-3AD203B41FA5}">
                      <a16:colId xmlns:a16="http://schemas.microsoft.com/office/drawing/2014/main" val="1256795611"/>
                    </a:ext>
                  </a:extLst>
                </a:gridCol>
                <a:gridCol w="2176608">
                  <a:extLst>
                    <a:ext uri="{9D8B030D-6E8A-4147-A177-3AD203B41FA5}">
                      <a16:colId xmlns:a16="http://schemas.microsoft.com/office/drawing/2014/main" val="4231206122"/>
                    </a:ext>
                  </a:extLst>
                </a:gridCol>
                <a:gridCol w="2176608">
                  <a:extLst>
                    <a:ext uri="{9D8B030D-6E8A-4147-A177-3AD203B41FA5}">
                      <a16:colId xmlns:a16="http://schemas.microsoft.com/office/drawing/2014/main" val="2165709202"/>
                    </a:ext>
                  </a:extLst>
                </a:gridCol>
              </a:tblGrid>
              <a:tr h="808451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omic Sans MS" panose="030F0702030302020204" pitchFamily="66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omic Sans MS" panose="030F0702030302020204" pitchFamily="66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omic Sans MS" panose="030F0702030302020204" pitchFamily="66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omic Sans MS" panose="030F0702030302020204" pitchFamily="66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omic Sans MS" panose="030F0702030302020204" pitchFamily="66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7478681"/>
                  </a:ext>
                </a:extLst>
              </a:tr>
              <a:tr h="808451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omic Sans MS" panose="030F0702030302020204" pitchFamily="66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omic Sans MS" panose="030F0702030302020204" pitchFamily="66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latin typeface="Comic Sans MS" panose="030F0702030302020204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latin typeface="Comic Sans MS" panose="030F0702030302020204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omic Sans MS" panose="030F0702030302020204" pitchFamily="66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545043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B825AAD-3FED-435E-B23D-A27064451C38}"/>
              </a:ext>
            </a:extLst>
          </p:cNvPr>
          <p:cNvSpPr txBox="1"/>
          <p:nvPr/>
        </p:nvSpPr>
        <p:spPr>
          <a:xfrm>
            <a:off x="862727" y="5384209"/>
            <a:ext cx="144462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omic Sans MS" panose="030F0702030302020204" pitchFamily="66" charset="0"/>
              </a:rPr>
              <a:t>x2 + 1</a:t>
            </a:r>
          </a:p>
          <a:p>
            <a:endParaRPr lang="en-US" sz="3600" dirty="0">
              <a:latin typeface="Comic Sans MS" panose="030F0702030302020204" pitchFamily="66" charset="0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21A430-AE42-4655-9CA8-FB1B8C870FEF}"/>
              </a:ext>
            </a:extLst>
          </p:cNvPr>
          <p:cNvSpPr txBox="1"/>
          <p:nvPr/>
        </p:nvSpPr>
        <p:spPr>
          <a:xfrm>
            <a:off x="332890" y="2037540"/>
            <a:ext cx="1124538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mic Sans MS" panose="030F0702030302020204" pitchFamily="66" charset="0"/>
              </a:rPr>
              <a:t>What is the position to term rule of this sequence?</a:t>
            </a:r>
          </a:p>
          <a:p>
            <a:endParaRPr lang="en-US" sz="3600" dirty="0">
              <a:latin typeface="Comic Sans MS" panose="030F0702030302020204" pitchFamily="66" charset="0"/>
            </a:endParaRPr>
          </a:p>
          <a:p>
            <a:endParaRPr lang="en-US" sz="3600" dirty="0">
              <a:latin typeface="Comic Sans MS" panose="030F0702030302020204" pitchFamily="66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548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426150" y="205010"/>
            <a:ext cx="11494242" cy="12173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To consolidate my understanding of adding and subtracting with negative integers.</a:t>
            </a: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1608" y="1308553"/>
            <a:ext cx="1152141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Starter- </a:t>
            </a:r>
          </a:p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TTYP - What is an integer?</a:t>
            </a:r>
          </a:p>
          <a:p>
            <a:endParaRPr lang="en-US" sz="32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endParaRPr lang="en-US" sz="32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0BCB14-E2C0-4D7D-9DB9-526578AA7104}"/>
              </a:ext>
            </a:extLst>
          </p:cNvPr>
          <p:cNvSpPr txBox="1"/>
          <p:nvPr/>
        </p:nvSpPr>
        <p:spPr>
          <a:xfrm>
            <a:off x="398979" y="2743200"/>
            <a:ext cx="832952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mic Sans MS" panose="030F0702030302020204" pitchFamily="66" charset="0"/>
              </a:rPr>
              <a:t>A whole number that is not a fraction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sz="3600" dirty="0">
                <a:latin typeface="Comic Sans MS" panose="030F0702030302020204" pitchFamily="66" charset="0"/>
              </a:rPr>
              <a:t>Can an integer be a negative number?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434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426150" y="205010"/>
            <a:ext cx="11494242" cy="12173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To consolidate my understanding of adding and subtracting with negative integers.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8489EA-44F6-4EDD-B6E9-53F39A80D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50" y="1775096"/>
            <a:ext cx="11527227" cy="10595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F6C95E0-6B07-4A69-8526-546FD568E6B6}"/>
              </a:ext>
            </a:extLst>
          </p:cNvPr>
          <p:cNvSpPr txBox="1"/>
          <p:nvPr/>
        </p:nvSpPr>
        <p:spPr>
          <a:xfrm>
            <a:off x="7053943" y="3544447"/>
            <a:ext cx="1778051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10 – 26 = </a:t>
            </a:r>
          </a:p>
          <a:p>
            <a:endParaRPr lang="en-US" sz="2800" dirty="0">
              <a:latin typeface="Comic Sans MS" panose="030F0702030302020204" pitchFamily="66" charset="0"/>
            </a:endParaRPr>
          </a:p>
          <a:p>
            <a:r>
              <a:rPr lang="en-US" sz="2800" dirty="0">
                <a:latin typeface="Comic Sans MS" panose="030F0702030302020204" pitchFamily="66" charset="0"/>
              </a:rPr>
              <a:t>-6 + 15 = </a:t>
            </a:r>
          </a:p>
          <a:p>
            <a:endParaRPr lang="en-US" sz="2800" dirty="0">
              <a:latin typeface="Comic Sans MS" panose="030F0702030302020204" pitchFamily="66" charset="0"/>
            </a:endParaRPr>
          </a:p>
          <a:p>
            <a:r>
              <a:rPr lang="en-US" sz="2800" dirty="0">
                <a:latin typeface="Comic Sans MS" panose="030F0702030302020204" pitchFamily="66" charset="0"/>
              </a:rPr>
              <a:t>-12 – 7 = </a:t>
            </a:r>
          </a:p>
          <a:p>
            <a:endParaRPr lang="en-US" sz="2800" dirty="0">
              <a:latin typeface="Comic Sans MS" panose="030F0702030302020204" pitchFamily="66" charset="0"/>
            </a:endParaRPr>
          </a:p>
          <a:p>
            <a:r>
              <a:rPr lang="en-US" sz="2800" dirty="0">
                <a:latin typeface="Comic Sans MS" panose="030F0702030302020204" pitchFamily="66" charset="0"/>
              </a:rPr>
              <a:t>-4 + 12 =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FFC331-A6C4-4D6A-86C6-0C93FFC3276A}"/>
              </a:ext>
            </a:extLst>
          </p:cNvPr>
          <p:cNvSpPr txBox="1"/>
          <p:nvPr/>
        </p:nvSpPr>
        <p:spPr>
          <a:xfrm>
            <a:off x="831669" y="3581400"/>
            <a:ext cx="1997663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7 – 11 = </a:t>
            </a:r>
          </a:p>
          <a:p>
            <a:endParaRPr lang="en-US" sz="2800" dirty="0">
              <a:latin typeface="Comic Sans MS" panose="030F0702030302020204" pitchFamily="66" charset="0"/>
            </a:endParaRPr>
          </a:p>
          <a:p>
            <a:r>
              <a:rPr lang="en-US" sz="2800" dirty="0">
                <a:latin typeface="Comic Sans MS" panose="030F0702030302020204" pitchFamily="66" charset="0"/>
              </a:rPr>
              <a:t>-3 + 8 = </a:t>
            </a:r>
          </a:p>
          <a:p>
            <a:endParaRPr lang="en-US" sz="2800" dirty="0">
              <a:latin typeface="Comic Sans MS" panose="030F0702030302020204" pitchFamily="66" charset="0"/>
            </a:endParaRPr>
          </a:p>
          <a:p>
            <a:r>
              <a:rPr lang="en-US" sz="2800" dirty="0">
                <a:latin typeface="Comic Sans MS" panose="030F0702030302020204" pitchFamily="66" charset="0"/>
              </a:rPr>
              <a:t>-9 – 4 = </a:t>
            </a:r>
          </a:p>
          <a:p>
            <a:endParaRPr lang="en-US" sz="2800" dirty="0">
              <a:latin typeface="Comic Sans MS" panose="030F0702030302020204" pitchFamily="66" charset="0"/>
            </a:endParaRPr>
          </a:p>
          <a:p>
            <a:r>
              <a:rPr lang="en-US" sz="2800" dirty="0">
                <a:latin typeface="Comic Sans MS" panose="030F0702030302020204" pitchFamily="66" charset="0"/>
              </a:rPr>
              <a:t>-20 + 25 =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851E9C-1432-45CB-933F-09491F55890E}"/>
              </a:ext>
            </a:extLst>
          </p:cNvPr>
          <p:cNvSpPr txBox="1"/>
          <p:nvPr/>
        </p:nvSpPr>
        <p:spPr>
          <a:xfrm>
            <a:off x="2208847" y="3548860"/>
            <a:ext cx="12409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Comic Sans MS" panose="030F0702030302020204" pitchFamily="66" charset="0"/>
              </a:rPr>
              <a:t>-4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3EFABA-A119-445E-9C20-91D9457EC6FF}"/>
              </a:ext>
            </a:extLst>
          </p:cNvPr>
          <p:cNvSpPr txBox="1"/>
          <p:nvPr/>
        </p:nvSpPr>
        <p:spPr>
          <a:xfrm>
            <a:off x="2208847" y="4419717"/>
            <a:ext cx="12409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Comic Sans MS" panose="030F0702030302020204" pitchFamily="66" charset="0"/>
              </a:rPr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924E42-8120-47AA-8BC7-C29A55203F49}"/>
              </a:ext>
            </a:extLst>
          </p:cNvPr>
          <p:cNvSpPr txBox="1"/>
          <p:nvPr/>
        </p:nvSpPr>
        <p:spPr>
          <a:xfrm>
            <a:off x="2208847" y="5227437"/>
            <a:ext cx="12409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Comic Sans MS" panose="030F0702030302020204" pitchFamily="66" charset="0"/>
              </a:rPr>
              <a:t>-13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BCF3B1-0605-401B-8F23-3F9737ADAB1B}"/>
              </a:ext>
            </a:extLst>
          </p:cNvPr>
          <p:cNvSpPr txBox="1"/>
          <p:nvPr/>
        </p:nvSpPr>
        <p:spPr>
          <a:xfrm>
            <a:off x="2674756" y="6094734"/>
            <a:ext cx="12409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Comic Sans MS" panose="030F0702030302020204" pitchFamily="66" charset="0"/>
              </a:rPr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A2DE1E-645F-4351-8471-4D34A85D4C2E}"/>
              </a:ext>
            </a:extLst>
          </p:cNvPr>
          <p:cNvSpPr txBox="1"/>
          <p:nvPr/>
        </p:nvSpPr>
        <p:spPr>
          <a:xfrm>
            <a:off x="8742183" y="3492137"/>
            <a:ext cx="12409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Comic Sans MS" panose="030F0702030302020204" pitchFamily="66" charset="0"/>
              </a:rPr>
              <a:t>-16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FF59E2-E20F-4F7D-B115-52056C6AA20E}"/>
              </a:ext>
            </a:extLst>
          </p:cNvPr>
          <p:cNvSpPr txBox="1"/>
          <p:nvPr/>
        </p:nvSpPr>
        <p:spPr>
          <a:xfrm>
            <a:off x="8706395" y="4419717"/>
            <a:ext cx="12409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Comic Sans MS" panose="030F0702030302020204" pitchFamily="66" charset="0"/>
              </a:rPr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F75EA9-DFB2-441C-BE88-753816C6BF1B}"/>
              </a:ext>
            </a:extLst>
          </p:cNvPr>
          <p:cNvSpPr txBox="1"/>
          <p:nvPr/>
        </p:nvSpPr>
        <p:spPr>
          <a:xfrm>
            <a:off x="8706395" y="5227437"/>
            <a:ext cx="12409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Comic Sans MS" panose="030F0702030302020204" pitchFamily="66" charset="0"/>
              </a:rPr>
              <a:t>-19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47B0D6-BFE6-46EC-892F-44D883C1416B}"/>
              </a:ext>
            </a:extLst>
          </p:cNvPr>
          <p:cNvSpPr txBox="1"/>
          <p:nvPr/>
        </p:nvSpPr>
        <p:spPr>
          <a:xfrm>
            <a:off x="8605293" y="6066633"/>
            <a:ext cx="12409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Comic Sans MS" panose="030F0702030302020204" pitchFamily="66" charset="0"/>
              </a:rPr>
              <a:t>8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1895B5B-2AF8-4557-8BAC-44CDFF2D69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813705"/>
            <a:ext cx="550345" cy="105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947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426150" y="205010"/>
            <a:ext cx="11494242" cy="12173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To consolidate my understanding of adding and subtracting with negative integers.</a:t>
            </a:r>
          </a:p>
          <a:p>
            <a:pPr marL="0" indent="0">
              <a:buNone/>
            </a:pPr>
            <a:endParaRPr lang="en-US" sz="2000" dirty="0">
              <a:latin typeface="Comic Sans MS" panose="030F0702030302020204" pitchFamily="66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23C63E-BBEC-412D-BC29-A4B689866A8F}"/>
              </a:ext>
            </a:extLst>
          </p:cNvPr>
          <p:cNvSpPr txBox="1"/>
          <p:nvPr/>
        </p:nvSpPr>
        <p:spPr>
          <a:xfrm>
            <a:off x="661852" y="1422400"/>
            <a:ext cx="11061041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The temperature in London is 4°C.</a:t>
            </a:r>
          </a:p>
          <a:p>
            <a:r>
              <a:rPr lang="en-US" sz="2800" dirty="0">
                <a:latin typeface="Comic Sans MS" panose="030F0702030302020204" pitchFamily="66" charset="0"/>
              </a:rPr>
              <a:t>Overnight it falls to -6°C.  </a:t>
            </a:r>
          </a:p>
          <a:p>
            <a:r>
              <a:rPr lang="en-US" sz="2800" dirty="0">
                <a:latin typeface="Comic Sans MS" panose="030F0702030302020204" pitchFamily="66" charset="0"/>
              </a:rPr>
              <a:t>What is the difference between the day and night temperature?</a:t>
            </a:r>
          </a:p>
          <a:p>
            <a:endParaRPr lang="en-US" sz="2800" dirty="0">
              <a:latin typeface="Comic Sans MS" panose="030F0702030302020204" pitchFamily="66" charset="0"/>
            </a:endParaRPr>
          </a:p>
          <a:p>
            <a:endParaRPr lang="en-US" sz="2800" dirty="0">
              <a:latin typeface="Comic Sans MS" panose="030F0702030302020204" pitchFamily="66" charset="0"/>
            </a:endParaRPr>
          </a:p>
          <a:p>
            <a:endParaRPr lang="en-US" sz="2800" dirty="0">
              <a:latin typeface="Comic Sans MS" panose="030F0702030302020204" pitchFamily="66" charset="0"/>
            </a:endParaRPr>
          </a:p>
          <a:p>
            <a:r>
              <a:rPr lang="en-US" sz="2800" dirty="0">
                <a:latin typeface="Comic Sans MS" panose="030F0702030302020204" pitchFamily="66" charset="0"/>
              </a:rPr>
              <a:t>On Tuesday, the temperature is 9°C.  </a:t>
            </a:r>
          </a:p>
          <a:p>
            <a:r>
              <a:rPr lang="en-US" sz="2800" dirty="0">
                <a:latin typeface="Comic Sans MS" panose="030F0702030302020204" pitchFamily="66" charset="0"/>
              </a:rPr>
              <a:t>Overnight the temperature falls by 15°C.</a:t>
            </a:r>
          </a:p>
          <a:p>
            <a:r>
              <a:rPr lang="en-US" sz="2800" dirty="0">
                <a:latin typeface="Comic Sans MS" panose="030F0702030302020204" pitchFamily="66" charset="0"/>
              </a:rPr>
              <a:t>What is the temperature in the morning?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9A684A-F116-43DC-9FD3-6621A2FF76A1}"/>
              </a:ext>
            </a:extLst>
          </p:cNvPr>
          <p:cNvSpPr txBox="1"/>
          <p:nvPr/>
        </p:nvSpPr>
        <p:spPr>
          <a:xfrm>
            <a:off x="757646" y="2815046"/>
            <a:ext cx="128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Comic Sans MS" panose="030F0702030302020204" pitchFamily="66" charset="0"/>
              </a:rPr>
              <a:t>10°C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1CE245-C4F8-4C42-9A9A-68037AF2C71C}"/>
              </a:ext>
            </a:extLst>
          </p:cNvPr>
          <p:cNvSpPr txBox="1"/>
          <p:nvPr/>
        </p:nvSpPr>
        <p:spPr>
          <a:xfrm>
            <a:off x="757646" y="5435600"/>
            <a:ext cx="128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Comic Sans MS" panose="030F0702030302020204" pitchFamily="66" charset="0"/>
              </a:rPr>
              <a:t>-6°C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6AF6DFD-E1EB-4A95-B6F6-91DC8DCF6C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7147" y="659745"/>
            <a:ext cx="688703" cy="1439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762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426150" y="205010"/>
            <a:ext cx="11494242" cy="12173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To consolidate my understanding of adding and subtracting with negative integers.</a:t>
            </a: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4BEE3D-C64D-4C05-81C7-BA7D130BAB91}"/>
              </a:ext>
            </a:extLst>
          </p:cNvPr>
          <p:cNvSpPr txBox="1"/>
          <p:nvPr/>
        </p:nvSpPr>
        <p:spPr>
          <a:xfrm>
            <a:off x="642750" y="1605280"/>
            <a:ext cx="1049986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Ms. Colette has 550k VND in her bank account.  She buys a bracelet for 835k VND.  </a:t>
            </a:r>
          </a:p>
          <a:p>
            <a:r>
              <a:rPr lang="en-US" sz="2800" dirty="0">
                <a:latin typeface="Comic Sans MS" panose="030F0702030302020204" pitchFamily="66" charset="0"/>
              </a:rPr>
              <a:t>How much money does she have in her bank account? </a:t>
            </a:r>
          </a:p>
          <a:p>
            <a:endParaRPr lang="en-US" sz="2800" dirty="0">
              <a:latin typeface="Comic Sans MS" panose="030F0702030302020204" pitchFamily="66" charset="0"/>
            </a:endParaRPr>
          </a:p>
          <a:p>
            <a:endParaRPr lang="en-US" sz="2800" dirty="0">
              <a:latin typeface="Comic Sans MS" panose="030F0702030302020204" pitchFamily="66" charset="0"/>
            </a:endParaRPr>
          </a:p>
          <a:p>
            <a:r>
              <a:rPr lang="en-US" sz="2800" dirty="0">
                <a:latin typeface="Comic Sans MS" panose="030F0702030302020204" pitchFamily="66" charset="0"/>
              </a:rPr>
              <a:t>What is the difference between the bracelet and the amount of money she has in her bank account?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8AD771-0D6B-4051-A20E-720774312FD8}"/>
              </a:ext>
            </a:extLst>
          </p:cNvPr>
          <p:cNvSpPr txBox="1"/>
          <p:nvPr/>
        </p:nvSpPr>
        <p:spPr>
          <a:xfrm>
            <a:off x="744583" y="2984863"/>
            <a:ext cx="25864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Comic Sans MS" panose="030F0702030302020204" pitchFamily="66" charset="0"/>
              </a:rPr>
              <a:t>-285K VND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B39A74-25F7-4BB0-BF32-9528D838BBE0}"/>
              </a:ext>
            </a:extLst>
          </p:cNvPr>
          <p:cNvSpPr txBox="1"/>
          <p:nvPr/>
        </p:nvSpPr>
        <p:spPr>
          <a:xfrm>
            <a:off x="642750" y="4896703"/>
            <a:ext cx="25864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Comic Sans MS" panose="030F0702030302020204" pitchFamily="66" charset="0"/>
              </a:rPr>
              <a:t>285K VND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3FF17BB-7FD2-42DB-8D82-D9C607E293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7147" y="702627"/>
            <a:ext cx="688703" cy="1439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47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58E5608C-4D0A-424E-8D57-273A4F3D249A}"/>
              </a:ext>
            </a:extLst>
          </p:cNvPr>
          <p:cNvSpPr txBox="1">
            <a:spLocks/>
          </p:cNvSpPr>
          <p:nvPr/>
        </p:nvSpPr>
        <p:spPr>
          <a:xfrm>
            <a:off x="426150" y="205010"/>
            <a:ext cx="11494242" cy="12173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To consolidate my understanding of adding and subtracting with negative integers.</a:t>
            </a: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9972B8-DA3D-4C15-B37A-D1E5F2CDB2BA}"/>
              </a:ext>
            </a:extLst>
          </p:cNvPr>
          <p:cNvSpPr txBox="1"/>
          <p:nvPr/>
        </p:nvSpPr>
        <p:spPr>
          <a:xfrm>
            <a:off x="426150" y="1342571"/>
            <a:ext cx="104998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latin typeface="Comic Sans MS" panose="030F0702030302020204" pitchFamily="66" charset="0"/>
              </a:rPr>
              <a:t>Your Task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E7CFF2-C233-40B7-B33A-D5307631F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50" y="2113626"/>
            <a:ext cx="5264833" cy="45393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871B27-7C8A-45C4-9EA4-CBB0CC596A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332" y="813705"/>
            <a:ext cx="4210410" cy="5536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045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Comic Sans MS" panose="030F0702030302020204" pitchFamily="66" charset="0"/>
              </a:rPr>
              <a:t>I can answer questions adding and subtracting negative integers.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answer worded questions adding and subtracting negative integers.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prove my answers.</a:t>
            </a:r>
          </a:p>
        </p:txBody>
      </p:sp>
      <p:sp>
        <p:nvSpPr>
          <p:cNvPr id="12" name="Subtitle 2"/>
          <p:cNvSpPr txBox="1">
            <a:spLocks/>
          </p:cNvSpPr>
          <p:nvPr/>
        </p:nvSpPr>
        <p:spPr>
          <a:xfrm>
            <a:off x="426150" y="205010"/>
            <a:ext cx="11494242" cy="12173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To consolidate my understanding of adding and subtracting with negative integers.</a:t>
            </a: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5068E3F-94AE-4B3C-830A-8CE8C5DDB3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210636"/>
            <a:ext cx="1102890" cy="2123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F759C87-BB0D-40D5-9D33-9176E95C85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950957"/>
            <a:ext cx="1102890" cy="23052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A5DA73E-70B1-4675-86B4-637D555554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837492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4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405</Words>
  <Application>Microsoft Office PowerPoint</Application>
  <PresentationFormat>Widescreen</PresentationFormat>
  <Paragraphs>78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Comic Sans MS</vt:lpstr>
      <vt:lpstr>Office Theme</vt:lpstr>
      <vt:lpstr>Maths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Maths</dc:title>
  <dc:creator>Jonathan Michael Holliday (VSC-KTiH-MB)</dc:creator>
  <cp:lastModifiedBy>Colette</cp:lastModifiedBy>
  <cp:revision>20</cp:revision>
  <dcterms:created xsi:type="dcterms:W3CDTF">2024-09-30T00:30:15Z</dcterms:created>
  <dcterms:modified xsi:type="dcterms:W3CDTF">2025-09-23T01:43:44Z</dcterms:modified>
</cp:coreProperties>
</file>
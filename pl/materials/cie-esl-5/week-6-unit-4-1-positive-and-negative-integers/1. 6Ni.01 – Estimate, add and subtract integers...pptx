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hMgu8x5C+b1gBQubLg/DAt6UWI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1C0BCE6-36A9-4915-8FDB-F12CBEC9FF3A}">
  <a:tblStyle styleId="{61C0BCE6-36A9-4915-8FDB-F12CBEC9FF3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3165230" y="-98475"/>
            <a:ext cx="5462954" cy="1667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Comic Sans MS"/>
              <a:buNone/>
            </a:pPr>
            <a:r>
              <a:rPr lang="en-US" sz="9600">
                <a:latin typeface="Comic Sans MS"/>
                <a:ea typeface="Comic Sans MS"/>
                <a:cs typeface="Comic Sans MS"/>
                <a:sym typeface="Comic Sans MS"/>
              </a:rPr>
              <a:t>Maths 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478111" y="1909814"/>
            <a:ext cx="11272612" cy="4061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</a:pPr>
            <a:r>
              <a:rPr b="1" lang="en-US" sz="5100" u="sng">
                <a:latin typeface="Comic Sans MS"/>
                <a:ea typeface="Comic Sans MS"/>
                <a:cs typeface="Comic Sans MS"/>
                <a:sym typeface="Comic Sans MS"/>
              </a:rPr>
              <a:t>22.9.25</a:t>
            </a:r>
            <a:endParaRPr b="1" sz="5100" u="sng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</a:pPr>
            <a:r>
              <a:rPr b="1" lang="en-US" sz="5100" u="sng">
                <a:latin typeface="Comic Sans MS"/>
                <a:ea typeface="Comic Sans MS"/>
                <a:cs typeface="Comic Sans MS"/>
                <a:sym typeface="Comic Sans MS"/>
              </a:rPr>
              <a:t>WALT:</a:t>
            </a:r>
            <a:endParaRPr sz="2100" u="sng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</a:pPr>
            <a:r>
              <a:rPr b="1" lang="en-US" sz="5100" u="sng">
                <a:latin typeface="Comic Sans MS"/>
                <a:ea typeface="Comic Sans MS"/>
                <a:cs typeface="Comic Sans MS"/>
                <a:sym typeface="Comic Sans MS"/>
              </a:rPr>
              <a:t>6Ni.01 – </a:t>
            </a:r>
            <a:r>
              <a:rPr lang="en-US" sz="5100" u="sng">
                <a:latin typeface="Comic Sans MS"/>
                <a:ea typeface="Comic Sans MS"/>
                <a:cs typeface="Comic Sans MS"/>
                <a:sym typeface="Comic Sans MS"/>
              </a:rPr>
              <a:t>To estimate, add and subtract integers.</a:t>
            </a:r>
            <a:endParaRPr sz="2100" u="sng"/>
          </a:p>
        </p:txBody>
      </p:sp>
      <p:sp>
        <p:nvSpPr>
          <p:cNvPr id="86" name="Google Shape;86;p1"/>
          <p:cNvSpPr txBox="1"/>
          <p:nvPr/>
        </p:nvSpPr>
        <p:spPr>
          <a:xfrm>
            <a:off x="9135292" y="552174"/>
            <a:ext cx="275626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Unit 4 – Addition and Subtraction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With support, I can estimate, calculate and check addition questions.</a:t>
            </a: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Independently, I can estimate, calculate and check addition questions.</a:t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 can write an explanation that convinces someone estimating and checking are important.</a:t>
            </a:r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426150" y="205010"/>
            <a:ext cx="11494242" cy="622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WALT: </a:t>
            </a: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 estimate, add and subtract integers.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0662" y="1210636"/>
            <a:ext cx="1102890" cy="2123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4555" y="950957"/>
            <a:ext cx="1102890" cy="2305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93850" y="837492"/>
            <a:ext cx="1102890" cy="2496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426150" y="516157"/>
            <a:ext cx="10515600" cy="13887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mic Sans MS"/>
              <a:buNone/>
            </a:pPr>
            <a:r>
              <a:rPr lang="en-US" sz="2800">
                <a:latin typeface="Comic Sans MS"/>
                <a:ea typeface="Comic Sans MS"/>
                <a:cs typeface="Comic Sans MS"/>
                <a:sym typeface="Comic Sans MS"/>
              </a:rPr>
              <a:t>Retrieval Practice</a:t>
            </a:r>
            <a:endParaRPr/>
          </a:p>
        </p:txBody>
      </p:sp>
      <p:pic>
        <p:nvPicPr>
          <p:cNvPr id="103" name="Google Shape;10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1582" y="516157"/>
            <a:ext cx="6327445" cy="6288546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"/>
          <p:cNvSpPr txBox="1"/>
          <p:nvPr/>
        </p:nvSpPr>
        <p:spPr>
          <a:xfrm>
            <a:off x="6387152" y="6168788"/>
            <a:ext cx="70968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endParaRPr/>
          </a:p>
        </p:txBody>
      </p:sp>
      <p:sp>
        <p:nvSpPr>
          <p:cNvPr id="105" name="Google Shape;105;p3"/>
          <p:cNvSpPr txBox="1"/>
          <p:nvPr/>
        </p:nvSpPr>
        <p:spPr>
          <a:xfrm>
            <a:off x="984913" y="2584721"/>
            <a:ext cx="20721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Mean = 7</a:t>
            </a:r>
            <a:endParaRPr/>
          </a:p>
        </p:txBody>
      </p:sp>
      <p:cxnSp>
        <p:nvCxnSpPr>
          <p:cNvPr id="106" name="Google Shape;106;p3"/>
          <p:cNvCxnSpPr/>
          <p:nvPr/>
        </p:nvCxnSpPr>
        <p:spPr>
          <a:xfrm>
            <a:off x="4981433" y="4380931"/>
            <a:ext cx="3657600" cy="586854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7" name="Google Shape;107;p3"/>
          <p:cNvCxnSpPr/>
          <p:nvPr/>
        </p:nvCxnSpPr>
        <p:spPr>
          <a:xfrm>
            <a:off x="5104263" y="1452337"/>
            <a:ext cx="3657600" cy="586854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8" name="Google Shape;108;p3"/>
          <p:cNvCxnSpPr/>
          <p:nvPr/>
        </p:nvCxnSpPr>
        <p:spPr>
          <a:xfrm>
            <a:off x="5459786" y="3700777"/>
            <a:ext cx="3586803" cy="360585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9" name="Google Shape;109;p3"/>
          <p:cNvSpPr txBox="1"/>
          <p:nvPr/>
        </p:nvSpPr>
        <p:spPr>
          <a:xfrm>
            <a:off x="1951630" y="5172501"/>
            <a:ext cx="18473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8243247" y="6190103"/>
            <a:ext cx="70968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8</a:t>
            </a:r>
            <a:endParaRPr/>
          </a:p>
        </p:txBody>
      </p:sp>
      <p:cxnSp>
        <p:nvCxnSpPr>
          <p:cNvPr id="111" name="Google Shape;111;p3"/>
          <p:cNvCxnSpPr/>
          <p:nvPr/>
        </p:nvCxnSpPr>
        <p:spPr>
          <a:xfrm>
            <a:off x="5683950" y="2236480"/>
            <a:ext cx="3582880" cy="545838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2" name="Google Shape;112;p3"/>
          <p:cNvSpPr txBox="1"/>
          <p:nvPr/>
        </p:nvSpPr>
        <p:spPr>
          <a:xfrm>
            <a:off x="955869" y="3337264"/>
            <a:ext cx="281347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Median = 8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984913" y="4096792"/>
            <a:ext cx="281347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Mode = 9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9171295" y="6168787"/>
            <a:ext cx="70968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9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9880979" y="6168786"/>
            <a:ext cx="70968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9</a:t>
            </a:r>
            <a:endParaRPr/>
          </a:p>
        </p:txBody>
      </p:sp>
      <p:cxnSp>
        <p:nvCxnSpPr>
          <p:cNvPr id="116" name="Google Shape;116;p3"/>
          <p:cNvCxnSpPr/>
          <p:nvPr/>
        </p:nvCxnSpPr>
        <p:spPr>
          <a:xfrm>
            <a:off x="5402320" y="3004936"/>
            <a:ext cx="3586803" cy="360585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7" name="Google Shape;117;p3"/>
          <p:cNvSpPr txBox="1"/>
          <p:nvPr/>
        </p:nvSpPr>
        <p:spPr>
          <a:xfrm>
            <a:off x="7478973" y="6168785"/>
            <a:ext cx="70968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7</a:t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426150" y="205010"/>
            <a:ext cx="11494242" cy="622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WALT: </a:t>
            </a: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 estimate, add and subtract integers.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/>
          <p:nvPr>
            <p:ph type="title"/>
          </p:nvPr>
        </p:nvSpPr>
        <p:spPr>
          <a:xfrm>
            <a:off x="426150" y="62269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b="1" lang="en-US" sz="3600">
                <a:latin typeface="Comic Sans MS"/>
                <a:ea typeface="Comic Sans MS"/>
                <a:cs typeface="Comic Sans MS"/>
                <a:sym typeface="Comic Sans MS"/>
              </a:rPr>
              <a:t>Starter</a:t>
            </a:r>
            <a:r>
              <a:rPr lang="en-US" sz="3600">
                <a:latin typeface="Comic Sans MS"/>
                <a:ea typeface="Comic Sans MS"/>
                <a:cs typeface="Comic Sans MS"/>
                <a:sym typeface="Comic Sans MS"/>
              </a:rPr>
              <a:t> – Sort these numbers</a:t>
            </a:r>
            <a:endParaRPr/>
          </a:p>
        </p:txBody>
      </p:sp>
      <p:graphicFrame>
        <p:nvGraphicFramePr>
          <p:cNvPr id="124" name="Google Shape;124;p4"/>
          <p:cNvGraphicFramePr/>
          <p:nvPr/>
        </p:nvGraphicFramePr>
        <p:xfrm>
          <a:off x="2005120" y="18439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{61C0BCE6-36A9-4915-8FDB-F12CBEC9FF3A}</a:tableStyleId>
              </a:tblPr>
              <a:tblGrid>
                <a:gridCol w="3678825"/>
                <a:gridCol w="3678825"/>
              </a:tblGrid>
              <a:tr h="557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Integer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Not an integer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549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25" name="Google Shape;125;p4"/>
          <p:cNvSpPr txBox="1"/>
          <p:nvPr/>
        </p:nvSpPr>
        <p:spPr>
          <a:xfrm>
            <a:off x="426150" y="2347415"/>
            <a:ext cx="103416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-8</a:t>
            </a:r>
            <a:endParaRPr/>
          </a:p>
        </p:txBody>
      </p:sp>
      <p:sp>
        <p:nvSpPr>
          <p:cNvPr id="126" name="Google Shape;126;p4"/>
          <p:cNvSpPr txBox="1"/>
          <p:nvPr/>
        </p:nvSpPr>
        <p:spPr>
          <a:xfrm>
            <a:off x="426150" y="3908211"/>
            <a:ext cx="103416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5.67</a:t>
            </a:r>
            <a:endParaRPr/>
          </a:p>
        </p:txBody>
      </p:sp>
      <p:sp>
        <p:nvSpPr>
          <p:cNvPr id="127" name="Google Shape;127;p4"/>
          <p:cNvSpPr txBox="1"/>
          <p:nvPr/>
        </p:nvSpPr>
        <p:spPr>
          <a:xfrm>
            <a:off x="970960" y="5972472"/>
            <a:ext cx="103416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¼ 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4903788" y="6264859"/>
            <a:ext cx="190644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3,587 </a:t>
            </a:r>
            <a:endParaRPr/>
          </a:p>
        </p:txBody>
      </p:sp>
      <p:sp>
        <p:nvSpPr>
          <p:cNvPr id="129" name="Google Shape;129;p4"/>
          <p:cNvSpPr txBox="1"/>
          <p:nvPr/>
        </p:nvSpPr>
        <p:spPr>
          <a:xfrm>
            <a:off x="9572422" y="6123134"/>
            <a:ext cx="190644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17 </a:t>
            </a:r>
            <a:endParaRPr/>
          </a:p>
        </p:txBody>
      </p:sp>
      <p:sp>
        <p:nvSpPr>
          <p:cNvPr id="130" name="Google Shape;130;p4"/>
          <p:cNvSpPr txBox="1"/>
          <p:nvPr/>
        </p:nvSpPr>
        <p:spPr>
          <a:xfrm>
            <a:off x="10013949" y="2449045"/>
            <a:ext cx="190644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 ½  </a:t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10013949" y="4200598"/>
            <a:ext cx="190644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4</a:t>
            </a:r>
            <a:r>
              <a:rPr b="1" baseline="30000"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b="1"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/>
          </a:p>
        </p:txBody>
      </p:sp>
      <p:sp>
        <p:nvSpPr>
          <p:cNvPr id="132" name="Google Shape;132;p4"/>
          <p:cNvSpPr txBox="1"/>
          <p:nvPr/>
        </p:nvSpPr>
        <p:spPr>
          <a:xfrm>
            <a:off x="9988528" y="818896"/>
            <a:ext cx="190644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0</a:t>
            </a:r>
            <a:endParaRPr/>
          </a:p>
        </p:txBody>
      </p:sp>
      <p:sp>
        <p:nvSpPr>
          <p:cNvPr id="133" name="Google Shape;133;p4"/>
          <p:cNvSpPr txBox="1"/>
          <p:nvPr/>
        </p:nvSpPr>
        <p:spPr>
          <a:xfrm>
            <a:off x="426150" y="205010"/>
            <a:ext cx="11494242" cy="622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WALT: </a:t>
            </a: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 estimate, add and subtract integers.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 txBox="1"/>
          <p:nvPr>
            <p:ph type="title"/>
          </p:nvPr>
        </p:nvSpPr>
        <p:spPr>
          <a:xfrm>
            <a:off x="838200" y="75743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mic Sans MS"/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Add together these numbers.</a:t>
            </a:r>
            <a:endParaRPr/>
          </a:p>
        </p:txBody>
      </p:sp>
      <p:sp>
        <p:nvSpPr>
          <p:cNvPr id="139" name="Google Shape;139;p5"/>
          <p:cNvSpPr txBox="1"/>
          <p:nvPr>
            <p:ph idx="1" type="body"/>
          </p:nvPr>
        </p:nvSpPr>
        <p:spPr>
          <a:xfrm>
            <a:off x="55728" y="2770495"/>
            <a:ext cx="6040272" cy="3761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>
                <a:latin typeface="Comic Sans MS"/>
                <a:ea typeface="Comic Sans MS"/>
                <a:cs typeface="Comic Sans MS"/>
                <a:sym typeface="Comic Sans MS"/>
              </a:rPr>
              <a:t>Girls use a calculator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sz="36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>
                <a:latin typeface="Comic Sans MS"/>
                <a:ea typeface="Comic Sans MS"/>
                <a:cs typeface="Comic Sans MS"/>
                <a:sym typeface="Comic Sans MS"/>
              </a:rPr>
              <a:t>Boys don’t use a calculator</a:t>
            </a:r>
            <a:endParaRPr/>
          </a:p>
        </p:txBody>
      </p:sp>
      <p:sp>
        <p:nvSpPr>
          <p:cNvPr id="140" name="Google Shape;140;p5"/>
          <p:cNvSpPr txBox="1"/>
          <p:nvPr/>
        </p:nvSpPr>
        <p:spPr>
          <a:xfrm>
            <a:off x="8661884" y="757432"/>
            <a:ext cx="2975212" cy="5909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3004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3040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4003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3400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4030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4300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3400</a:t>
            </a:r>
            <a:endParaRPr/>
          </a:p>
        </p:txBody>
      </p:sp>
      <p:sp>
        <p:nvSpPr>
          <p:cNvPr id="141" name="Google Shape;141;p5"/>
          <p:cNvSpPr txBox="1"/>
          <p:nvPr/>
        </p:nvSpPr>
        <p:spPr>
          <a:xfrm>
            <a:off x="426150" y="205010"/>
            <a:ext cx="11494242" cy="622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WALT: </a:t>
            </a:r>
            <a:r>
              <a:rPr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 estimate, add and subtract integers.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"/>
          <p:cNvSpPr txBox="1"/>
          <p:nvPr>
            <p:ph type="title"/>
          </p:nvPr>
        </p:nvSpPr>
        <p:spPr>
          <a:xfrm>
            <a:off x="838200" y="1429489"/>
            <a:ext cx="549436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mic Sans MS"/>
              <a:buNone/>
            </a:pPr>
            <a:r>
              <a:rPr lang="en-US" sz="4000">
                <a:latin typeface="Comic Sans MS"/>
                <a:ea typeface="Comic Sans MS"/>
                <a:cs typeface="Comic Sans MS"/>
                <a:sym typeface="Comic Sans MS"/>
              </a:rPr>
              <a:t>Did you all get the same answer?</a:t>
            </a:r>
            <a:endParaRPr/>
          </a:p>
        </p:txBody>
      </p:sp>
      <p:sp>
        <p:nvSpPr>
          <p:cNvPr id="147" name="Google Shape;147;p6"/>
          <p:cNvSpPr txBox="1"/>
          <p:nvPr>
            <p:ph idx="1" type="body"/>
          </p:nvPr>
        </p:nvSpPr>
        <p:spPr>
          <a:xfrm>
            <a:off x="838200" y="3357236"/>
            <a:ext cx="5917442" cy="3925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n-US" sz="4000">
                <a:latin typeface="Comic Sans MS"/>
                <a:ea typeface="Comic Sans MS"/>
                <a:cs typeface="Comic Sans MS"/>
                <a:sym typeface="Comic Sans MS"/>
              </a:rPr>
              <a:t>What does this show us we need to do before we add large numbers together?</a:t>
            </a:r>
            <a:endParaRPr/>
          </a:p>
        </p:txBody>
      </p:sp>
      <p:sp>
        <p:nvSpPr>
          <p:cNvPr id="148" name="Google Shape;148;p6"/>
          <p:cNvSpPr txBox="1"/>
          <p:nvPr/>
        </p:nvSpPr>
        <p:spPr>
          <a:xfrm>
            <a:off x="8661884" y="757432"/>
            <a:ext cx="2975212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3004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3040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4003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3400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4030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4300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3400</a:t>
            </a:r>
            <a:endParaRPr/>
          </a:p>
        </p:txBody>
      </p:sp>
      <p:sp>
        <p:nvSpPr>
          <p:cNvPr id="149" name="Google Shape;149;p6"/>
          <p:cNvSpPr txBox="1"/>
          <p:nvPr/>
        </p:nvSpPr>
        <p:spPr>
          <a:xfrm>
            <a:off x="426150" y="205010"/>
            <a:ext cx="11494242" cy="622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WALT: </a:t>
            </a: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 estimate, add and subtract integers.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 txBox="1"/>
          <p:nvPr>
            <p:ph idx="1" type="body"/>
          </p:nvPr>
        </p:nvSpPr>
        <p:spPr>
          <a:xfrm>
            <a:off x="587356" y="1279715"/>
            <a:ext cx="1117182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>
                <a:latin typeface="Comic Sans MS"/>
                <a:ea typeface="Comic Sans MS"/>
                <a:cs typeface="Comic Sans MS"/>
                <a:sym typeface="Comic Sans MS"/>
              </a:rPr>
              <a:t>What was quicker, using the calculator or the written method?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>
                <a:latin typeface="Comic Sans MS"/>
                <a:ea typeface="Comic Sans MS"/>
                <a:cs typeface="Comic Sans MS"/>
                <a:sym typeface="Comic Sans MS"/>
              </a:rPr>
              <a:t>Which provided the most accurate results?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>
                <a:latin typeface="Comic Sans MS"/>
                <a:ea typeface="Comic Sans MS"/>
                <a:cs typeface="Comic Sans MS"/>
                <a:sym typeface="Comic Sans MS"/>
              </a:rPr>
              <a:t>Does using a calculator always give the right answer?</a:t>
            </a:r>
            <a:endParaRPr/>
          </a:p>
        </p:txBody>
      </p:sp>
      <p:pic>
        <p:nvPicPr>
          <p:cNvPr descr="Calculator - Wikipedia" id="155" name="Google Shape;15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7769" y="4118192"/>
            <a:ext cx="3044231" cy="273980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"/>
          <p:cNvSpPr txBox="1"/>
          <p:nvPr/>
        </p:nvSpPr>
        <p:spPr>
          <a:xfrm>
            <a:off x="426150" y="205010"/>
            <a:ext cx="11494242" cy="622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WALT: </a:t>
            </a: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 estimate, add and subtract integers.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 txBox="1"/>
          <p:nvPr>
            <p:ph type="title"/>
          </p:nvPr>
        </p:nvSpPr>
        <p:spPr>
          <a:xfrm>
            <a:off x="838200" y="99292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mic Sans MS"/>
              <a:buNone/>
            </a:pPr>
            <a:r>
              <a:rPr lang="en-US" sz="4000">
                <a:latin typeface="Comic Sans MS"/>
                <a:ea typeface="Comic Sans MS"/>
                <a:cs typeface="Comic Sans MS"/>
                <a:sym typeface="Comic Sans MS"/>
              </a:rPr>
              <a:t>Even when using a calculator you must:</a:t>
            </a:r>
            <a:endParaRPr/>
          </a:p>
        </p:txBody>
      </p:sp>
      <p:sp>
        <p:nvSpPr>
          <p:cNvPr id="162" name="Google Shape;162;p8"/>
          <p:cNvSpPr txBox="1"/>
          <p:nvPr>
            <p:ph idx="1" type="body"/>
          </p:nvPr>
        </p:nvSpPr>
        <p:spPr>
          <a:xfrm>
            <a:off x="838200" y="3084393"/>
            <a:ext cx="10515600" cy="30925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mic Sans MS"/>
              <a:buChar char="-"/>
            </a:pPr>
            <a:r>
              <a:rPr b="1" lang="en-US" sz="4000">
                <a:latin typeface="Comic Sans MS"/>
                <a:ea typeface="Comic Sans MS"/>
                <a:cs typeface="Comic Sans MS"/>
                <a:sym typeface="Comic Sans MS"/>
              </a:rPr>
              <a:t>Estimate your answer first.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t/>
            </a:r>
            <a:endParaRPr b="1" sz="40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54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mic Sans MS"/>
              <a:buChar char="-"/>
            </a:pPr>
            <a:r>
              <a:rPr b="1" lang="en-US" sz="4000">
                <a:latin typeface="Comic Sans MS"/>
                <a:ea typeface="Comic Sans MS"/>
                <a:cs typeface="Comic Sans MS"/>
                <a:sym typeface="Comic Sans MS"/>
              </a:rPr>
              <a:t>Check your answer.</a:t>
            </a:r>
            <a:endParaRPr/>
          </a:p>
        </p:txBody>
      </p:sp>
      <p:sp>
        <p:nvSpPr>
          <p:cNvPr id="163" name="Google Shape;163;p8"/>
          <p:cNvSpPr txBox="1"/>
          <p:nvPr/>
        </p:nvSpPr>
        <p:spPr>
          <a:xfrm>
            <a:off x="426150" y="205010"/>
            <a:ext cx="11494242" cy="622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WALT: </a:t>
            </a: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 estimate, add and subtract integers.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"/>
          <p:cNvSpPr txBox="1"/>
          <p:nvPr>
            <p:ph idx="1" type="body"/>
          </p:nvPr>
        </p:nvSpPr>
        <p:spPr>
          <a:xfrm>
            <a:off x="426150" y="1020407"/>
            <a:ext cx="11494242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>
                <a:latin typeface="Comic Sans MS"/>
                <a:ea typeface="Comic Sans MS"/>
                <a:cs typeface="Comic Sans MS"/>
                <a:sym typeface="Comic Sans MS"/>
              </a:rPr>
              <a:t>Checking an answer means you </a:t>
            </a:r>
            <a:r>
              <a:rPr b="1" lang="en-US" sz="3200">
                <a:latin typeface="Comic Sans MS"/>
                <a:ea typeface="Comic Sans MS"/>
                <a:cs typeface="Comic Sans MS"/>
                <a:sym typeface="Comic Sans MS"/>
              </a:rPr>
              <a:t>do the question again</a:t>
            </a:r>
            <a:r>
              <a:rPr lang="en-US" sz="3200">
                <a:latin typeface="Comic Sans MS"/>
                <a:ea typeface="Comic Sans MS"/>
                <a:cs typeface="Comic Sans MS"/>
                <a:sym typeface="Comic Sans MS"/>
              </a:rPr>
              <a:t>. If you can it is a good idea to use a different method.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>
                <a:latin typeface="Comic Sans MS"/>
                <a:ea typeface="Comic Sans MS"/>
                <a:cs typeface="Comic Sans MS"/>
                <a:sym typeface="Comic Sans MS"/>
              </a:rPr>
              <a:t>If the answer is not the same you need to do the question a third time to see which answer is correct.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>
                <a:latin typeface="Comic Sans MS"/>
                <a:ea typeface="Comic Sans MS"/>
                <a:cs typeface="Comic Sans MS"/>
                <a:sym typeface="Comic Sans MS"/>
              </a:rPr>
              <a:t>Checking is </a:t>
            </a:r>
            <a:r>
              <a:rPr b="1" lang="en-US" sz="3200">
                <a:latin typeface="Comic Sans MS"/>
                <a:ea typeface="Comic Sans MS"/>
                <a:cs typeface="Comic Sans MS"/>
                <a:sym typeface="Comic Sans MS"/>
              </a:rPr>
              <a:t>not </a:t>
            </a:r>
            <a:r>
              <a:rPr lang="en-US" sz="3200">
                <a:latin typeface="Comic Sans MS"/>
                <a:ea typeface="Comic Sans MS"/>
                <a:cs typeface="Comic Sans MS"/>
                <a:sym typeface="Comic Sans MS"/>
              </a:rPr>
              <a:t>just looking at the answer.</a:t>
            </a:r>
            <a:endParaRPr/>
          </a:p>
        </p:txBody>
      </p:sp>
      <p:pic>
        <p:nvPicPr>
          <p:cNvPr descr="Petr Čech - Wikidata" id="169" name="Google Shape;16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92057" y="4229067"/>
            <a:ext cx="2199943" cy="2628933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9"/>
          <p:cNvSpPr txBox="1"/>
          <p:nvPr/>
        </p:nvSpPr>
        <p:spPr>
          <a:xfrm>
            <a:off x="426150" y="205010"/>
            <a:ext cx="11494242" cy="622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WALT: </a:t>
            </a: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 estimate, add and subtract integers.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 txBox="1"/>
          <p:nvPr/>
        </p:nvSpPr>
        <p:spPr>
          <a:xfrm>
            <a:off x="248729" y="709684"/>
            <a:ext cx="1102432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Check your understanding.</a:t>
            </a:r>
            <a:endParaRPr/>
          </a:p>
        </p:txBody>
      </p:sp>
      <p:sp>
        <p:nvSpPr>
          <p:cNvPr id="176" name="Google Shape;176;p10"/>
          <p:cNvSpPr txBox="1"/>
          <p:nvPr/>
        </p:nvSpPr>
        <p:spPr>
          <a:xfrm>
            <a:off x="426150" y="1479125"/>
            <a:ext cx="7110600" cy="48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Add together this list of numbers.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6,732 = 7000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4,939 = 5000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3,205 = 3000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1,053 = 1000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5,555 = 6000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6,732 = 7000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9,824 = 10,000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7,832 = 8000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7" name="Google Shape;177;p10"/>
          <p:cNvSpPr txBox="1"/>
          <p:nvPr/>
        </p:nvSpPr>
        <p:spPr>
          <a:xfrm>
            <a:off x="3719622" y="2938894"/>
            <a:ext cx="30570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Make sure you: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omic Sans MS"/>
              <a:buAutoNum type="arabicPeriod"/>
            </a:pPr>
            <a:r>
              <a:rPr b="1" lang="en-US" sz="24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Estimate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omic Sans MS"/>
              <a:buAutoNum type="arabicPeriod"/>
            </a:pPr>
            <a:r>
              <a:rPr b="1" lang="en-US" sz="24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Calculate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omic Sans MS"/>
              <a:buAutoNum type="arabicPeriod"/>
            </a:pPr>
            <a:r>
              <a:rPr b="1" lang="en-US" sz="24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Check</a:t>
            </a:r>
            <a:endParaRPr/>
          </a:p>
        </p:txBody>
      </p:sp>
      <p:sp>
        <p:nvSpPr>
          <p:cNvPr id="178" name="Google Shape;178;p10"/>
          <p:cNvSpPr txBox="1"/>
          <p:nvPr/>
        </p:nvSpPr>
        <p:spPr>
          <a:xfrm>
            <a:off x="6776719" y="2754230"/>
            <a:ext cx="5360689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Ms. Giang says estimating and checking are a waste of time.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Write an explanation that </a:t>
            </a: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convinces</a:t>
            </a: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her that they are important and useful.</a:t>
            </a:r>
            <a:endParaRPr/>
          </a:p>
        </p:txBody>
      </p:sp>
      <p:sp>
        <p:nvSpPr>
          <p:cNvPr id="179" name="Google Shape;179;p10"/>
          <p:cNvSpPr txBox="1"/>
          <p:nvPr/>
        </p:nvSpPr>
        <p:spPr>
          <a:xfrm>
            <a:off x="426150" y="205010"/>
            <a:ext cx="11494242" cy="622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WALT: </a:t>
            </a: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 estimate, add and subtract integers.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80" name="Google Shape;18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57225" y="1193999"/>
            <a:ext cx="558817" cy="1264918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0"/>
          <p:cNvSpPr txBox="1"/>
          <p:nvPr/>
        </p:nvSpPr>
        <p:spPr>
          <a:xfrm>
            <a:off x="100697" y="5381969"/>
            <a:ext cx="3057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With support, I can estimate, calculate and check addition questions.</a:t>
            </a:r>
            <a:endParaRPr/>
          </a:p>
        </p:txBody>
      </p:sp>
      <p:sp>
        <p:nvSpPr>
          <p:cNvPr id="187" name="Google Shape;187;p11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Independently, I can estimate, calculate and check addition questions.</a:t>
            </a:r>
            <a:endParaRPr/>
          </a:p>
        </p:txBody>
      </p:sp>
      <p:sp>
        <p:nvSpPr>
          <p:cNvPr id="188" name="Google Shape;188;p11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 can write an explanation that convinces someone estimating and checking are important.</a:t>
            </a:r>
            <a:endParaRPr/>
          </a:p>
        </p:txBody>
      </p:sp>
      <p:sp>
        <p:nvSpPr>
          <p:cNvPr id="189" name="Google Shape;189;p11"/>
          <p:cNvSpPr txBox="1"/>
          <p:nvPr/>
        </p:nvSpPr>
        <p:spPr>
          <a:xfrm>
            <a:off x="426150" y="205010"/>
            <a:ext cx="11494242" cy="622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WALT: </a:t>
            </a:r>
            <a:r>
              <a:rPr lang="en-US" sz="24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 estimate, add and subtract integers.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90" name="Google Shape;19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0662" y="1210636"/>
            <a:ext cx="1102890" cy="2123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4555" y="950957"/>
            <a:ext cx="1102890" cy="2305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93850" y="837492"/>
            <a:ext cx="1102890" cy="2496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2024-09-16T01:25:14Z</dcterms:created>
  <dc:creator>Jonathan Michael Holliday (VSC-KTiH-MB)</dc:creator>
</cp:coreProperties>
</file>
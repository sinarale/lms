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Nuni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8" roundtripDataSignature="AMtx7mhw5gscMkaKlqmFIGkoo7AOj9SM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.fntdata"/><Relationship Id="rId14" Type="http://schemas.openxmlformats.org/officeDocument/2006/relationships/font" Target="fonts/Nunito-regular.fntdata"/><Relationship Id="rId17" Type="http://schemas.openxmlformats.org/officeDocument/2006/relationships/font" Target="fonts/Nunito-boldItalic.fntdata"/><Relationship Id="rId16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86baaf12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f86baaf12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ae777759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ae777759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8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8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8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oogle Shape;14;p8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8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8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8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8;p8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8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8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8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" name="Google Shape;22;p8"/>
          <p:cNvGrpSpPr/>
          <p:nvPr/>
        </p:nvGrpSpPr>
        <p:grpSpPr>
          <a:xfrm>
            <a:off x="7057468" y="5088"/>
            <a:ext cx="1851281" cy="752108"/>
            <a:chOff x="6917201" y="0"/>
            <a:chExt cx="2227776" cy="863400"/>
          </a:xfrm>
        </p:grpSpPr>
        <p:sp>
          <p:nvSpPr>
            <p:cNvPr id="23" name="Google Shape;23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oogle Shape;26;p8"/>
          <p:cNvGrpSpPr/>
          <p:nvPr/>
        </p:nvGrpSpPr>
        <p:grpSpPr>
          <a:xfrm>
            <a:off x="6553032" y="4217852"/>
            <a:ext cx="2389067" cy="925737"/>
            <a:chOff x="6917201" y="0"/>
            <a:chExt cx="2227776" cy="863400"/>
          </a:xfrm>
        </p:grpSpPr>
        <p:sp>
          <p:nvSpPr>
            <p:cNvPr id="27" name="Google Shape;27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" name="Google Shape;30;p8"/>
          <p:cNvGrpSpPr/>
          <p:nvPr/>
        </p:nvGrpSpPr>
        <p:grpSpPr>
          <a:xfrm>
            <a:off x="199149" y="4055652"/>
            <a:ext cx="2795413" cy="1083308"/>
            <a:chOff x="6917201" y="0"/>
            <a:chExt cx="2227776" cy="863400"/>
          </a:xfrm>
        </p:grpSpPr>
        <p:sp>
          <p:nvSpPr>
            <p:cNvPr id="31" name="Google Shape;31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8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" name="Google Shape;46;p10"/>
          <p:cNvGrpSpPr/>
          <p:nvPr/>
        </p:nvGrpSpPr>
        <p:grpSpPr>
          <a:xfrm>
            <a:off x="5594191" y="3961115"/>
            <a:ext cx="2910144" cy="1182340"/>
            <a:chOff x="6917201" y="0"/>
            <a:chExt cx="2227776" cy="863400"/>
          </a:xfrm>
        </p:grpSpPr>
        <p:sp>
          <p:nvSpPr>
            <p:cNvPr id="47" name="Google Shape;47;p1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1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1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" name="Google Shape;50;p10"/>
          <p:cNvGrpSpPr/>
          <p:nvPr/>
        </p:nvGrpSpPr>
        <p:grpSpPr>
          <a:xfrm>
            <a:off x="199149" y="2"/>
            <a:ext cx="2795413" cy="1083308"/>
            <a:chOff x="6917201" y="0"/>
            <a:chExt cx="2227776" cy="863400"/>
          </a:xfrm>
        </p:grpSpPr>
        <p:sp>
          <p:nvSpPr>
            <p:cNvPr id="51" name="Google Shape;51;p1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1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1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10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1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1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2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3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3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4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" name="Google Shape;80;p14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14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1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" name="Google Shape;85;p14"/>
          <p:cNvGrpSpPr/>
          <p:nvPr/>
        </p:nvGrpSpPr>
        <p:grpSpPr>
          <a:xfrm>
            <a:off x="34934" y="4522125"/>
            <a:ext cx="1593305" cy="617072"/>
            <a:chOff x="6917201" y="0"/>
            <a:chExt cx="2227776" cy="863400"/>
          </a:xfrm>
        </p:grpSpPr>
        <p:sp>
          <p:nvSpPr>
            <p:cNvPr id="86" name="Google Shape;86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" name="Google Shape;89;p14"/>
          <p:cNvGrpSpPr/>
          <p:nvPr/>
        </p:nvGrpSpPr>
        <p:grpSpPr>
          <a:xfrm>
            <a:off x="5886353" y="1243"/>
            <a:ext cx="3257454" cy="1261514"/>
            <a:chOff x="6917201" y="0"/>
            <a:chExt cx="2227776" cy="863400"/>
          </a:xfrm>
        </p:grpSpPr>
        <p:sp>
          <p:nvSpPr>
            <p:cNvPr id="90" name="Google Shape;90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p14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1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5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15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15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1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" name="Google Shape;111;p17"/>
          <p:cNvGrpSpPr/>
          <p:nvPr/>
        </p:nvGrpSpPr>
        <p:grpSpPr>
          <a:xfrm>
            <a:off x="5959222" y="4119576"/>
            <a:ext cx="2520951" cy="1024165"/>
            <a:chOff x="6917201" y="0"/>
            <a:chExt cx="2227776" cy="863400"/>
          </a:xfrm>
        </p:grpSpPr>
        <p:sp>
          <p:nvSpPr>
            <p:cNvPr id="112" name="Google Shape;112;p17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17"/>
          <p:cNvGrpSpPr/>
          <p:nvPr/>
        </p:nvGrpSpPr>
        <p:grpSpPr>
          <a:xfrm>
            <a:off x="199149" y="2"/>
            <a:ext cx="2795413" cy="1083308"/>
            <a:chOff x="6917201" y="0"/>
            <a:chExt cx="2227776" cy="863400"/>
          </a:xfrm>
        </p:grpSpPr>
        <p:sp>
          <p:nvSpPr>
            <p:cNvPr id="116" name="Google Shape;116;p17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" name="Google Shape;119;p17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7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b="0" i="0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"/>
          <p:cNvSpPr txBox="1"/>
          <p:nvPr>
            <p:ph type="ctrTitle"/>
          </p:nvPr>
        </p:nvSpPr>
        <p:spPr>
          <a:xfrm>
            <a:off x="1891353" y="856283"/>
            <a:ext cx="5361300" cy="14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GB"/>
              <a:t>Maths Daily Practice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GB">
                <a:solidFill>
                  <a:srgbClr val="000000"/>
                </a:solidFill>
              </a:rPr>
              <a:t>Grade 1 - Weeks 3 &amp; 4</a:t>
            </a:r>
            <a:endParaRPr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GB"/>
              <a:t>Unit 1.3</a:t>
            </a:r>
            <a:r>
              <a:rPr lang="en-GB"/>
              <a:t> </a:t>
            </a:r>
            <a:endParaRPr/>
          </a:p>
        </p:txBody>
      </p:sp>
      <p:sp>
        <p:nvSpPr>
          <p:cNvPr id="129" name="Google Shape;129;p1"/>
          <p:cNvSpPr txBox="1"/>
          <p:nvPr>
            <p:ph idx="1" type="subTitle"/>
          </p:nvPr>
        </p:nvSpPr>
        <p:spPr>
          <a:xfrm>
            <a:off x="920525" y="2410625"/>
            <a:ext cx="7076700" cy="1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-GB" sz="2100"/>
              <a:t>Complete this work in a notebook at home. This is not mandatory homework.</a:t>
            </a:r>
            <a:endParaRPr sz="21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-GB" sz="2100"/>
              <a:t>Therefore, it does not need bringing into school. This is optional practice to support the learning taking place in school.</a:t>
            </a:r>
            <a:endParaRPr sz="2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"/>
          <p:cNvSpPr txBox="1"/>
          <p:nvPr>
            <p:ph type="title"/>
          </p:nvPr>
        </p:nvSpPr>
        <p:spPr>
          <a:xfrm>
            <a:off x="301325" y="3278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Daily practice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Number bonds up to 10</a:t>
            </a:r>
            <a:endParaRPr/>
          </a:p>
        </p:txBody>
      </p:sp>
      <p:sp>
        <p:nvSpPr>
          <p:cNvPr id="135" name="Google Shape;135;p2"/>
          <p:cNvSpPr txBox="1"/>
          <p:nvPr>
            <p:ph idx="1" type="body"/>
          </p:nvPr>
        </p:nvSpPr>
        <p:spPr>
          <a:xfrm>
            <a:off x="301325" y="1438400"/>
            <a:ext cx="48483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GB" sz="1900"/>
              <a:t>Complete the part-whole models by writing the correct numbers in the spaces. 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n-GB" sz="1900"/>
              <a:t>Building fluency and speed of number bonds up to 10 will benefit your child’s mathematical ability throughout many key areas.</a:t>
            </a:r>
            <a:endParaRPr sz="1900"/>
          </a:p>
        </p:txBody>
      </p:sp>
      <p:pic>
        <p:nvPicPr>
          <p:cNvPr id="136" name="Google Shape;13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6174" y="205000"/>
            <a:ext cx="3578126" cy="472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"/>
          <p:cNvSpPr txBox="1"/>
          <p:nvPr>
            <p:ph type="title"/>
          </p:nvPr>
        </p:nvSpPr>
        <p:spPr>
          <a:xfrm>
            <a:off x="301325" y="3278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Daily practice 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Number spelling</a:t>
            </a:r>
            <a:endParaRPr/>
          </a:p>
        </p:txBody>
      </p:sp>
      <p:sp>
        <p:nvSpPr>
          <p:cNvPr id="142" name="Google Shape;142;p3"/>
          <p:cNvSpPr txBox="1"/>
          <p:nvPr>
            <p:ph idx="1" type="body"/>
          </p:nvPr>
        </p:nvSpPr>
        <p:spPr>
          <a:xfrm>
            <a:off x="301325" y="1438400"/>
            <a:ext cx="36915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GB" sz="1900"/>
              <a:t>Many numbers do not follow simple phonetic rules. Therefore, students must practice and remember how to spell the tens </a:t>
            </a:r>
            <a:r>
              <a:rPr lang="en-GB" sz="1900"/>
              <a:t>times table</a:t>
            </a:r>
            <a:r>
              <a:rPr lang="en-GB" sz="1900"/>
              <a:t> numbers.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n-GB" sz="1900"/>
              <a:t>Practice writing these numbers and then test your child to see if they can remember their spellings without looking.</a:t>
            </a:r>
            <a:endParaRPr sz="1900"/>
          </a:p>
        </p:txBody>
      </p:sp>
      <p:pic>
        <p:nvPicPr>
          <p:cNvPr id="143" name="Google Shape;14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7479" y="231400"/>
            <a:ext cx="3254725" cy="471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 txBox="1"/>
          <p:nvPr>
            <p:ph type="title"/>
          </p:nvPr>
        </p:nvSpPr>
        <p:spPr>
          <a:xfrm>
            <a:off x="301325" y="3278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Daily practice 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Place Value </a:t>
            </a:r>
            <a:endParaRPr/>
          </a:p>
        </p:txBody>
      </p:sp>
      <p:sp>
        <p:nvSpPr>
          <p:cNvPr id="149" name="Google Shape;149;p4"/>
          <p:cNvSpPr txBox="1"/>
          <p:nvPr>
            <p:ph idx="1" type="body"/>
          </p:nvPr>
        </p:nvSpPr>
        <p:spPr>
          <a:xfrm>
            <a:off x="5149325" y="3803025"/>
            <a:ext cx="3607200" cy="11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n-GB" sz="1600"/>
              <a:t>Use a 100s grid and place value understanding to find the missing numbers.</a:t>
            </a:r>
            <a:endParaRPr sz="1600"/>
          </a:p>
        </p:txBody>
      </p:sp>
      <p:pic>
        <p:nvPicPr>
          <p:cNvPr id="150" name="Google Shape;15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9329" y="327800"/>
            <a:ext cx="3691500" cy="3343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475" y="1387300"/>
            <a:ext cx="4844525" cy="3304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86baaf121_0_2"/>
          <p:cNvSpPr txBox="1"/>
          <p:nvPr>
            <p:ph type="title"/>
          </p:nvPr>
        </p:nvSpPr>
        <p:spPr>
          <a:xfrm>
            <a:off x="301325" y="3278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Daily practice 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Place Value </a:t>
            </a:r>
            <a:endParaRPr/>
          </a:p>
        </p:txBody>
      </p:sp>
      <p:sp>
        <p:nvSpPr>
          <p:cNvPr id="157" name="Google Shape;157;g3f86baaf121_0_2"/>
          <p:cNvSpPr txBox="1"/>
          <p:nvPr>
            <p:ph idx="1" type="body"/>
          </p:nvPr>
        </p:nvSpPr>
        <p:spPr>
          <a:xfrm>
            <a:off x="5149325" y="3803025"/>
            <a:ext cx="3607200" cy="11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n-GB" sz="1600"/>
              <a:t>Use a 100s grid and place value understanding to find the missing numbers.</a:t>
            </a:r>
            <a:endParaRPr sz="1600"/>
          </a:p>
        </p:txBody>
      </p:sp>
      <p:pic>
        <p:nvPicPr>
          <p:cNvPr id="158" name="Google Shape;158;g3f86baaf121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9329" y="327800"/>
            <a:ext cx="3691500" cy="3343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3f86baaf121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725" y="1490225"/>
            <a:ext cx="4684152" cy="221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 txBox="1"/>
          <p:nvPr>
            <p:ph type="title"/>
          </p:nvPr>
        </p:nvSpPr>
        <p:spPr>
          <a:xfrm>
            <a:off x="301325" y="3278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Daily practice 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Ordinal Number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Spelling</a:t>
            </a:r>
            <a:endParaRPr/>
          </a:p>
        </p:txBody>
      </p:sp>
      <p:sp>
        <p:nvSpPr>
          <p:cNvPr id="165" name="Google Shape;165;p5"/>
          <p:cNvSpPr txBox="1"/>
          <p:nvPr>
            <p:ph idx="1" type="body"/>
          </p:nvPr>
        </p:nvSpPr>
        <p:spPr>
          <a:xfrm>
            <a:off x="301325" y="1938925"/>
            <a:ext cx="36915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GB" sz="2700"/>
              <a:t>Notice that the use of either: </a:t>
            </a:r>
            <a:r>
              <a:rPr lang="en-GB" sz="2700">
                <a:solidFill>
                  <a:srgbClr val="FF0000"/>
                </a:solidFill>
              </a:rPr>
              <a:t>st</a:t>
            </a:r>
            <a:r>
              <a:rPr lang="en-GB" sz="2700"/>
              <a:t>, </a:t>
            </a:r>
            <a:r>
              <a:rPr lang="en-GB" sz="2700">
                <a:solidFill>
                  <a:schemeClr val="accent6"/>
                </a:solidFill>
              </a:rPr>
              <a:t>nd</a:t>
            </a:r>
            <a:r>
              <a:rPr lang="en-GB" sz="2700"/>
              <a:t>, </a:t>
            </a:r>
            <a:r>
              <a:rPr lang="en-GB" sz="2700">
                <a:solidFill>
                  <a:srgbClr val="38761D"/>
                </a:solidFill>
              </a:rPr>
              <a:t>rd</a:t>
            </a:r>
            <a:r>
              <a:rPr lang="en-GB" sz="2700"/>
              <a:t>, </a:t>
            </a:r>
            <a:r>
              <a:rPr lang="en-GB" sz="2700">
                <a:solidFill>
                  <a:srgbClr val="9900FF"/>
                </a:solidFill>
              </a:rPr>
              <a:t>th</a:t>
            </a:r>
            <a:endParaRPr sz="27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n-GB" sz="2700"/>
              <a:t>Depends on the </a:t>
            </a:r>
            <a:r>
              <a:rPr b="1" lang="en-GB" sz="2700"/>
              <a:t>last two</a:t>
            </a:r>
            <a:r>
              <a:rPr lang="en-GB" sz="2700"/>
              <a:t> </a:t>
            </a:r>
            <a:r>
              <a:rPr b="1" lang="en-GB" sz="2700"/>
              <a:t>letters</a:t>
            </a:r>
            <a:r>
              <a:rPr lang="en-GB" sz="2700"/>
              <a:t> of the word.</a:t>
            </a:r>
            <a:endParaRPr sz="2700"/>
          </a:p>
        </p:txBody>
      </p:sp>
      <p:pic>
        <p:nvPicPr>
          <p:cNvPr id="166" name="Google Shape;16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2825" y="206700"/>
            <a:ext cx="4936374" cy="4795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 txBox="1"/>
          <p:nvPr>
            <p:ph type="title"/>
          </p:nvPr>
        </p:nvSpPr>
        <p:spPr>
          <a:xfrm>
            <a:off x="301325" y="3278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Daily practice 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Using a number line</a:t>
            </a:r>
            <a:endParaRPr/>
          </a:p>
        </p:txBody>
      </p:sp>
      <p:sp>
        <p:nvSpPr>
          <p:cNvPr id="172" name="Google Shape;172;p6"/>
          <p:cNvSpPr txBox="1"/>
          <p:nvPr>
            <p:ph idx="1" type="body"/>
          </p:nvPr>
        </p:nvSpPr>
        <p:spPr>
          <a:xfrm>
            <a:off x="446675" y="1445525"/>
            <a:ext cx="3380700" cy="30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GB" sz="2000"/>
              <a:t>Use your understanding of counting in 1s to place the numbers onto their correct position on the number lines.</a:t>
            </a:r>
            <a:endParaRPr sz="2000"/>
          </a:p>
        </p:txBody>
      </p:sp>
      <p:pic>
        <p:nvPicPr>
          <p:cNvPr id="173" name="Google Shape;17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3926" y="215900"/>
            <a:ext cx="4532351" cy="4711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ae7777592_0_1"/>
          <p:cNvSpPr txBox="1"/>
          <p:nvPr>
            <p:ph type="title"/>
          </p:nvPr>
        </p:nvSpPr>
        <p:spPr>
          <a:xfrm>
            <a:off x="301325" y="3278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Daily practice 7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Ordinal Numbers</a:t>
            </a:r>
            <a:endParaRPr/>
          </a:p>
        </p:txBody>
      </p:sp>
      <p:sp>
        <p:nvSpPr>
          <p:cNvPr id="179" name="Google Shape;179;g3fae7777592_0_1"/>
          <p:cNvSpPr txBox="1"/>
          <p:nvPr>
            <p:ph idx="1" type="body"/>
          </p:nvPr>
        </p:nvSpPr>
        <p:spPr>
          <a:xfrm>
            <a:off x="301325" y="1938925"/>
            <a:ext cx="36915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n-GB" sz="2700"/>
              <a:t>Find ordinal numbers and label ordinal numbers. </a:t>
            </a:r>
            <a:endParaRPr sz="2700"/>
          </a:p>
        </p:txBody>
      </p:sp>
      <p:pic>
        <p:nvPicPr>
          <p:cNvPr id="180" name="Google Shape;180;g3fae7777592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0350" y="165125"/>
            <a:ext cx="4056100" cy="4788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